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2" r:id="rId8"/>
    <p:sldId id="263" r:id="rId9"/>
    <p:sldId id="261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C989D8-DD14-4064-B67B-BEBCF90CC618}" v="27" dt="2026-02-25T14:39:47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1" d="100"/>
          <a:sy n="91" d="100"/>
        </p:scale>
        <p:origin x="2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C927B-CCAE-50B5-8AC3-B936EFC31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AA450-88D3-B643-6ECC-03D25937E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2840E-5973-6F70-9E42-3C6ED259B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DAEE3-4396-4A39-BE4E-010B4F22783A}" type="datetimeFigureOut">
              <a:rPr lang="en-US" smtClean="0"/>
              <a:t>25-2-2026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3EC45-3D67-913C-C3BB-ACD951D7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6BC65-271C-A2F8-AA5C-5C146B6F9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8D52-6C8E-486B-BB49-E40D34722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01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38DBB-FB9F-E1C6-38C5-C9DD5616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85850-422F-48B0-9E2C-7A7D454E6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D6287-00B0-F44A-E83D-877DAF5FF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DAEE3-4396-4A39-BE4E-010B4F22783A}" type="datetimeFigureOut">
              <a:rPr lang="en-US" smtClean="0"/>
              <a:t>25-2-2026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29D43-7670-8106-2F0B-2A47BB0A9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598A6-56A5-C9E4-9FA8-91B315E1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8D52-6C8E-486B-BB49-E40D34722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60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E834F-171C-846A-3507-06000ABA4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BD074-423F-7B45-BE89-64C307C8F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34B79-CEF3-F38D-31CC-CC5EF1D82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DAEE3-4396-4A39-BE4E-010B4F22783A}" type="datetimeFigureOut">
              <a:rPr lang="en-US" smtClean="0"/>
              <a:t>25-2-2026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E6BFA-6C70-1D3B-20E4-396124E29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8D34B-C6C0-FECB-E50C-239516BD3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8D52-6C8E-486B-BB49-E40D34722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D2B9-7F9A-C7C1-0850-695C8FFC9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3D4FE-D22A-97F3-0A50-C1A9F2AE2B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31550-34C6-6631-CE45-C1E46BD63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37E22-779A-BBF4-F654-D72EF3D0F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DAEE3-4396-4A39-BE4E-010B4F22783A}" type="datetimeFigureOut">
              <a:rPr lang="en-US" smtClean="0"/>
              <a:t>25-2-2026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34BD0-8E65-8061-1C03-1F3E2AC3A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58C2C-28A1-2169-4DFE-2F2B570CE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8D52-6C8E-486B-BB49-E40D34722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68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30F7F-CD42-6521-627F-7B413EEC5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7973B-941C-6ED4-533B-F4F4BBC64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FAD3F-3F3B-C980-EC35-0396F0B8A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EC824-8E13-139B-15D9-DB9AFD22A1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9DCC0-0BC2-7B16-1304-9C170C994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117971-3C16-3101-D2B6-E274F2BD0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DAEE3-4396-4A39-BE4E-010B4F22783A}" type="datetimeFigureOut">
              <a:rPr lang="en-US" smtClean="0"/>
              <a:t>25-2-2026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FBBEE-7AE7-28D4-70DF-B89505FC9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5F9694-6FE8-9C18-A3EE-418D7BD4E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8D52-6C8E-486B-BB49-E40D34722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759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558C1-B9B2-1CEC-4F13-6523250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68533F-9E6A-9A70-2848-E8EB1ADC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DAEE3-4396-4A39-BE4E-010B4F22783A}" type="datetimeFigureOut">
              <a:rPr lang="en-US" smtClean="0"/>
              <a:t>25-2-2026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996FD2-C94C-02DF-9404-CF3FECD53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5A5AD-AEAD-99B9-897A-4CC3DC9C4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8D52-6C8E-486B-BB49-E40D34722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61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692203-D67D-95EF-35F3-25050197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DAEE3-4396-4A39-BE4E-010B4F22783A}" type="datetimeFigureOut">
              <a:rPr lang="en-US" smtClean="0"/>
              <a:t>25-2-2026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C9297-9364-18BD-1901-19849C6B0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648CF-48DF-3425-4859-775D72DBA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8D52-6C8E-486B-BB49-E40D34722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59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0736-EB93-804C-CAAE-4B3AFF458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248E7-11FC-90DA-D0BB-CF313AFBD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88F618-3784-021C-29B9-482D25D7A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2D779-846A-7AE1-3538-FED2FCA28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DAEE3-4396-4A39-BE4E-010B4F22783A}" type="datetimeFigureOut">
              <a:rPr lang="en-US" smtClean="0"/>
              <a:t>25-2-2026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65A3E-BF79-58B3-61D5-339DC453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67A7D-2704-5629-6F81-B5DC0B8B2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8D52-6C8E-486B-BB49-E40D34722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43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FF8B-C00F-59A9-543A-05E8C1EF3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4264CE-CCC7-44C6-35AF-3DF4F7C07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CF2D7-F9E7-7025-3F6F-8D25386D8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4DCCF-3ABE-9A7D-E022-601B9033B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DAEE3-4396-4A39-BE4E-010B4F22783A}" type="datetimeFigureOut">
              <a:rPr lang="en-US" smtClean="0"/>
              <a:t>25-2-2026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4D993-3B2D-4DAA-F3DE-BDB4223E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B897C-51A7-78CE-E977-F47D14CCD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8D52-6C8E-486B-BB49-E40D34722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739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070DC-A28A-42A7-F8D1-431A43DEB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9EE2D6-2AF9-B215-C794-B2BD57AEC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E31C7-187F-925C-B5C8-2B14C333B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DAEE3-4396-4A39-BE4E-010B4F22783A}" type="datetimeFigureOut">
              <a:rPr lang="en-US" smtClean="0"/>
              <a:t>25-2-2026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2FE0A-97E5-FE52-5101-75BE4C09D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A2498-9DAA-5434-CB8E-72537F2B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8D52-6C8E-486B-BB49-E40D34722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09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43767C-EFF2-8BE4-F7A8-007C7687DD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4D48A1-5AEB-F3F7-4F27-C27E93EA5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46DFA-730F-E258-B426-95304B08D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DAEE3-4396-4A39-BE4E-010B4F22783A}" type="datetimeFigureOut">
              <a:rPr lang="en-US" smtClean="0"/>
              <a:t>25-2-2026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C3C73-2B08-82FA-9403-DC7EADC1E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B2D65-CE27-3C8A-4E6C-284CF762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FD8D52-6C8E-486B-BB49-E40D34722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8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438D36-8AC6-F5F3-D846-B3FC9479A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84BBD-3E76-AC7E-5647-0BDA17E80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26FDE-A674-6DF0-DDDC-5051312952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4DAEE3-4396-4A39-BE4E-010B4F22783A}" type="datetimeFigureOut">
              <a:rPr lang="en-US" smtClean="0"/>
              <a:t>25-2-2026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DC65B-D67E-6F78-FA71-4A8396C45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58438-2531-E439-5E86-203848C55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FD8D52-6C8E-486B-BB49-E40D34722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ai.stanford.edu/assets/files/hai_ai_index_report_2025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hai.stanford.edu/assets/files/hai_ai_index_report_2025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hai.stanford.edu/assets/files/hai_ai_index_report_2025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hai.stanford.edu/assets/files/hai_ai_index_report_2025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ichfaceisreal.com/" TargetMode="External"/><Relationship Id="rId2" Type="http://schemas.openxmlformats.org/officeDocument/2006/relationships/hyperlink" Target="https://hai.stanford.edu/assets/files/hai_ai_index_report_2025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commonsense.com/" TargetMode="External"/><Relationship Id="rId2" Type="http://schemas.openxmlformats.org/officeDocument/2006/relationships/hyperlink" Target="https://hai.stanford.edu/assets/files/hai_ai_index_report_2025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hai.stanford.edu/assets/files/hai_ai_index_report_2025.pdf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-QiTSPly4Zs" TargetMode="External"/><Relationship Id="rId2" Type="http://schemas.openxmlformats.org/officeDocument/2006/relationships/hyperlink" Target="https://hai.stanford.edu/assets/files/hai_ai_index_report_2025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MXlbt7A2OU&amp;t=78s" TargetMode="External"/><Relationship Id="rId2" Type="http://schemas.openxmlformats.org/officeDocument/2006/relationships/hyperlink" Target="https://hai.stanford.edu/assets/files/hai_ai_index_report_2025.pd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hai.stanford.edu/assets/files/hai_ai_index_report_2025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0E445-2FAB-3B07-98AC-7AA77B27B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Stanford AI Index </a:t>
            </a:r>
            <a:r>
              <a:rPr lang="en-US"/>
              <a:t>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4F026D-EC9D-F14A-F60F-906776D33B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Aims to provide unbiased, rigorously vetted, and globally sourced data for policymakers, researchers, journalists, executives, and the general public to develop a deeper understanding of the complex field of AI</a:t>
            </a:r>
          </a:p>
        </p:txBody>
      </p:sp>
    </p:spTree>
    <p:extLst>
      <p:ext uri="{BB962C8B-B14F-4D97-AF65-F5344CB8AC3E}">
        <p14:creationId xmlns:p14="http://schemas.microsoft.com/office/powerpoint/2010/main" val="2317776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5A0621-A31B-57DA-C44F-B68E9299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Stanford AI Index 2025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5D7DF16-07D1-2215-18B1-A26EFA56AD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3034" y="1675227"/>
            <a:ext cx="8025932" cy="43941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A36EA3-659A-006A-DA48-43452329FE94}"/>
              </a:ext>
            </a:extLst>
          </p:cNvPr>
          <p:cNvSpPr txBox="1"/>
          <p:nvPr/>
        </p:nvSpPr>
        <p:spPr>
          <a:xfrm>
            <a:off x="253600" y="6492874"/>
            <a:ext cx="5274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hlinkClick r:id="rId3"/>
              </a:rPr>
              <a:t>https://hai.stanford.edu/assets/files/hai_ai_index_report_2025.pdf</a:t>
            </a:r>
            <a:r>
              <a:rPr lang="en-US" sz="11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4026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3F646-BD2D-0AD8-897D-3FD27EBED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D8E3C47-B46E-9738-6618-5DCB8C4B4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E80A55-876F-F629-1090-06FF40083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Stanford AI Index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E479D4-D386-3A84-8186-4EA0A9B6A3EC}"/>
              </a:ext>
            </a:extLst>
          </p:cNvPr>
          <p:cNvSpPr txBox="1"/>
          <p:nvPr/>
        </p:nvSpPr>
        <p:spPr>
          <a:xfrm>
            <a:off x="253600" y="6492874"/>
            <a:ext cx="5274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hlinkClick r:id="rId2"/>
              </a:rPr>
              <a:t>https://hai.stanford.edu/assets/files/hai_ai_index_report_2025.pdf</a:t>
            </a:r>
            <a:r>
              <a:rPr lang="en-US" sz="110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6C5D4-1527-B573-15C1-33872BB6C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399E1F-DB5B-283F-1249-38B225A9B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119" y="1747281"/>
            <a:ext cx="8321761" cy="45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177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DD503-0F57-7878-6485-3B6499DF1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22C17A4-BF8D-AA90-B32A-B2FD505A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06ABFA4-4BDF-DB0C-A150-1A925309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Stanford AI Index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384EAB-C4D5-05EE-C412-D62F67E011E5}"/>
              </a:ext>
            </a:extLst>
          </p:cNvPr>
          <p:cNvSpPr txBox="1"/>
          <p:nvPr/>
        </p:nvSpPr>
        <p:spPr>
          <a:xfrm>
            <a:off x="253600" y="6492874"/>
            <a:ext cx="5274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hlinkClick r:id="rId2"/>
              </a:rPr>
              <a:t>https://hai.stanford.edu/assets/files/hai_ai_index_report_2025.pdf</a:t>
            </a:r>
            <a:r>
              <a:rPr lang="en-US" sz="110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6CA2C-59D6-EA55-D34B-2E3E09DBF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35FD01-FF93-34F0-E026-FBC5BE037C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6567" y="1799183"/>
            <a:ext cx="8138865" cy="4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42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6CFA9-43BB-9CBF-847B-BCFB5F400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2EFDD13-2B6A-2EE2-B5E5-58077A460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A0E76A-E22E-70BE-E1EE-022E7C75D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Stanford AI Index 2025</a:t>
            </a:r>
            <a:b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Computer Vision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B8EF44-8D86-F97F-EEA7-45A152BA3E6C}"/>
              </a:ext>
            </a:extLst>
          </p:cNvPr>
          <p:cNvSpPr txBox="1"/>
          <p:nvPr/>
        </p:nvSpPr>
        <p:spPr>
          <a:xfrm>
            <a:off x="253600" y="6492874"/>
            <a:ext cx="5274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hlinkClick r:id="rId2"/>
              </a:rPr>
              <a:t>https://hai.stanford.edu/assets/files/hai_ai_index_report_2025.pdf</a:t>
            </a:r>
            <a:r>
              <a:rPr lang="en-US" sz="110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52455-D905-7B18-6474-1A7487644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the ImageNet era, vision algorithms were tasked with more straightforward tasks (e.g., classifying images into predefined categories)</a:t>
            </a:r>
          </a:p>
          <a:p>
            <a:r>
              <a:rPr lang="en-US"/>
              <a:t>AI systems have advances from classification to more complex tasks:</a:t>
            </a:r>
          </a:p>
          <a:p>
            <a:pPr lvl="1"/>
            <a:r>
              <a:rPr lang="en-US"/>
              <a:t>video generation/analysis</a:t>
            </a:r>
          </a:p>
          <a:p>
            <a:pPr lvl="1"/>
            <a:r>
              <a:rPr lang="en-US"/>
              <a:t>common sense reasoning</a:t>
            </a:r>
          </a:p>
          <a:p>
            <a:pPr marL="457200" lvl="1" indent="0">
              <a:buNone/>
            </a:pPr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27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52A403-981C-6348-4D6C-963652958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1AC5C74-9F37-E07C-CDF8-0EC07C995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0E985C-A611-E953-B5A2-F019AFDCA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Stanford AI Index 2025</a:t>
            </a:r>
            <a:b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Image Generation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8C86A-715A-2097-FF69-D1F68C400561}"/>
              </a:ext>
            </a:extLst>
          </p:cNvPr>
          <p:cNvSpPr txBox="1"/>
          <p:nvPr/>
        </p:nvSpPr>
        <p:spPr>
          <a:xfrm>
            <a:off x="253600" y="6492874"/>
            <a:ext cx="5274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hlinkClick r:id="rId2"/>
              </a:rPr>
              <a:t>https://hai.stanford.edu/assets/files/hai_ai_index_report_2025.pdf</a:t>
            </a:r>
            <a:r>
              <a:rPr lang="en-US" sz="110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67881-E482-2D67-6807-C7B0DCC85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4214"/>
            <a:ext cx="10515600" cy="4472749"/>
          </a:xfrm>
        </p:spPr>
        <p:txBody>
          <a:bodyPr/>
          <a:lstStyle/>
          <a:p>
            <a:r>
              <a:rPr lang="en-US"/>
              <a:t>Today’s image generators are so advanced that most people struggle to differentiate between AI-generated images and actual images of human faces</a:t>
            </a:r>
            <a:br>
              <a:rPr lang="en-US"/>
            </a:br>
            <a:r>
              <a:rPr lang="en-US">
                <a:hlinkClick r:id="rId3"/>
              </a:rPr>
              <a:t>https://www.whichfaceisreal.com/</a:t>
            </a:r>
            <a:r>
              <a:rPr lang="en-US"/>
              <a:t> 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8886D-A426-DC5A-9E95-1FEC7659A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32" y="3322679"/>
            <a:ext cx="10501270" cy="317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57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536253-0A85-960B-9509-1B69D7ADC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C355DB9-7A78-FBCC-BDC5-9F5DBF36E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F5AF86-5E1B-99C3-8CBA-32361F8BE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Stanford AI Index 2025</a:t>
            </a:r>
            <a:b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Common Sense Reasoning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DE059-CFD5-0453-E8B8-004132D1C051}"/>
              </a:ext>
            </a:extLst>
          </p:cNvPr>
          <p:cNvSpPr txBox="1"/>
          <p:nvPr/>
        </p:nvSpPr>
        <p:spPr>
          <a:xfrm>
            <a:off x="253600" y="6492874"/>
            <a:ext cx="5274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hlinkClick r:id="rId2"/>
              </a:rPr>
              <a:t>https://hai.stanford.edu/assets/files/hai_ai_index_report_2025.pdf</a:t>
            </a:r>
            <a:r>
              <a:rPr lang="en-US" sz="110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8CBF6-1967-7E52-EE61-4E97B0742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600" y="1854910"/>
            <a:ext cx="5719361" cy="4351338"/>
          </a:xfrm>
        </p:spPr>
        <p:txBody>
          <a:bodyPr/>
          <a:lstStyle/>
          <a:p>
            <a:pPr algn="just"/>
            <a:r>
              <a:rPr lang="en-US"/>
              <a:t>Visual common sense reasoning </a:t>
            </a:r>
            <a:r>
              <a:rPr lang="en-US">
                <a:hlinkClick r:id="rId3"/>
              </a:rPr>
              <a:t>https://visualcommonsense.com/</a:t>
            </a:r>
            <a:endParaRPr lang="en-US"/>
          </a:p>
          <a:p>
            <a:pPr algn="just"/>
            <a:r>
              <a:rPr lang="en-US"/>
              <a:t>Performance is measured using the </a:t>
            </a:r>
            <a:r>
              <a:rPr lang="en-US" b="1"/>
              <a:t>Q-&gt;AR </a:t>
            </a:r>
            <a:r>
              <a:rPr lang="en-US"/>
              <a:t>score, which evaluates the machine’s ability to both </a:t>
            </a:r>
            <a:r>
              <a:rPr lang="en-US" u="sng"/>
              <a:t>select the correct answer </a:t>
            </a:r>
            <a:r>
              <a:rPr lang="en-US"/>
              <a:t>to a question (Q-&gt;A) and choose the </a:t>
            </a:r>
            <a:r>
              <a:rPr lang="en-US" u="sng"/>
              <a:t>appropriate rationale </a:t>
            </a:r>
            <a:r>
              <a:rPr lang="en-US"/>
              <a:t>behind that answer (Q-&gt;R) </a:t>
            </a:r>
          </a:p>
          <a:p>
            <a:pPr algn="just"/>
            <a:endParaRPr lang="en-US"/>
          </a:p>
          <a:p>
            <a:pPr marL="457200" lvl="1" indent="0" algn="just">
              <a:buNone/>
            </a:pPr>
            <a:endParaRPr lang="en-US"/>
          </a:p>
          <a:p>
            <a:pPr lvl="1" algn="just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871E83-21B7-2809-A869-D9E9759B6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961" y="2797351"/>
            <a:ext cx="6285414" cy="310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530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1B6124-B2D3-AD94-70B1-D43E4BEE2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A476844-CC8A-B376-2505-5A9278B2B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D22534-567D-2C7A-FE43-C7D18034E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Stanford AI Index 2025</a:t>
            </a:r>
            <a:b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Common Sense Reasoning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5D6CD-E20C-533A-3466-DDD8BAE85187}"/>
              </a:ext>
            </a:extLst>
          </p:cNvPr>
          <p:cNvSpPr txBox="1"/>
          <p:nvPr/>
        </p:nvSpPr>
        <p:spPr>
          <a:xfrm>
            <a:off x="253600" y="6492874"/>
            <a:ext cx="5274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hlinkClick r:id="rId2"/>
              </a:rPr>
              <a:t>https://hai.stanford.edu/assets/files/hai_ai_index_report_2025.pdf</a:t>
            </a:r>
            <a:r>
              <a:rPr lang="en-US" sz="110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F19BE-F6F1-F8D1-8F8E-CF47330B7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600" y="1854910"/>
            <a:ext cx="5719361" cy="4351338"/>
          </a:xfrm>
        </p:spPr>
        <p:txBody>
          <a:bodyPr/>
          <a:lstStyle/>
          <a:p>
            <a:pPr algn="just"/>
            <a:endParaRPr lang="en-US"/>
          </a:p>
          <a:p>
            <a:pPr marL="457200" lvl="1" indent="0" algn="just">
              <a:buNone/>
            </a:pPr>
            <a:endParaRPr lang="en-US"/>
          </a:p>
          <a:p>
            <a:pPr lvl="1" algn="just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B82179-1051-7BC2-B163-8DA74D742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439" y="1604098"/>
            <a:ext cx="8897110" cy="467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63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43011-6309-65B3-9416-0AEF5D783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670FA7B-07D2-0E9F-DEA8-6D924E9DC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96F158-77D7-B10B-A929-4D985F2D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Stanford AI Index 2025</a:t>
            </a:r>
            <a:b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Rise of Video Generation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FFE94D-4652-3582-B650-24C66AFBD882}"/>
              </a:ext>
            </a:extLst>
          </p:cNvPr>
          <p:cNvSpPr txBox="1"/>
          <p:nvPr/>
        </p:nvSpPr>
        <p:spPr>
          <a:xfrm>
            <a:off x="253600" y="6492874"/>
            <a:ext cx="5274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hlinkClick r:id="rId2"/>
              </a:rPr>
              <a:t>https://hai.stanford.edu/assets/files/hai_ai_index_report_2025.pdf</a:t>
            </a:r>
            <a:r>
              <a:rPr lang="en-US" sz="110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FBB47-3A9A-4D36-2B3E-45E62F6A8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4214"/>
            <a:ext cx="10515600" cy="4472749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hlinkClick r:id="rId3"/>
              </a:rPr>
              <a:t>Will Smith eating spaghetti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F6209D-8F6B-627B-CD32-90CF5B826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189114"/>
            <a:ext cx="10128308" cy="423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62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E576D-174F-F7A1-7BBF-455ACE260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95BF83F-4C8A-C56C-3505-124C5D96A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E265171-3DBD-2920-3B46-3A30E8E0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Stanford AI Index 2025</a:t>
            </a:r>
            <a:b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Video Understanding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3866FA-E55B-4015-5F6E-72C1FE3AD77F}"/>
              </a:ext>
            </a:extLst>
          </p:cNvPr>
          <p:cNvSpPr txBox="1"/>
          <p:nvPr/>
        </p:nvSpPr>
        <p:spPr>
          <a:xfrm>
            <a:off x="253600" y="6492874"/>
            <a:ext cx="5274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hlinkClick r:id="rId2"/>
              </a:rPr>
              <a:t>https://hai.stanford.edu/assets/files/hai_ai_index_report_2025.pdf</a:t>
            </a:r>
            <a:r>
              <a:rPr lang="en-US" sz="110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CBEA7-2570-537D-EC35-8A4EAF8C8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4214"/>
            <a:ext cx="10515600" cy="4472749"/>
          </a:xfrm>
        </p:spPr>
        <p:txBody>
          <a:bodyPr/>
          <a:lstStyle/>
          <a:p>
            <a:r>
              <a:rPr lang="en-US" b="1"/>
              <a:t>MVBench</a:t>
            </a:r>
            <a:r>
              <a:rPr lang="en-US"/>
              <a:t> (Multi-modal Video understanding Benchmark): covers 20 challenging video tasks that cannot be effectively solved with a single frame</a:t>
            </a:r>
          </a:p>
          <a:p>
            <a:pPr lvl="1"/>
            <a:r>
              <a:rPr lang="en-US">
                <a:hlinkClick r:id="rId3"/>
              </a:rPr>
              <a:t>https://www.youtube.com/watch?v=OMXlbt7A2OU&amp;t=78s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9495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7CDBF-E11F-D9CD-E2D0-05AEC3395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ED6AE2C-6E0F-8EC4-AABC-AB7773914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5293AB-6897-2DE6-8AE3-BF3A5AAE5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Stanford AI Index 2025</a:t>
            </a:r>
            <a:b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Video Understanding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9B5579-A379-9879-D798-4AB6949DD794}"/>
              </a:ext>
            </a:extLst>
          </p:cNvPr>
          <p:cNvSpPr txBox="1"/>
          <p:nvPr/>
        </p:nvSpPr>
        <p:spPr>
          <a:xfrm>
            <a:off x="253600" y="6492874"/>
            <a:ext cx="5274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hlinkClick r:id="rId2"/>
              </a:rPr>
              <a:t>https://hai.stanford.edu/assets/files/hai_ai_index_report_2025.pdf</a:t>
            </a:r>
            <a:r>
              <a:rPr lang="en-US" sz="110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293A2A-39B0-841E-D547-6A438B49CA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94132" y="1698503"/>
            <a:ext cx="8403735" cy="4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64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FC9713D1B4A348AAE7B3383364C377" ma:contentTypeVersion="3" ma:contentTypeDescription="Create a new document." ma:contentTypeScope="" ma:versionID="805bd71d9a7f8f9b424e91dbcb7c74e5">
  <xsd:schema xmlns:xsd="http://www.w3.org/2001/XMLSchema" xmlns:xs="http://www.w3.org/2001/XMLSchema" xmlns:p="http://schemas.microsoft.com/office/2006/metadata/properties" xmlns:ns2="ea7aeede-a3ac-4adc-a1af-0ad03a3d66bd" targetNamespace="http://schemas.microsoft.com/office/2006/metadata/properties" ma:root="true" ma:fieldsID="c052b27818055ad5eadc0971d765fd36" ns2:_="">
    <xsd:import namespace="ea7aeede-a3ac-4adc-a1af-0ad03a3d66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7aeede-a3ac-4adc-a1af-0ad03a3d66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1355FE2-9FAF-49A0-A54A-658187DD10B7}"/>
</file>

<file path=customXml/itemProps2.xml><?xml version="1.0" encoding="utf-8"?>
<ds:datastoreItem xmlns:ds="http://schemas.openxmlformats.org/officeDocument/2006/customXml" ds:itemID="{0C4724C2-6771-4D5C-8917-1C3321A4E6B9}"/>
</file>

<file path=customXml/itemProps3.xml><?xml version="1.0" encoding="utf-8"?>
<ds:datastoreItem xmlns:ds="http://schemas.openxmlformats.org/officeDocument/2006/customXml" ds:itemID="{E71AFCF7-19A8-4D87-80DB-7D9696B53821}"/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501</Words>
  <Application>Microsoft Office PowerPoint</Application>
  <PresentationFormat>Widescreen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Stanford AI Index 2025</vt:lpstr>
      <vt:lpstr>Stanford AI Index 2025</vt:lpstr>
      <vt:lpstr>Stanford AI Index 2025</vt:lpstr>
      <vt:lpstr>Stanford AI Index 2025</vt:lpstr>
      <vt:lpstr>Stanford AI Index 2025 Computer Vision</vt:lpstr>
      <vt:lpstr>Stanford AI Index 2025 Image Generation</vt:lpstr>
      <vt:lpstr>Stanford AI Index 2025 Common Sense Reasoning</vt:lpstr>
      <vt:lpstr>Stanford AI Index 2025 Common Sense Reasoning</vt:lpstr>
      <vt:lpstr>Stanford AI Index 2025 Rise of Video Generation</vt:lpstr>
      <vt:lpstr>Stanford AI Index 2025 Video Understanding</vt:lpstr>
      <vt:lpstr>Stanford AI Index 2025 Video Understanding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Diana-Laura Borza</dc:creator>
  <cp:lastModifiedBy>Diana-Laura Borza</cp:lastModifiedBy>
  <cp:revision>2</cp:revision>
  <dcterms:created xsi:type="dcterms:W3CDTF">2026-02-25T13:27:04Z</dcterms:created>
  <dcterms:modified xsi:type="dcterms:W3CDTF">2026-02-25T15:13:37Z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0x010100F4FC9713D1B4A348AAE7B3383364C377</vt:lpwstr>
  </property>
</Properties>
</file>