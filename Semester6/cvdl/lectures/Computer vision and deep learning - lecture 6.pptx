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426" r:id="rId5"/>
    <p:sldId id="427" r:id="rId6"/>
    <p:sldId id="394" r:id="rId7"/>
    <p:sldId id="395" r:id="rId8"/>
    <p:sldId id="396" r:id="rId9"/>
    <p:sldId id="397" r:id="rId10"/>
    <p:sldId id="399" r:id="rId11"/>
    <p:sldId id="400" r:id="rId12"/>
    <p:sldId id="401" r:id="rId13"/>
    <p:sldId id="402" r:id="rId14"/>
    <p:sldId id="403" r:id="rId15"/>
    <p:sldId id="398" r:id="rId16"/>
    <p:sldId id="405" r:id="rId17"/>
    <p:sldId id="406" r:id="rId18"/>
    <p:sldId id="407" r:id="rId19"/>
    <p:sldId id="370" r:id="rId20"/>
    <p:sldId id="371" r:id="rId21"/>
    <p:sldId id="372" r:id="rId22"/>
    <p:sldId id="373" r:id="rId23"/>
    <p:sldId id="408" r:id="rId24"/>
    <p:sldId id="409" r:id="rId25"/>
    <p:sldId id="374" r:id="rId26"/>
    <p:sldId id="375" r:id="rId27"/>
    <p:sldId id="376" r:id="rId28"/>
    <p:sldId id="377" r:id="rId29"/>
    <p:sldId id="410" r:id="rId30"/>
    <p:sldId id="411" r:id="rId31"/>
    <p:sldId id="412" r:id="rId32"/>
    <p:sldId id="383" r:id="rId33"/>
    <p:sldId id="384" r:id="rId34"/>
    <p:sldId id="414" r:id="rId35"/>
    <p:sldId id="385" r:id="rId36"/>
    <p:sldId id="415" r:id="rId37"/>
    <p:sldId id="422" r:id="rId38"/>
    <p:sldId id="386" r:id="rId39"/>
    <p:sldId id="387" r:id="rId40"/>
    <p:sldId id="388" r:id="rId41"/>
    <p:sldId id="389" r:id="rId42"/>
    <p:sldId id="416" r:id="rId43"/>
    <p:sldId id="390" r:id="rId44"/>
    <p:sldId id="417" r:id="rId45"/>
    <p:sldId id="418" r:id="rId46"/>
    <p:sldId id="392" r:id="rId47"/>
    <p:sldId id="419" r:id="rId48"/>
    <p:sldId id="420" r:id="rId49"/>
    <p:sldId id="423" r:id="rId50"/>
    <p:sldId id="424" r:id="rId51"/>
    <p:sldId id="425" r:id="rId52"/>
    <p:sldId id="257" r:id="rId53"/>
    <p:sldId id="256" r:id="rId54"/>
    <p:sldId id="258" r:id="rId55"/>
    <p:sldId id="320" r:id="rId56"/>
    <p:sldId id="259" r:id="rId57"/>
    <p:sldId id="260" r:id="rId58"/>
    <p:sldId id="262" r:id="rId59"/>
    <p:sldId id="263" r:id="rId60"/>
    <p:sldId id="265" r:id="rId61"/>
    <p:sldId id="266" r:id="rId62"/>
    <p:sldId id="264" r:id="rId63"/>
    <p:sldId id="267" r:id="rId6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6E8AE0F-9958-461B-A629-6557E5D5E34A}">
          <p14:sldIdLst>
            <p14:sldId id="426"/>
            <p14:sldId id="427"/>
            <p14:sldId id="394"/>
            <p14:sldId id="395"/>
            <p14:sldId id="396"/>
            <p14:sldId id="397"/>
            <p14:sldId id="399"/>
            <p14:sldId id="400"/>
            <p14:sldId id="401"/>
            <p14:sldId id="402"/>
            <p14:sldId id="403"/>
            <p14:sldId id="398"/>
            <p14:sldId id="405"/>
            <p14:sldId id="406"/>
            <p14:sldId id="407"/>
            <p14:sldId id="370"/>
            <p14:sldId id="371"/>
            <p14:sldId id="372"/>
            <p14:sldId id="373"/>
            <p14:sldId id="408"/>
            <p14:sldId id="409"/>
            <p14:sldId id="374"/>
            <p14:sldId id="375"/>
            <p14:sldId id="376"/>
            <p14:sldId id="377"/>
            <p14:sldId id="410"/>
            <p14:sldId id="411"/>
            <p14:sldId id="412"/>
            <p14:sldId id="383"/>
            <p14:sldId id="384"/>
            <p14:sldId id="414"/>
            <p14:sldId id="385"/>
            <p14:sldId id="415"/>
            <p14:sldId id="422"/>
            <p14:sldId id="386"/>
            <p14:sldId id="387"/>
            <p14:sldId id="388"/>
            <p14:sldId id="389"/>
            <p14:sldId id="416"/>
            <p14:sldId id="390"/>
            <p14:sldId id="417"/>
            <p14:sldId id="418"/>
            <p14:sldId id="392"/>
            <p14:sldId id="419"/>
            <p14:sldId id="420"/>
            <p14:sldId id="423"/>
            <p14:sldId id="424"/>
            <p14:sldId id="425"/>
            <p14:sldId id="257"/>
            <p14:sldId id="256"/>
            <p14:sldId id="258"/>
            <p14:sldId id="320"/>
            <p14:sldId id="259"/>
            <p14:sldId id="260"/>
            <p14:sldId id="262"/>
            <p14:sldId id="263"/>
            <p14:sldId id="265"/>
            <p14:sldId id="266"/>
            <p14:sldId id="264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2630D5-04B1-448D-8FE1-F19C831F62ED}" v="43" dt="2022-01-14T17:48:58.8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slide" Target="slides/slide59.xml"/><Relationship Id="rId68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61" Type="http://schemas.openxmlformats.org/officeDocument/2006/relationships/slide" Target="slides/slide57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B3D54-B42F-4CDC-AC08-D5296AB34F03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08EC4-2AF4-426D-B399-23418B5E2D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0454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B3D54-B42F-4CDC-AC08-D5296AB34F03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08EC4-2AF4-426D-B399-23418B5E2D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0269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B3D54-B42F-4CDC-AC08-D5296AB34F03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08EC4-2AF4-426D-B399-23418B5E2D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9466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B3D54-B42F-4CDC-AC08-D5296AB34F03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08EC4-2AF4-426D-B399-23418B5E2D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0461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B3D54-B42F-4CDC-AC08-D5296AB34F03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08EC4-2AF4-426D-B399-23418B5E2D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130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B3D54-B42F-4CDC-AC08-D5296AB34F03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08EC4-2AF4-426D-B399-23418B5E2D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817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B3D54-B42F-4CDC-AC08-D5296AB34F03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08EC4-2AF4-426D-B399-23418B5E2D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7991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B3D54-B42F-4CDC-AC08-D5296AB34F03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08EC4-2AF4-426D-B399-23418B5E2D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788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B3D54-B42F-4CDC-AC08-D5296AB34F03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08EC4-2AF4-426D-B399-23418B5E2D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0811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B3D54-B42F-4CDC-AC08-D5296AB34F03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08EC4-2AF4-426D-B399-23418B5E2D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6181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B3D54-B42F-4CDC-AC08-D5296AB34F03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08EC4-2AF4-426D-B399-23418B5E2D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1464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B3D54-B42F-4CDC-AC08-D5296AB34F03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D08EC4-2AF4-426D-B399-23418B5E2D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7020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edium.com/@vivekvscool/translation-or-answer-tool-seq2seq-with-teacher-forcing-and-attention-mechanism-7cfd9cb03b3a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0.png"/><Relationship Id="rId5" Type="http://schemas.openxmlformats.org/officeDocument/2006/relationships/image" Target="../media/image410.png"/><Relationship Id="rId4" Type="http://schemas.openxmlformats.org/officeDocument/2006/relationships/image" Target="../media/image5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h.github.io/posts/2015-08-Understanding-LSTMs/" TargetMode="Externa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h.github.io/posts/2015-08-Understanding-LSTMs/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colah.github.io/posts/2015-08-Understanding-LSTMs/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2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h.github.io/posts/2015-08-Understanding-LSTMs/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karpathy.github.io/2015/05/21/rnn-effectiveness/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s://karpathy.github.io/2015/05/21/rnn-effectiveness/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hyperlink" Target="https://arxiv.org/abs/1706.03762" TargetMode="Externa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7" Type="http://schemas.openxmlformats.org/officeDocument/2006/relationships/image" Target="../media/image610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Relationship Id="rId5" Type="http://schemas.openxmlformats.org/officeDocument/2006/relationships/image" Target="../media/image40.png"/><Relationship Id="rId4" Type="http://schemas.openxmlformats.org/officeDocument/2006/relationships/image" Target="../media/image31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://peterbloem.nl/blog/transformers" TargetMode="Externa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864AD-358D-A710-70ED-FFF79F96EC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4836" y="2401150"/>
            <a:ext cx="6858000" cy="1790700"/>
          </a:xfrm>
        </p:spPr>
        <p:txBody>
          <a:bodyPr/>
          <a:lstStyle/>
          <a:p>
            <a:r>
              <a:rPr lang="en-GB" dirty="0"/>
              <a:t>Computer vision and Deep Learning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7A268C-7CCD-2DBC-8588-C9579C9F61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4836" y="4260906"/>
            <a:ext cx="6858000" cy="1241822"/>
          </a:xfrm>
        </p:spPr>
        <p:txBody>
          <a:bodyPr/>
          <a:lstStyle/>
          <a:p>
            <a:r>
              <a:rPr lang="en-GB" dirty="0"/>
              <a:t>Lecture 6: </a:t>
            </a:r>
            <a:r>
              <a:rPr lang="ro-RO" dirty="0" err="1"/>
              <a:t>Sequences</a:t>
            </a:r>
            <a:r>
              <a:rPr lang="ro-RO" dirty="0"/>
              <a:t>. </a:t>
            </a:r>
            <a:r>
              <a:rPr lang="ro-RO" dirty="0" err="1"/>
              <a:t>Recurrent</a:t>
            </a:r>
            <a:r>
              <a:rPr lang="ro-RO" dirty="0"/>
              <a:t> neural </a:t>
            </a:r>
            <a:r>
              <a:rPr lang="ro-RO" dirty="0" err="1"/>
              <a:t>networks</a:t>
            </a:r>
            <a:r>
              <a:rPr lang="ro-RO" dirty="0"/>
              <a:t>. </a:t>
            </a:r>
            <a:r>
              <a:rPr lang="ro-RO" dirty="0" err="1"/>
              <a:t>Transformers</a:t>
            </a:r>
            <a:r>
              <a:rPr lang="en-GB" dirty="0"/>
              <a:t> (I)</a:t>
            </a:r>
            <a:r>
              <a:rPr lang="ro-RO" dirty="0"/>
              <a:t>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F6E94A-88ED-23FE-001B-E26C9AC430C1}"/>
              </a:ext>
            </a:extLst>
          </p:cNvPr>
          <p:cNvSpPr txBox="1"/>
          <p:nvPr/>
        </p:nvSpPr>
        <p:spPr>
          <a:xfrm>
            <a:off x="7122213" y="5502727"/>
            <a:ext cx="167981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50" dirty="0"/>
              <a:t>BORZA DIANA LAURA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519723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76E99-B180-9033-A459-F9DC02ADF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Today’s agenda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4A4F1-9DF7-7579-DFB0-101FF4E24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Sequence models</a:t>
            </a:r>
          </a:p>
          <a:p>
            <a:r>
              <a:rPr lang="en-GB" dirty="0"/>
              <a:t>Recurrent neural networks</a:t>
            </a:r>
          </a:p>
          <a:p>
            <a:r>
              <a:rPr lang="en-GB"/>
              <a:t>Transformers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924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Sequence models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6314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err="1"/>
              <a:t>Sequenc</a:t>
            </a:r>
            <a:r>
              <a:rPr lang="ro-RO" dirty="0" err="1"/>
              <a:t>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Numerical: time series (1d), </a:t>
            </a:r>
            <a:r>
              <a:rPr lang="en-GB" dirty="0" err="1"/>
              <a:t>nd</a:t>
            </a:r>
            <a:r>
              <a:rPr lang="en-GB" dirty="0"/>
              <a:t>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Categorical: characters, words, music keys etc.</a:t>
            </a:r>
          </a:p>
          <a:p>
            <a:pPr lvl="1"/>
            <a:r>
              <a:rPr lang="en-GB" dirty="0" err="1"/>
              <a:t>T,h,e,r,e</a:t>
            </a:r>
            <a:r>
              <a:rPr lang="en-GB" dirty="0"/>
              <a:t>, ,</a:t>
            </a:r>
            <a:r>
              <a:rPr lang="en-GB" dirty="0" err="1"/>
              <a:t>w,a,s</a:t>
            </a:r>
            <a:r>
              <a:rPr lang="en-GB" dirty="0"/>
              <a:t>, ,a</a:t>
            </a:r>
          </a:p>
          <a:p>
            <a:pPr lvl="1"/>
            <a:r>
              <a:rPr lang="en-GB" dirty="0"/>
              <a:t>There, was, a,</a:t>
            </a:r>
          </a:p>
          <a:p>
            <a:pPr lvl="1"/>
            <a:r>
              <a:rPr lang="en-GB" dirty="0"/>
              <a:t> </a:t>
            </a:r>
          </a:p>
          <a:p>
            <a:pPr lvl="1"/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5517232"/>
            <a:ext cx="5381625" cy="118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13"/>
          <a:stretch/>
        </p:blipFill>
        <p:spPr bwMode="auto">
          <a:xfrm>
            <a:off x="1475656" y="2204864"/>
            <a:ext cx="6008737" cy="1659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54457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Sequence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Sequence models are applied on sequences of </a:t>
            </a:r>
            <a:r>
              <a:rPr lang="en-GB" b="1" dirty="0"/>
              <a:t>different </a:t>
            </a:r>
            <a:r>
              <a:rPr lang="en-GB" dirty="0"/>
              <a:t>lengths using the same (shared weights)</a:t>
            </a:r>
          </a:p>
          <a:p>
            <a:r>
              <a:rPr lang="en-GB" dirty="0"/>
              <a:t>Input sequence</a:t>
            </a:r>
          </a:p>
          <a:p>
            <a:r>
              <a:rPr lang="en-GB" dirty="0"/>
              <a:t>Output: label (classification), number (regression), token, sequence</a:t>
            </a:r>
          </a:p>
          <a:p>
            <a:pPr marL="0" indent="0">
              <a:buNone/>
            </a:pPr>
            <a:endParaRPr lang="en-GB" u="sng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4068125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Sequence to sequence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Input: sequence of vectors</a:t>
            </a:r>
          </a:p>
          <a:p>
            <a:r>
              <a:rPr lang="en-GB" dirty="0"/>
              <a:t>Output: sequence of vectors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Sequence to sequence layers can be applied on input sequences of </a:t>
            </a:r>
            <a:r>
              <a:rPr lang="en-GB" b="1" dirty="0"/>
              <a:t>different</a:t>
            </a:r>
            <a:r>
              <a:rPr lang="en-GB" dirty="0"/>
              <a:t> lengths (but using the same weights).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Sequence to sequence layers:</a:t>
            </a:r>
          </a:p>
          <a:p>
            <a:pPr>
              <a:buFontTx/>
              <a:buChar char="-"/>
            </a:pPr>
            <a:r>
              <a:rPr lang="en-GB" dirty="0"/>
              <a:t>Recurrent neural networks</a:t>
            </a:r>
          </a:p>
          <a:p>
            <a:pPr>
              <a:buFontTx/>
              <a:buChar char="-"/>
            </a:pPr>
            <a:r>
              <a:rPr lang="en-GB" dirty="0"/>
              <a:t>Convolutions</a:t>
            </a:r>
          </a:p>
          <a:p>
            <a:pPr>
              <a:buFontTx/>
              <a:buChar char="-"/>
            </a:pPr>
            <a:r>
              <a:rPr lang="en-GB" dirty="0"/>
              <a:t>Self</a:t>
            </a:r>
            <a:r>
              <a:rPr lang="ro-RO" dirty="0"/>
              <a:t>-</a:t>
            </a:r>
            <a:r>
              <a:rPr lang="en-GB" dirty="0"/>
              <a:t>attention layers</a:t>
            </a:r>
          </a:p>
        </p:txBody>
      </p:sp>
    </p:spTree>
    <p:extLst>
      <p:ext uri="{BB962C8B-B14F-4D97-AF65-F5344CB8AC3E}">
        <p14:creationId xmlns:p14="http://schemas.microsoft.com/office/powerpoint/2010/main" val="4108269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Processing discrete inputs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One hot encoding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606751"/>
            <a:ext cx="8900319" cy="18186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21760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Processing discrete inputs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600" dirty="0"/>
              <a:t>Combined in some learning tasks and learned by back</a:t>
            </a:r>
            <a:r>
              <a:rPr lang="ro-RO" sz="2600" dirty="0"/>
              <a:t>-</a:t>
            </a:r>
            <a:r>
              <a:rPr lang="en-GB" sz="2600" dirty="0"/>
              <a:t>propagation</a:t>
            </a:r>
          </a:p>
          <a:p>
            <a:r>
              <a:rPr lang="en-GB" sz="2600" dirty="0"/>
              <a:t>Embedding: given a set of discrete values </a:t>
            </a:r>
            <a:r>
              <a:rPr lang="en-GB" sz="2600" b="1" dirty="0"/>
              <a:t>x</a:t>
            </a:r>
            <a:r>
              <a:rPr lang="en-GB" sz="2600" b="1" baseline="-25000" dirty="0"/>
              <a:t>i</a:t>
            </a:r>
            <a:r>
              <a:rPr lang="en-GB" sz="2600" baseline="-25000" dirty="0"/>
              <a:t> </a:t>
            </a:r>
            <a:br>
              <a:rPr lang="en-GB" sz="2600" dirty="0"/>
            </a:br>
            <a:r>
              <a:rPr lang="en-GB" sz="2600" dirty="0"/>
              <a:t>∈ X, model them by an embedding vector </a:t>
            </a:r>
            <a:r>
              <a:rPr lang="en-GB" sz="2600" b="1" dirty="0" err="1"/>
              <a:t>emb</a:t>
            </a:r>
            <a:r>
              <a:rPr lang="en-GB" sz="2600" b="1" dirty="0"/>
              <a:t>[x</a:t>
            </a:r>
            <a:r>
              <a:rPr lang="en-GB" sz="2600" b="1" baseline="-25000" dirty="0"/>
              <a:t>i</a:t>
            </a:r>
            <a:r>
              <a:rPr lang="en-GB" sz="2600" b="1" dirty="0"/>
              <a:t>]</a:t>
            </a:r>
            <a:r>
              <a:rPr lang="en-GB" sz="2600" dirty="0"/>
              <a:t>, such that if x</a:t>
            </a:r>
            <a:r>
              <a:rPr lang="en-GB" sz="2600" baseline="-25000" dirty="0"/>
              <a:t>i </a:t>
            </a:r>
            <a:r>
              <a:rPr lang="en-GB" sz="2600" dirty="0"/>
              <a:t> and </a:t>
            </a:r>
            <a:r>
              <a:rPr lang="en-GB" sz="2600" dirty="0" err="1"/>
              <a:t>x</a:t>
            </a:r>
            <a:r>
              <a:rPr lang="en-GB" sz="2600" baseline="-25000" dirty="0" err="1"/>
              <a:t>j</a:t>
            </a:r>
            <a:r>
              <a:rPr lang="en-GB" sz="2600" baseline="-25000" dirty="0"/>
              <a:t> </a:t>
            </a:r>
            <a:r>
              <a:rPr lang="en-GB" sz="2600" dirty="0"/>
              <a:t>are similar, so are </a:t>
            </a:r>
            <a:r>
              <a:rPr lang="en-GB" sz="2600" b="1" dirty="0" err="1"/>
              <a:t>emb</a:t>
            </a:r>
            <a:r>
              <a:rPr lang="en-GB" sz="2600" b="1" dirty="0"/>
              <a:t>[x</a:t>
            </a:r>
            <a:r>
              <a:rPr lang="en-GB" sz="2600" b="1" baseline="-25000" dirty="0"/>
              <a:t>i</a:t>
            </a:r>
            <a:r>
              <a:rPr lang="en-GB" sz="2600" b="1" dirty="0"/>
              <a:t>]</a:t>
            </a:r>
            <a:r>
              <a:rPr lang="en-GB" sz="2600" dirty="0"/>
              <a:t> and </a:t>
            </a:r>
            <a:r>
              <a:rPr lang="en-GB" sz="2600" b="1" dirty="0" err="1"/>
              <a:t>emb</a:t>
            </a:r>
            <a:r>
              <a:rPr lang="en-GB" sz="2600" b="1" dirty="0"/>
              <a:t>[</a:t>
            </a:r>
            <a:r>
              <a:rPr lang="en-GB" sz="2600" b="1" dirty="0" err="1"/>
              <a:t>x</a:t>
            </a:r>
            <a:r>
              <a:rPr lang="en-GB" sz="2600" b="1" baseline="-25000" dirty="0" err="1"/>
              <a:t>j</a:t>
            </a:r>
            <a:r>
              <a:rPr lang="en-GB" sz="2600" b="1" dirty="0"/>
              <a:t>]</a:t>
            </a:r>
          </a:p>
          <a:p>
            <a:pPr marL="0" indent="0">
              <a:buNone/>
            </a:pPr>
            <a:endParaRPr lang="en-GB" sz="2800" baseline="-25000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324"/>
          <a:stretch/>
        </p:blipFill>
        <p:spPr bwMode="auto">
          <a:xfrm>
            <a:off x="107504" y="4077072"/>
            <a:ext cx="8900319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311713"/>
              </p:ext>
            </p:extLst>
          </p:nvPr>
        </p:nvGraphicFramePr>
        <p:xfrm>
          <a:off x="395536" y="4825960"/>
          <a:ext cx="370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823662"/>
              </p:ext>
            </p:extLst>
          </p:nvPr>
        </p:nvGraphicFramePr>
        <p:xfrm>
          <a:off x="1058010" y="4825960"/>
          <a:ext cx="370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0280393"/>
              </p:ext>
            </p:extLst>
          </p:nvPr>
        </p:nvGraphicFramePr>
        <p:xfrm>
          <a:off x="1720484" y="4825960"/>
          <a:ext cx="370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621018"/>
              </p:ext>
            </p:extLst>
          </p:nvPr>
        </p:nvGraphicFramePr>
        <p:xfrm>
          <a:off x="2382958" y="4825960"/>
          <a:ext cx="370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889685"/>
              </p:ext>
            </p:extLst>
          </p:nvPr>
        </p:nvGraphicFramePr>
        <p:xfrm>
          <a:off x="3045432" y="4825960"/>
          <a:ext cx="370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495873"/>
              </p:ext>
            </p:extLst>
          </p:nvPr>
        </p:nvGraphicFramePr>
        <p:xfrm>
          <a:off x="3707904" y="4825960"/>
          <a:ext cx="370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385288"/>
              </p:ext>
            </p:extLst>
          </p:nvPr>
        </p:nvGraphicFramePr>
        <p:xfrm>
          <a:off x="5076056" y="4825960"/>
          <a:ext cx="370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9632605"/>
              </p:ext>
            </p:extLst>
          </p:nvPr>
        </p:nvGraphicFramePr>
        <p:xfrm>
          <a:off x="4427984" y="4825960"/>
          <a:ext cx="370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849571"/>
              </p:ext>
            </p:extLst>
          </p:nvPr>
        </p:nvGraphicFramePr>
        <p:xfrm>
          <a:off x="5796136" y="4825960"/>
          <a:ext cx="370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492196"/>
              </p:ext>
            </p:extLst>
          </p:nvPr>
        </p:nvGraphicFramePr>
        <p:xfrm>
          <a:off x="6516216" y="4825960"/>
          <a:ext cx="370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367052"/>
              </p:ext>
            </p:extLst>
          </p:nvPr>
        </p:nvGraphicFramePr>
        <p:xfrm>
          <a:off x="7801600" y="4825960"/>
          <a:ext cx="370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634699"/>
              </p:ext>
            </p:extLst>
          </p:nvPr>
        </p:nvGraphicFramePr>
        <p:xfrm>
          <a:off x="7153528" y="4825960"/>
          <a:ext cx="370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415496"/>
              </p:ext>
            </p:extLst>
          </p:nvPr>
        </p:nvGraphicFramePr>
        <p:xfrm>
          <a:off x="8449672" y="4825960"/>
          <a:ext cx="370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616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Batching sequences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Padding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329" y="2150740"/>
            <a:ext cx="7724507" cy="4707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8733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Batching sequences: padding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098" name="Picture 2" descr="Unleashing Text Generation: The Magic of N-Grams and Padding in Natural  Language Processing | by Naveen Mathews Renji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700808"/>
            <a:ext cx="5715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4069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Batching sequences: packing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You can use lengthwise sorting and use a dynamic batch size</a:t>
            </a:r>
          </a:p>
          <a:p>
            <a:endParaRPr lang="en-GB" dirty="0"/>
          </a:p>
        </p:txBody>
      </p:sp>
      <p:pic>
        <p:nvPicPr>
          <p:cNvPr id="7170" name="Picture 2" descr="pack-padded-seq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2665127"/>
            <a:ext cx="5346076" cy="4192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9452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err="1"/>
              <a:t>Casuality</a:t>
            </a:r>
            <a:r>
              <a:rPr lang="en-GB" dirty="0"/>
              <a:t>: the way the elements in a layer are wired up</a:t>
            </a:r>
          </a:p>
          <a:p>
            <a:pPr marL="0" indent="0">
              <a:buNone/>
            </a:pPr>
            <a:r>
              <a:rPr lang="en-GB" i="1" dirty="0"/>
              <a:t>Casual layer: </a:t>
            </a:r>
            <a:r>
              <a:rPr lang="en-GB" dirty="0"/>
              <a:t>element x</a:t>
            </a:r>
            <a:r>
              <a:rPr lang="en-GB" baseline="-25000" dirty="0"/>
              <a:t>i</a:t>
            </a:r>
            <a:r>
              <a:rPr lang="en-GB" dirty="0"/>
              <a:t> has access only to elements x</a:t>
            </a:r>
            <a:r>
              <a:rPr lang="en-GB" baseline="-25000" dirty="0"/>
              <a:t>0</a:t>
            </a:r>
            <a:r>
              <a:rPr lang="en-GB" dirty="0"/>
              <a:t>, x</a:t>
            </a:r>
            <a:r>
              <a:rPr lang="en-GB" baseline="-25000" dirty="0"/>
              <a:t>1</a:t>
            </a:r>
            <a:r>
              <a:rPr lang="en-GB" dirty="0"/>
              <a:t>, …, x</a:t>
            </a:r>
            <a:r>
              <a:rPr lang="en-GB" sz="2800" baseline="-25000" dirty="0"/>
              <a:t>i-1</a:t>
            </a:r>
            <a:endParaRPr lang="en-GB" i="1" baseline="-25000" dirty="0"/>
          </a:p>
        </p:txBody>
      </p:sp>
    </p:spTree>
    <p:extLst>
      <p:ext uri="{BB962C8B-B14F-4D97-AF65-F5344CB8AC3E}">
        <p14:creationId xmlns:p14="http://schemas.microsoft.com/office/powerpoint/2010/main" val="630197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Autoregressive model</a:t>
            </a:r>
          </a:p>
          <a:p>
            <a:pPr lvl="1"/>
            <a:r>
              <a:rPr lang="en-GB" dirty="0"/>
              <a:t>Start with a seed (a few samples): [t0, t1]</a:t>
            </a:r>
          </a:p>
          <a:p>
            <a:pPr lvl="1"/>
            <a:r>
              <a:rPr lang="en-GB" dirty="0"/>
              <a:t>Sample the next token t = 2 from P(t | t0, t1) and append it to the sequence</a:t>
            </a:r>
          </a:p>
          <a:p>
            <a:pPr lvl="1"/>
            <a:r>
              <a:rPr lang="en-GB" dirty="0"/>
              <a:t>Feed the sequence to the network</a:t>
            </a:r>
          </a:p>
          <a:p>
            <a:pPr lvl="1"/>
            <a:r>
              <a:rPr lang="en-GB" b="1" dirty="0"/>
              <a:t>REPEAT</a:t>
            </a:r>
          </a:p>
          <a:p>
            <a:endParaRPr lang="en-GB" b="1" dirty="0"/>
          </a:p>
          <a:p>
            <a:endParaRPr lang="en-GB" b="1" dirty="0"/>
          </a:p>
          <a:p>
            <a:pPr marL="0" indent="0">
              <a:buNone/>
            </a:pPr>
            <a:endParaRPr lang="en-GB" b="1" dirty="0"/>
          </a:p>
        </p:txBody>
      </p:sp>
      <p:sp>
        <p:nvSpPr>
          <p:cNvPr id="4" name="AutoShape 2" descr="ge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4" descr="gen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" name="AutoShape 6" descr="gen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" name="AutoShape 8" descr="gen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10" descr="gen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036" name="Picture 12" descr="ge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4543425"/>
            <a:ext cx="5734050" cy="231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7395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9984" y="3027208"/>
            <a:ext cx="2663820" cy="3302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Teacher forcing</a:t>
            </a:r>
          </a:p>
          <a:p>
            <a:r>
              <a:rPr lang="en-GB" dirty="0"/>
              <a:t>Scheduled sampling: “probabilistic schedule”</a:t>
            </a:r>
          </a:p>
        </p:txBody>
      </p:sp>
      <p:pic>
        <p:nvPicPr>
          <p:cNvPr id="2050" name="Picture 2" descr="Translation or Answering tool: seq2seq with teacher forcing and attention  mechanism | by Vivek Sasikumar | Mediu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284984"/>
            <a:ext cx="5229757" cy="2476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40559" y="6534136"/>
            <a:ext cx="441819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" dirty="0">
                <a:hlinkClick r:id="rId4"/>
              </a:rPr>
              <a:t>https://medium.com/@vivekvscool/translation-or-answer-tool-seq2seq-with-teacher-forcing-and-attention-mechanism-7cfd9cb03b3a</a:t>
            </a:r>
            <a:r>
              <a:rPr lang="en-GB" sz="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85179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Patterns in sequence models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42317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Process sequences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6" name="Picture 2" descr="http://karpathy.github.io/assets/rnn/diags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348880"/>
            <a:ext cx="8748266" cy="2738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77433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Process sequences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1026" name="Picture 2" descr="http://karpathy.github.io/assets/rnn/diags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348880"/>
            <a:ext cx="8748266" cy="2738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V="1">
            <a:off x="1403648" y="5157192"/>
            <a:ext cx="360040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71600" y="5949280"/>
            <a:ext cx="1910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Image captioning, </a:t>
            </a:r>
          </a:p>
          <a:p>
            <a:r>
              <a:rPr lang="en-GB" dirty="0"/>
              <a:t>Text generation</a:t>
            </a:r>
          </a:p>
        </p:txBody>
      </p:sp>
    </p:spTree>
    <p:extLst>
      <p:ext uri="{BB962C8B-B14F-4D97-AF65-F5344CB8AC3E}">
        <p14:creationId xmlns:p14="http://schemas.microsoft.com/office/powerpoint/2010/main" val="18035068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Process sequences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1026" name="Picture 2" descr="http://karpathy.github.io/assets/rnn/diags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348880"/>
            <a:ext cx="8748266" cy="2738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H="1" flipV="1">
            <a:off x="3779912" y="5229200"/>
            <a:ext cx="504056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425773" y="5877272"/>
            <a:ext cx="23997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Action recognition</a:t>
            </a:r>
          </a:p>
          <a:p>
            <a:r>
              <a:rPr lang="en-GB" dirty="0"/>
              <a:t>Sentiment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6230596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Process sequences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1026" name="Picture 2" descr="http://karpathy.github.io/assets/rnn/diags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346825"/>
            <a:ext cx="8748266" cy="2738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V="1">
            <a:off x="5218920" y="5117942"/>
            <a:ext cx="432048" cy="68604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235064" y="5877272"/>
            <a:ext cx="33138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Video classification at frame level</a:t>
            </a:r>
          </a:p>
          <a:p>
            <a:r>
              <a:rPr lang="en-GB" dirty="0"/>
              <a:t>Text translation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5218920" y="5117942"/>
            <a:ext cx="2593440" cy="68604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7068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Recurrent neural networks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35203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Recurrent neural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recurrent neural network is a network where we can have a </a:t>
            </a:r>
            <a:r>
              <a:rPr lang="en-GB" b="1" dirty="0"/>
              <a:t>cycle</a:t>
            </a:r>
            <a:r>
              <a:rPr lang="en-GB" dirty="0"/>
              <a:t> between two nodes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6167584" y="3307630"/>
            <a:ext cx="925808" cy="2354560"/>
            <a:chOff x="6156176" y="2539752"/>
            <a:chExt cx="925808" cy="2354560"/>
          </a:xfrm>
        </p:grpSpPr>
        <p:sp>
          <p:nvSpPr>
            <p:cNvPr id="6" name="Rectangle 5"/>
            <p:cNvSpPr/>
            <p:nvPr/>
          </p:nvSpPr>
          <p:spPr>
            <a:xfrm>
              <a:off x="6167584" y="4437112"/>
              <a:ext cx="914400" cy="4572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x</a:t>
              </a:r>
              <a:r>
                <a:rPr lang="en-GB" baseline="30000" dirty="0">
                  <a:solidFill>
                    <a:schemeClr val="tx1"/>
                  </a:solidFill>
                </a:rPr>
                <a:t>&lt;t&gt;</a:t>
              </a:r>
            </a:p>
          </p:txBody>
        </p:sp>
        <p:cxnSp>
          <p:nvCxnSpPr>
            <p:cNvPr id="7" name="Straight Arrow Connector 6"/>
            <p:cNvCxnSpPr/>
            <p:nvPr/>
          </p:nvCxnSpPr>
          <p:spPr>
            <a:xfrm flipV="1">
              <a:off x="6613376" y="4077072"/>
              <a:ext cx="0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Rectangle 7"/>
            <p:cNvSpPr/>
            <p:nvPr/>
          </p:nvSpPr>
          <p:spPr>
            <a:xfrm>
              <a:off x="6156176" y="3429000"/>
              <a:ext cx="914400" cy="64807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RNN cell h</a:t>
              </a:r>
              <a:r>
                <a:rPr lang="en-GB" baseline="30000" dirty="0">
                  <a:solidFill>
                    <a:schemeClr val="tx1"/>
                  </a:solidFill>
                </a:rPr>
                <a:t>&lt;t&gt;</a:t>
              </a:r>
              <a:r>
                <a:rPr lang="en-GB" dirty="0">
                  <a:solidFill>
                    <a:schemeClr val="tx1"/>
                  </a:solidFill>
                </a:rPr>
                <a:t> </a:t>
              </a:r>
            </a:p>
          </p:txBody>
        </p:sp>
        <p:cxnSp>
          <p:nvCxnSpPr>
            <p:cNvPr id="9" name="Straight Arrow Connector 8"/>
            <p:cNvCxnSpPr>
              <a:stCxn id="8" idx="0"/>
            </p:cNvCxnSpPr>
            <p:nvPr/>
          </p:nvCxnSpPr>
          <p:spPr>
            <a:xfrm flipV="1">
              <a:off x="6613376" y="2996952"/>
              <a:ext cx="0" cy="4320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Rectangle 9"/>
            <p:cNvSpPr/>
            <p:nvPr/>
          </p:nvSpPr>
          <p:spPr>
            <a:xfrm>
              <a:off x="6156176" y="2539752"/>
              <a:ext cx="914400" cy="4572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y</a:t>
              </a:r>
              <a:r>
                <a:rPr lang="en-GB" baseline="30000" dirty="0">
                  <a:solidFill>
                    <a:schemeClr val="tx1"/>
                  </a:solidFill>
                </a:rPr>
                <a:t>&lt;t&gt;</a:t>
              </a:r>
            </a:p>
          </p:txBody>
        </p:sp>
        <p:cxnSp>
          <p:nvCxnSpPr>
            <p:cNvPr id="11" name="Elbow Connector 10"/>
            <p:cNvCxnSpPr>
              <a:stCxn id="8" idx="3"/>
            </p:cNvCxnSpPr>
            <p:nvPr/>
          </p:nvCxnSpPr>
          <p:spPr>
            <a:xfrm flipH="1" flipV="1">
              <a:off x="6613376" y="3307630"/>
              <a:ext cx="457200" cy="445406"/>
            </a:xfrm>
            <a:prstGeom prst="bentConnector3">
              <a:avLst>
                <a:gd name="adj1" fmla="val -124000"/>
              </a:avLst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413193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RNN cell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762872" cy="4525963"/>
          </a:xfrm>
        </p:spPr>
        <p:txBody>
          <a:bodyPr/>
          <a:lstStyle/>
          <a:p>
            <a:r>
              <a:rPr lang="en-GB" b="1" dirty="0"/>
              <a:t>Recurrent core cell</a:t>
            </a:r>
          </a:p>
          <a:p>
            <a:r>
              <a:rPr lang="en-GB" dirty="0"/>
              <a:t>Input: x</a:t>
            </a:r>
            <a:r>
              <a:rPr lang="en-GB" baseline="30000" dirty="0"/>
              <a:t>&lt;t&gt;</a:t>
            </a:r>
            <a:endParaRPr lang="en-GB" dirty="0"/>
          </a:p>
          <a:p>
            <a:r>
              <a:rPr lang="en-GB" dirty="0"/>
              <a:t>Internal hidden state: h</a:t>
            </a:r>
            <a:r>
              <a:rPr lang="en-GB" baseline="30000" dirty="0"/>
              <a:t>&lt;t&gt;</a:t>
            </a:r>
            <a:r>
              <a:rPr lang="en-GB" dirty="0"/>
              <a:t> </a:t>
            </a:r>
            <a:endParaRPr lang="en-GB" baseline="-25000" dirty="0"/>
          </a:p>
          <a:p>
            <a:pPr lvl="1"/>
            <a:r>
              <a:rPr lang="en-GB" dirty="0"/>
              <a:t>updated each time an input x</a:t>
            </a:r>
            <a:r>
              <a:rPr lang="en-GB" baseline="30000" dirty="0"/>
              <a:t>&lt;t&gt;</a:t>
            </a:r>
            <a:r>
              <a:rPr lang="en-GB" dirty="0"/>
              <a:t> is fed to the cell</a:t>
            </a:r>
          </a:p>
          <a:p>
            <a:r>
              <a:rPr lang="en-GB" dirty="0"/>
              <a:t>Output: y</a:t>
            </a:r>
            <a:r>
              <a:rPr lang="en-GB" baseline="30000" dirty="0"/>
              <a:t>&lt;t&gt;</a:t>
            </a:r>
            <a:endParaRPr lang="en-GB" dirty="0"/>
          </a:p>
          <a:p>
            <a:pPr lvl="1"/>
            <a:r>
              <a:rPr lang="en-GB" dirty="0"/>
              <a:t>at some time steps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156176" y="2539752"/>
            <a:ext cx="925808" cy="2354560"/>
            <a:chOff x="6156176" y="2539752"/>
            <a:chExt cx="925808" cy="2354560"/>
          </a:xfrm>
        </p:grpSpPr>
        <p:sp>
          <p:nvSpPr>
            <p:cNvPr id="6" name="Rectangle 5"/>
            <p:cNvSpPr/>
            <p:nvPr/>
          </p:nvSpPr>
          <p:spPr>
            <a:xfrm>
              <a:off x="6167584" y="4437112"/>
              <a:ext cx="914400" cy="4572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x</a:t>
              </a:r>
              <a:r>
                <a:rPr lang="en-GB" baseline="30000" dirty="0">
                  <a:solidFill>
                    <a:schemeClr val="tx1"/>
                  </a:solidFill>
                </a:rPr>
                <a:t>&lt;t&gt;</a:t>
              </a:r>
            </a:p>
          </p:txBody>
        </p:sp>
        <p:cxnSp>
          <p:nvCxnSpPr>
            <p:cNvPr id="8" name="Straight Arrow Connector 7"/>
            <p:cNvCxnSpPr/>
            <p:nvPr/>
          </p:nvCxnSpPr>
          <p:spPr>
            <a:xfrm flipV="1">
              <a:off x="6613376" y="4077072"/>
              <a:ext cx="0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6156176" y="3429000"/>
              <a:ext cx="914400" cy="64807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RNN cell h</a:t>
              </a:r>
              <a:r>
                <a:rPr lang="en-GB" baseline="30000" dirty="0">
                  <a:solidFill>
                    <a:schemeClr val="tx1"/>
                  </a:solidFill>
                </a:rPr>
                <a:t>&lt;t&gt;</a:t>
              </a:r>
              <a:r>
                <a:rPr lang="en-GB" dirty="0">
                  <a:solidFill>
                    <a:schemeClr val="tx1"/>
                  </a:solidFill>
                </a:rPr>
                <a:t> </a:t>
              </a:r>
            </a:p>
          </p:txBody>
        </p:sp>
        <p:cxnSp>
          <p:nvCxnSpPr>
            <p:cNvPr id="11" name="Straight Arrow Connector 10"/>
            <p:cNvCxnSpPr>
              <a:stCxn id="9" idx="0"/>
            </p:cNvCxnSpPr>
            <p:nvPr/>
          </p:nvCxnSpPr>
          <p:spPr>
            <a:xfrm flipV="1">
              <a:off x="6613376" y="2996952"/>
              <a:ext cx="0" cy="4320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 11"/>
            <p:cNvSpPr/>
            <p:nvPr/>
          </p:nvSpPr>
          <p:spPr>
            <a:xfrm>
              <a:off x="6156176" y="2539752"/>
              <a:ext cx="914400" cy="4572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y</a:t>
              </a:r>
              <a:r>
                <a:rPr lang="en-GB" baseline="30000" dirty="0">
                  <a:solidFill>
                    <a:schemeClr val="tx1"/>
                  </a:solidFill>
                </a:rPr>
                <a:t>&lt;t&gt;</a:t>
              </a:r>
            </a:p>
          </p:txBody>
        </p:sp>
        <p:cxnSp>
          <p:nvCxnSpPr>
            <p:cNvPr id="14" name="Elbow Connector 13"/>
            <p:cNvCxnSpPr>
              <a:stCxn id="9" idx="3"/>
            </p:cNvCxnSpPr>
            <p:nvPr/>
          </p:nvCxnSpPr>
          <p:spPr>
            <a:xfrm flipH="1" flipV="1">
              <a:off x="6613376" y="3307630"/>
              <a:ext cx="457200" cy="445406"/>
            </a:xfrm>
            <a:prstGeom prst="bentConnector3">
              <a:avLst>
                <a:gd name="adj1" fmla="val -124000"/>
              </a:avLst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274938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RNN cell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80112" y="1600200"/>
            <a:ext cx="3106688" cy="4525963"/>
          </a:xfrm>
        </p:spPr>
        <p:txBody>
          <a:bodyPr/>
          <a:lstStyle/>
          <a:p>
            <a:endParaRPr lang="en-GB" dirty="0"/>
          </a:p>
        </p:txBody>
      </p:sp>
      <p:grpSp>
        <p:nvGrpSpPr>
          <p:cNvPr id="5" name="Group 4"/>
          <p:cNvGrpSpPr/>
          <p:nvPr/>
        </p:nvGrpSpPr>
        <p:grpSpPr>
          <a:xfrm>
            <a:off x="6156176" y="2539752"/>
            <a:ext cx="925808" cy="2354560"/>
            <a:chOff x="6156176" y="2539752"/>
            <a:chExt cx="925808" cy="2354560"/>
          </a:xfrm>
        </p:grpSpPr>
        <p:sp>
          <p:nvSpPr>
            <p:cNvPr id="6" name="Rectangle 5"/>
            <p:cNvSpPr/>
            <p:nvPr/>
          </p:nvSpPr>
          <p:spPr>
            <a:xfrm>
              <a:off x="6167584" y="4437112"/>
              <a:ext cx="914400" cy="4572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x</a:t>
              </a:r>
              <a:r>
                <a:rPr lang="en-GB" baseline="30000" dirty="0">
                  <a:solidFill>
                    <a:schemeClr val="tx1"/>
                  </a:solidFill>
                </a:rPr>
                <a:t>&lt;t&gt;</a:t>
              </a:r>
            </a:p>
          </p:txBody>
        </p:sp>
        <p:cxnSp>
          <p:nvCxnSpPr>
            <p:cNvPr id="7" name="Straight Arrow Connector 6"/>
            <p:cNvCxnSpPr/>
            <p:nvPr/>
          </p:nvCxnSpPr>
          <p:spPr>
            <a:xfrm flipV="1">
              <a:off x="6613376" y="4077072"/>
              <a:ext cx="0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Rectangle 7"/>
            <p:cNvSpPr/>
            <p:nvPr/>
          </p:nvSpPr>
          <p:spPr>
            <a:xfrm>
              <a:off x="6156176" y="3429000"/>
              <a:ext cx="914400" cy="64807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RNN cell</a:t>
              </a:r>
            </a:p>
          </p:txBody>
        </p:sp>
        <p:cxnSp>
          <p:nvCxnSpPr>
            <p:cNvPr id="9" name="Straight Arrow Connector 8"/>
            <p:cNvCxnSpPr>
              <a:stCxn id="8" idx="0"/>
            </p:cNvCxnSpPr>
            <p:nvPr/>
          </p:nvCxnSpPr>
          <p:spPr>
            <a:xfrm flipV="1">
              <a:off x="6613376" y="2996952"/>
              <a:ext cx="0" cy="4320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Rectangle 9"/>
            <p:cNvSpPr/>
            <p:nvPr/>
          </p:nvSpPr>
          <p:spPr>
            <a:xfrm>
              <a:off x="6156176" y="2539752"/>
              <a:ext cx="914400" cy="4572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y</a:t>
              </a:r>
              <a:r>
                <a:rPr lang="en-GB" baseline="30000" dirty="0">
                  <a:solidFill>
                    <a:schemeClr val="tx1"/>
                  </a:solidFill>
                </a:rPr>
                <a:t>&lt;t&gt;</a:t>
              </a:r>
            </a:p>
          </p:txBody>
        </p:sp>
        <p:cxnSp>
          <p:nvCxnSpPr>
            <p:cNvPr id="11" name="Elbow Connector 10"/>
            <p:cNvCxnSpPr>
              <a:stCxn id="8" idx="3"/>
            </p:cNvCxnSpPr>
            <p:nvPr/>
          </p:nvCxnSpPr>
          <p:spPr>
            <a:xfrm flipH="1" flipV="1">
              <a:off x="6613376" y="3307630"/>
              <a:ext cx="457200" cy="445406"/>
            </a:xfrm>
            <a:prstGeom prst="bentConnector3">
              <a:avLst>
                <a:gd name="adj1" fmla="val -124000"/>
              </a:avLst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55576" y="1700808"/>
                <a:ext cx="29523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h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&lt;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&gt;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 </m:t>
                      </m:r>
                      <m:r>
                        <a:rPr lang="en-GB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GB" b="0" i="1" smtClean="0">
                              <a:latin typeface="Cambria Math"/>
                            </a:rPr>
                            <m:t>𝑊</m:t>
                          </m:r>
                        </m:sub>
                      </m:sSub>
                      <m:r>
                        <a:rPr lang="en-GB" b="0" i="1" smtClean="0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/>
                            </a:rPr>
                            <m:t>h</m:t>
                          </m:r>
                        </m:e>
                        <m:sup>
                          <m:r>
                            <a:rPr lang="en-GB" i="1">
                              <a:latin typeface="Cambria Math"/>
                            </a:rPr>
                            <m:t>&lt;</m:t>
                          </m:r>
                          <m:r>
                            <a:rPr lang="en-GB" i="1">
                              <a:latin typeface="Cambria Math"/>
                            </a:rPr>
                            <m:t>𝑡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−1</m:t>
                          </m:r>
                          <m:r>
                            <a:rPr lang="en-GB" i="1">
                              <a:latin typeface="Cambria Math"/>
                            </a:rPr>
                            <m:t>&gt;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,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/>
                            </a:rPr>
                            <m:t>&lt;</m:t>
                          </m:r>
                          <m:r>
                            <a:rPr lang="en-GB" i="1">
                              <a:latin typeface="Cambria Math"/>
                            </a:rPr>
                            <m:t>𝑡</m:t>
                          </m:r>
                          <m:r>
                            <a:rPr lang="en-GB" i="1">
                              <a:latin typeface="Cambria Math"/>
                            </a:rPr>
                            <m:t>&gt;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700808"/>
                <a:ext cx="2952328" cy="369332"/>
              </a:xfrm>
              <a:prstGeom prst="rect">
                <a:avLst/>
              </a:prstGeom>
              <a:blipFill rotWithShape="1">
                <a:blip r:embed="rId2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403364" y="2423954"/>
                <a:ext cx="4096628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GB" i="1">
                            <a:latin typeface="Cambria Math"/>
                          </a:rPr>
                          <m:t>&lt;</m:t>
                        </m:r>
                        <m:r>
                          <a:rPr lang="en-GB" i="1">
                            <a:latin typeface="Cambria Math"/>
                          </a:rPr>
                          <m:t>𝑡</m:t>
                        </m:r>
                        <m:r>
                          <a:rPr lang="en-GB" i="1">
                            <a:latin typeface="Cambria Math"/>
                          </a:rPr>
                          <m:t>&gt;</m:t>
                        </m:r>
                      </m:sup>
                    </m:sSup>
                  </m:oMath>
                </a14:m>
                <a:r>
                  <a:rPr lang="en-GB" dirty="0"/>
                  <a:t> - updated hidden state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/>
                          </a:rPr>
                          <m:t>&lt;</m:t>
                        </m:r>
                        <m:r>
                          <a:rPr lang="en-GB" i="1">
                            <a:latin typeface="Cambria Math"/>
                          </a:rPr>
                          <m:t>𝑡</m:t>
                        </m:r>
                        <m:r>
                          <a:rPr lang="en-GB" i="1">
                            <a:latin typeface="Cambria Math"/>
                          </a:rPr>
                          <m:t>&gt;</m:t>
                        </m:r>
                      </m:sup>
                    </m:sSup>
                  </m:oMath>
                </a14:m>
                <a:r>
                  <a:rPr lang="en-GB" dirty="0"/>
                  <a:t> - input at time step t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GB" i="1">
                            <a:latin typeface="Cambria Math"/>
                          </a:rPr>
                          <m:t>&lt;</m:t>
                        </m:r>
                        <m:r>
                          <a:rPr lang="en-GB" i="1">
                            <a:latin typeface="Cambria Math"/>
                          </a:rPr>
                          <m:t>𝑡</m:t>
                        </m:r>
                        <m:r>
                          <a:rPr lang="en-GB" b="0" i="1" smtClean="0">
                            <a:latin typeface="Cambria Math"/>
                          </a:rPr>
                          <m:t>−1</m:t>
                        </m:r>
                        <m:r>
                          <a:rPr lang="en-GB" i="1">
                            <a:latin typeface="Cambria Math"/>
                          </a:rPr>
                          <m:t>&gt;</m:t>
                        </m:r>
                      </m:sup>
                    </m:sSup>
                  </m:oMath>
                </a14:m>
                <a:r>
                  <a:rPr lang="en-GB" dirty="0"/>
                  <a:t> -previous hidden state</a:t>
                </a: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64" y="2423954"/>
                <a:ext cx="4096628" cy="923330"/>
              </a:xfrm>
              <a:prstGeom prst="rect">
                <a:avLst/>
              </a:prstGeom>
              <a:blipFill rotWithShape="1">
                <a:blip r:embed="rId3"/>
                <a:stretch>
                  <a:fillRect t="-3311" b="-99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42254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RNN cell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80112" y="1600200"/>
            <a:ext cx="3106688" cy="4525963"/>
          </a:xfrm>
        </p:spPr>
        <p:txBody>
          <a:bodyPr/>
          <a:lstStyle/>
          <a:p>
            <a:endParaRPr lang="en-GB" dirty="0"/>
          </a:p>
        </p:txBody>
      </p:sp>
      <p:grpSp>
        <p:nvGrpSpPr>
          <p:cNvPr id="5" name="Group 4"/>
          <p:cNvGrpSpPr/>
          <p:nvPr/>
        </p:nvGrpSpPr>
        <p:grpSpPr>
          <a:xfrm>
            <a:off x="6156176" y="2539752"/>
            <a:ext cx="925808" cy="2354560"/>
            <a:chOff x="6156176" y="2539752"/>
            <a:chExt cx="925808" cy="2354560"/>
          </a:xfrm>
        </p:grpSpPr>
        <p:sp>
          <p:nvSpPr>
            <p:cNvPr id="6" name="Rectangle 5"/>
            <p:cNvSpPr/>
            <p:nvPr/>
          </p:nvSpPr>
          <p:spPr>
            <a:xfrm>
              <a:off x="6167584" y="4437112"/>
              <a:ext cx="914400" cy="4572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x</a:t>
              </a:r>
              <a:r>
                <a:rPr lang="en-GB" baseline="30000" dirty="0">
                  <a:solidFill>
                    <a:schemeClr val="tx1"/>
                  </a:solidFill>
                </a:rPr>
                <a:t>&lt;t&gt;</a:t>
              </a:r>
            </a:p>
          </p:txBody>
        </p:sp>
        <p:cxnSp>
          <p:nvCxnSpPr>
            <p:cNvPr id="7" name="Straight Arrow Connector 6"/>
            <p:cNvCxnSpPr/>
            <p:nvPr/>
          </p:nvCxnSpPr>
          <p:spPr>
            <a:xfrm flipV="1">
              <a:off x="6613376" y="4077072"/>
              <a:ext cx="0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Rectangle 7"/>
            <p:cNvSpPr/>
            <p:nvPr/>
          </p:nvSpPr>
          <p:spPr>
            <a:xfrm>
              <a:off x="6156176" y="3429000"/>
              <a:ext cx="914400" cy="64807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RNN cell</a:t>
              </a:r>
            </a:p>
          </p:txBody>
        </p:sp>
        <p:cxnSp>
          <p:nvCxnSpPr>
            <p:cNvPr id="9" name="Straight Arrow Connector 8"/>
            <p:cNvCxnSpPr>
              <a:stCxn id="8" idx="0"/>
            </p:cNvCxnSpPr>
            <p:nvPr/>
          </p:nvCxnSpPr>
          <p:spPr>
            <a:xfrm flipV="1">
              <a:off x="6613376" y="2996952"/>
              <a:ext cx="0" cy="4320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Rectangle 9"/>
            <p:cNvSpPr/>
            <p:nvPr/>
          </p:nvSpPr>
          <p:spPr>
            <a:xfrm>
              <a:off x="6156176" y="2539752"/>
              <a:ext cx="914400" cy="4572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y</a:t>
              </a:r>
              <a:r>
                <a:rPr lang="en-GB" baseline="30000" dirty="0">
                  <a:solidFill>
                    <a:schemeClr val="tx1"/>
                  </a:solidFill>
                </a:rPr>
                <a:t>&lt;t&gt;</a:t>
              </a:r>
            </a:p>
          </p:txBody>
        </p:sp>
        <p:cxnSp>
          <p:nvCxnSpPr>
            <p:cNvPr id="11" name="Elbow Connector 10"/>
            <p:cNvCxnSpPr>
              <a:stCxn id="8" idx="3"/>
            </p:cNvCxnSpPr>
            <p:nvPr/>
          </p:nvCxnSpPr>
          <p:spPr>
            <a:xfrm flipH="1" flipV="1">
              <a:off x="6613376" y="3307630"/>
              <a:ext cx="457200" cy="445406"/>
            </a:xfrm>
            <a:prstGeom prst="bentConnector3">
              <a:avLst>
                <a:gd name="adj1" fmla="val -124000"/>
              </a:avLst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55576" y="1700808"/>
                <a:ext cx="29523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h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&lt;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&gt;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 </m:t>
                      </m:r>
                      <m:r>
                        <a:rPr lang="en-GB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GB" b="0" i="1" smtClean="0">
                              <a:latin typeface="Cambria Math"/>
                            </a:rPr>
                            <m:t>𝑊</m:t>
                          </m:r>
                        </m:sub>
                      </m:sSub>
                      <m:r>
                        <a:rPr lang="en-GB" b="0" i="1" smtClean="0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/>
                            </a:rPr>
                            <m:t>h</m:t>
                          </m:r>
                        </m:e>
                        <m:sup>
                          <m:r>
                            <a:rPr lang="en-GB" i="1">
                              <a:latin typeface="Cambria Math"/>
                            </a:rPr>
                            <m:t>&lt;</m:t>
                          </m:r>
                          <m:r>
                            <a:rPr lang="en-GB" i="1">
                              <a:latin typeface="Cambria Math"/>
                            </a:rPr>
                            <m:t>𝑡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−1</m:t>
                          </m:r>
                          <m:r>
                            <a:rPr lang="en-GB" i="1">
                              <a:latin typeface="Cambria Math"/>
                            </a:rPr>
                            <m:t>&gt;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,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/>
                            </a:rPr>
                            <m:t>&lt;</m:t>
                          </m:r>
                          <m:r>
                            <a:rPr lang="en-GB" i="1">
                              <a:latin typeface="Cambria Math"/>
                            </a:rPr>
                            <m:t>𝑡</m:t>
                          </m:r>
                          <m:r>
                            <a:rPr lang="en-GB" i="1">
                              <a:latin typeface="Cambria Math"/>
                            </a:rPr>
                            <m:t>&gt;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700808"/>
                <a:ext cx="2952328" cy="369332"/>
              </a:xfrm>
              <a:prstGeom prst="rect">
                <a:avLst/>
              </a:prstGeom>
              <a:blipFill rotWithShape="1">
                <a:blip r:embed="rId2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403364" y="2423954"/>
                <a:ext cx="4096628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GB" i="1">
                            <a:latin typeface="Cambria Math"/>
                          </a:rPr>
                          <m:t>&lt;</m:t>
                        </m:r>
                        <m:r>
                          <a:rPr lang="en-GB" i="1">
                            <a:latin typeface="Cambria Math"/>
                          </a:rPr>
                          <m:t>𝑡</m:t>
                        </m:r>
                        <m:r>
                          <a:rPr lang="en-GB" i="1">
                            <a:latin typeface="Cambria Math"/>
                          </a:rPr>
                          <m:t>&gt;</m:t>
                        </m:r>
                      </m:sup>
                    </m:sSup>
                  </m:oMath>
                </a14:m>
                <a:r>
                  <a:rPr lang="en-GB" dirty="0"/>
                  <a:t> - updated hidden state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/>
                          </a:rPr>
                          <m:t>&lt;</m:t>
                        </m:r>
                        <m:r>
                          <a:rPr lang="en-GB" i="1">
                            <a:latin typeface="Cambria Math"/>
                          </a:rPr>
                          <m:t>𝑡</m:t>
                        </m:r>
                        <m:r>
                          <a:rPr lang="en-GB" i="1">
                            <a:latin typeface="Cambria Math"/>
                          </a:rPr>
                          <m:t>&gt;</m:t>
                        </m:r>
                      </m:sup>
                    </m:sSup>
                  </m:oMath>
                </a14:m>
                <a:r>
                  <a:rPr lang="en-GB" dirty="0"/>
                  <a:t> - input at time step t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GB" i="1">
                            <a:latin typeface="Cambria Math"/>
                          </a:rPr>
                          <m:t>&lt;</m:t>
                        </m:r>
                        <m:r>
                          <a:rPr lang="en-GB" i="1">
                            <a:latin typeface="Cambria Math"/>
                          </a:rPr>
                          <m:t>𝑡</m:t>
                        </m:r>
                        <m:r>
                          <a:rPr lang="en-GB" b="0" i="1" smtClean="0">
                            <a:latin typeface="Cambria Math"/>
                          </a:rPr>
                          <m:t>−1</m:t>
                        </m:r>
                        <m:r>
                          <a:rPr lang="en-GB" i="1">
                            <a:latin typeface="Cambria Math"/>
                          </a:rPr>
                          <m:t>&gt;</m:t>
                        </m:r>
                      </m:sup>
                    </m:sSup>
                  </m:oMath>
                </a14:m>
                <a:r>
                  <a:rPr lang="en-GB" dirty="0"/>
                  <a:t> -previous hidden state</a:t>
                </a: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64" y="2423954"/>
                <a:ext cx="4096628" cy="923330"/>
              </a:xfrm>
              <a:prstGeom prst="rect">
                <a:avLst/>
              </a:prstGeom>
              <a:blipFill rotWithShape="1">
                <a:blip r:embed="rId3"/>
                <a:stretch>
                  <a:fillRect t="-3311" b="-99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403364" y="3933966"/>
                <a:ext cx="366331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/>
                            </a:rPr>
                            <m:t>h</m:t>
                          </m:r>
                        </m:e>
                        <m:sup>
                          <m:r>
                            <a:rPr lang="en-GB" i="1">
                              <a:latin typeface="Cambria Math"/>
                            </a:rPr>
                            <m:t>&lt;</m:t>
                          </m:r>
                          <m:r>
                            <a:rPr lang="en-GB" i="1">
                              <a:latin typeface="Cambria Math"/>
                            </a:rPr>
                            <m:t>𝑡</m:t>
                          </m:r>
                          <m:r>
                            <a:rPr lang="en-GB" i="1">
                              <a:latin typeface="Cambria Math"/>
                            </a:rPr>
                            <m:t>&gt;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b="0" i="0" smtClean="0">
                          <a:latin typeface="Cambria Math"/>
                        </a:rPr>
                        <m:t>tanh</m:t>
                      </m:r>
                      <m:r>
                        <a:rPr lang="en-GB" b="0" i="1" smtClean="0">
                          <a:latin typeface="Cambria Math"/>
                        </a:rPr>
                        <m:t>⁡(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/>
                            </a:rPr>
                            <m:t>𝑊</m:t>
                          </m:r>
                        </m:e>
                        <m:sub>
                          <m:r>
                            <a:rPr lang="en-GB" b="0" i="1" smtClean="0">
                              <a:latin typeface="Cambria Math"/>
                            </a:rPr>
                            <m:t>h</m:t>
                          </m:r>
                        </m:sub>
                      </m:sSub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/>
                            </a:rPr>
                            <m:t>h</m:t>
                          </m:r>
                        </m:e>
                        <m:sup>
                          <m:r>
                            <a:rPr lang="en-GB" i="1">
                              <a:latin typeface="Cambria Math"/>
                            </a:rPr>
                            <m:t>&lt;</m:t>
                          </m:r>
                          <m:r>
                            <a:rPr lang="en-GB" i="1">
                              <a:latin typeface="Cambria Math"/>
                            </a:rPr>
                            <m:t>𝑡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−1</m:t>
                          </m:r>
                          <m:r>
                            <a:rPr lang="en-GB" i="1">
                              <a:latin typeface="Cambria Math"/>
                            </a:rPr>
                            <m:t>&gt;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/>
                            </a:rPr>
                            <m:t>𝑊</m:t>
                          </m:r>
                        </m:e>
                        <m:sub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sub>
                      </m:sSub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/>
                            </a:rPr>
                            <m:t>&lt;</m:t>
                          </m:r>
                          <m:r>
                            <a:rPr lang="en-GB" i="1">
                              <a:latin typeface="Cambria Math"/>
                            </a:rPr>
                            <m:t>𝑡</m:t>
                          </m:r>
                          <m:r>
                            <a:rPr lang="en-GB" i="1">
                              <a:latin typeface="Cambria Math"/>
                            </a:rPr>
                            <m:t>&gt;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64" y="3933966"/>
                <a:ext cx="3663311" cy="369332"/>
              </a:xfrm>
              <a:prstGeom prst="rect">
                <a:avLst/>
              </a:prstGeom>
              <a:blipFill rotWithShape="1"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/>
          <p:nvPr/>
        </p:nvCxnSpPr>
        <p:spPr>
          <a:xfrm>
            <a:off x="1547664" y="4318248"/>
            <a:ext cx="432048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523648" y="5013176"/>
            <a:ext cx="1317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nonlinearity</a:t>
            </a:r>
          </a:p>
        </p:txBody>
      </p:sp>
    </p:spTree>
    <p:extLst>
      <p:ext uri="{BB962C8B-B14F-4D97-AF65-F5344CB8AC3E}">
        <p14:creationId xmlns:p14="http://schemas.microsoft.com/office/powerpoint/2010/main" val="26833318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RNN cell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80112" y="1600200"/>
            <a:ext cx="3106688" cy="4525963"/>
          </a:xfrm>
        </p:spPr>
        <p:txBody>
          <a:bodyPr/>
          <a:lstStyle/>
          <a:p>
            <a:endParaRPr lang="en-GB" dirty="0"/>
          </a:p>
        </p:txBody>
      </p:sp>
      <p:grpSp>
        <p:nvGrpSpPr>
          <p:cNvPr id="5" name="Group 4"/>
          <p:cNvGrpSpPr/>
          <p:nvPr/>
        </p:nvGrpSpPr>
        <p:grpSpPr>
          <a:xfrm>
            <a:off x="6156176" y="2539752"/>
            <a:ext cx="925808" cy="2354560"/>
            <a:chOff x="6156176" y="2539752"/>
            <a:chExt cx="925808" cy="2354560"/>
          </a:xfrm>
        </p:grpSpPr>
        <p:sp>
          <p:nvSpPr>
            <p:cNvPr id="6" name="Rectangle 5"/>
            <p:cNvSpPr/>
            <p:nvPr/>
          </p:nvSpPr>
          <p:spPr>
            <a:xfrm>
              <a:off x="6167584" y="4437112"/>
              <a:ext cx="914400" cy="4572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x</a:t>
              </a:r>
              <a:r>
                <a:rPr lang="en-GB" baseline="30000" dirty="0">
                  <a:solidFill>
                    <a:schemeClr val="tx1"/>
                  </a:solidFill>
                </a:rPr>
                <a:t>&lt;t&gt;</a:t>
              </a:r>
            </a:p>
          </p:txBody>
        </p:sp>
        <p:cxnSp>
          <p:nvCxnSpPr>
            <p:cNvPr id="7" name="Straight Arrow Connector 6"/>
            <p:cNvCxnSpPr/>
            <p:nvPr/>
          </p:nvCxnSpPr>
          <p:spPr>
            <a:xfrm flipV="1">
              <a:off x="6613376" y="4077072"/>
              <a:ext cx="0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Rectangle 7"/>
            <p:cNvSpPr/>
            <p:nvPr/>
          </p:nvSpPr>
          <p:spPr>
            <a:xfrm>
              <a:off x="6156176" y="3429000"/>
              <a:ext cx="914400" cy="64807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RNN cell</a:t>
              </a:r>
            </a:p>
          </p:txBody>
        </p:sp>
        <p:cxnSp>
          <p:nvCxnSpPr>
            <p:cNvPr id="9" name="Straight Arrow Connector 8"/>
            <p:cNvCxnSpPr>
              <a:stCxn id="8" idx="0"/>
            </p:cNvCxnSpPr>
            <p:nvPr/>
          </p:nvCxnSpPr>
          <p:spPr>
            <a:xfrm flipV="1">
              <a:off x="6613376" y="2996952"/>
              <a:ext cx="0" cy="4320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Rectangle 9"/>
            <p:cNvSpPr/>
            <p:nvPr/>
          </p:nvSpPr>
          <p:spPr>
            <a:xfrm>
              <a:off x="6156176" y="2539752"/>
              <a:ext cx="914400" cy="4572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y</a:t>
              </a:r>
              <a:r>
                <a:rPr lang="en-GB" baseline="30000" dirty="0">
                  <a:solidFill>
                    <a:schemeClr val="tx1"/>
                  </a:solidFill>
                </a:rPr>
                <a:t>&lt;t&gt;</a:t>
              </a:r>
            </a:p>
          </p:txBody>
        </p:sp>
        <p:cxnSp>
          <p:nvCxnSpPr>
            <p:cNvPr id="11" name="Elbow Connector 10"/>
            <p:cNvCxnSpPr>
              <a:stCxn id="8" idx="3"/>
            </p:cNvCxnSpPr>
            <p:nvPr/>
          </p:nvCxnSpPr>
          <p:spPr>
            <a:xfrm flipH="1" flipV="1">
              <a:off x="6613376" y="3307630"/>
              <a:ext cx="457200" cy="445406"/>
            </a:xfrm>
            <a:prstGeom prst="bentConnector3">
              <a:avLst>
                <a:gd name="adj1" fmla="val -124000"/>
              </a:avLst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55576" y="1700808"/>
                <a:ext cx="29523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h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&lt;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&gt;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 </m:t>
                      </m:r>
                      <m:r>
                        <a:rPr lang="en-GB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GB" b="0" i="1" smtClean="0">
                              <a:latin typeface="Cambria Math"/>
                            </a:rPr>
                            <m:t>𝑊</m:t>
                          </m:r>
                        </m:sub>
                      </m:sSub>
                      <m:r>
                        <a:rPr lang="en-GB" b="0" i="1" smtClean="0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/>
                            </a:rPr>
                            <m:t>h</m:t>
                          </m:r>
                        </m:e>
                        <m:sup>
                          <m:r>
                            <a:rPr lang="en-GB" i="1">
                              <a:latin typeface="Cambria Math"/>
                            </a:rPr>
                            <m:t>&lt;</m:t>
                          </m:r>
                          <m:r>
                            <a:rPr lang="en-GB" i="1">
                              <a:latin typeface="Cambria Math"/>
                            </a:rPr>
                            <m:t>𝑡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−1</m:t>
                          </m:r>
                          <m:r>
                            <a:rPr lang="en-GB" i="1">
                              <a:latin typeface="Cambria Math"/>
                            </a:rPr>
                            <m:t>&gt;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,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/>
                            </a:rPr>
                            <m:t>&lt;</m:t>
                          </m:r>
                          <m:r>
                            <a:rPr lang="en-GB" i="1">
                              <a:latin typeface="Cambria Math"/>
                            </a:rPr>
                            <m:t>𝑡</m:t>
                          </m:r>
                          <m:r>
                            <a:rPr lang="en-GB" i="1">
                              <a:latin typeface="Cambria Math"/>
                            </a:rPr>
                            <m:t>&gt;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700808"/>
                <a:ext cx="2952328" cy="369332"/>
              </a:xfrm>
              <a:prstGeom prst="rect">
                <a:avLst/>
              </a:prstGeom>
              <a:blipFill rotWithShape="1">
                <a:blip r:embed="rId2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403364" y="2423954"/>
                <a:ext cx="4096628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GB" i="1">
                            <a:latin typeface="Cambria Math"/>
                          </a:rPr>
                          <m:t>&lt;</m:t>
                        </m:r>
                        <m:r>
                          <a:rPr lang="en-GB" i="1">
                            <a:latin typeface="Cambria Math"/>
                          </a:rPr>
                          <m:t>𝑡</m:t>
                        </m:r>
                        <m:r>
                          <a:rPr lang="en-GB" i="1">
                            <a:latin typeface="Cambria Math"/>
                          </a:rPr>
                          <m:t>&gt;</m:t>
                        </m:r>
                      </m:sup>
                    </m:sSup>
                  </m:oMath>
                </a14:m>
                <a:r>
                  <a:rPr lang="en-GB" dirty="0"/>
                  <a:t> - updated hidden state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/>
                          </a:rPr>
                          <m:t>&lt;</m:t>
                        </m:r>
                        <m:r>
                          <a:rPr lang="en-GB" i="1">
                            <a:latin typeface="Cambria Math"/>
                          </a:rPr>
                          <m:t>𝑡</m:t>
                        </m:r>
                        <m:r>
                          <a:rPr lang="en-GB" i="1">
                            <a:latin typeface="Cambria Math"/>
                          </a:rPr>
                          <m:t>&gt;</m:t>
                        </m:r>
                      </m:sup>
                    </m:sSup>
                  </m:oMath>
                </a14:m>
                <a:r>
                  <a:rPr lang="en-GB" dirty="0"/>
                  <a:t> - input at time step t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GB" i="1">
                            <a:latin typeface="Cambria Math"/>
                          </a:rPr>
                          <m:t>&lt;</m:t>
                        </m:r>
                        <m:r>
                          <a:rPr lang="en-GB" i="1">
                            <a:latin typeface="Cambria Math"/>
                          </a:rPr>
                          <m:t>𝑡</m:t>
                        </m:r>
                        <m:r>
                          <a:rPr lang="en-GB" b="0" i="1" smtClean="0">
                            <a:latin typeface="Cambria Math"/>
                          </a:rPr>
                          <m:t>−1</m:t>
                        </m:r>
                        <m:r>
                          <a:rPr lang="en-GB" i="1">
                            <a:latin typeface="Cambria Math"/>
                          </a:rPr>
                          <m:t>&gt;</m:t>
                        </m:r>
                      </m:sup>
                    </m:sSup>
                  </m:oMath>
                </a14:m>
                <a:r>
                  <a:rPr lang="en-GB" dirty="0"/>
                  <a:t> -previous hidden state</a:t>
                </a: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64" y="2423954"/>
                <a:ext cx="4096628" cy="923330"/>
              </a:xfrm>
              <a:prstGeom prst="rect">
                <a:avLst/>
              </a:prstGeom>
              <a:blipFill rotWithShape="1">
                <a:blip r:embed="rId3"/>
                <a:stretch>
                  <a:fillRect t="-3311" b="-99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82182" y="4905728"/>
                <a:ext cx="53419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smtClean="0">
                            <a:latin typeface="Cambria Math"/>
                          </a:rPr>
                          <m:t>𝒚</m:t>
                        </m:r>
                      </m:e>
                      <m:sup>
                        <m:r>
                          <a:rPr lang="en-GB" b="1" i="1">
                            <a:latin typeface="Cambria Math"/>
                          </a:rPr>
                          <m:t>&lt;</m:t>
                        </m:r>
                        <m:r>
                          <a:rPr lang="en-GB" b="1" i="1">
                            <a:latin typeface="Cambria Math"/>
                          </a:rPr>
                          <m:t>𝒕</m:t>
                        </m:r>
                        <m:r>
                          <a:rPr lang="en-GB" b="1" i="1">
                            <a:latin typeface="Cambria Math"/>
                          </a:rPr>
                          <m:t>&gt;</m:t>
                        </m:r>
                      </m:sup>
                    </m:sSup>
                  </m:oMath>
                </a14:m>
                <a:r>
                  <a:rPr lang="en-GB" b="1" dirty="0"/>
                  <a:t> : make a decision based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>
                            <a:latin typeface="Cambria Math"/>
                          </a:rPr>
                          <m:t>𝒉</m:t>
                        </m:r>
                      </m:e>
                      <m:sup>
                        <m:r>
                          <a:rPr lang="en-GB" b="1" i="1">
                            <a:latin typeface="Cambria Math"/>
                          </a:rPr>
                          <m:t>&lt;</m:t>
                        </m:r>
                        <m:r>
                          <a:rPr lang="en-GB" b="1" i="1">
                            <a:latin typeface="Cambria Math"/>
                          </a:rPr>
                          <m:t>𝒕</m:t>
                        </m:r>
                        <m:r>
                          <a:rPr lang="en-GB" b="1" i="1">
                            <a:latin typeface="Cambria Math"/>
                          </a:rPr>
                          <m:t>&gt;</m:t>
                        </m:r>
                      </m:sup>
                    </m:sSup>
                  </m:oMath>
                </a14:m>
                <a:r>
                  <a:rPr lang="en-GB" b="1" dirty="0"/>
                  <a:t>  each time step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82" y="4905728"/>
                <a:ext cx="5341946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333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403364" y="3933966"/>
                <a:ext cx="366331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/>
                            </a:rPr>
                            <m:t>h</m:t>
                          </m:r>
                        </m:e>
                        <m:sup>
                          <m:r>
                            <a:rPr lang="en-GB" i="1">
                              <a:latin typeface="Cambria Math"/>
                            </a:rPr>
                            <m:t>&lt;</m:t>
                          </m:r>
                          <m:r>
                            <a:rPr lang="en-GB" i="1">
                              <a:latin typeface="Cambria Math"/>
                            </a:rPr>
                            <m:t>𝑡</m:t>
                          </m:r>
                          <m:r>
                            <a:rPr lang="en-GB" i="1">
                              <a:latin typeface="Cambria Math"/>
                            </a:rPr>
                            <m:t>&gt;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b="0" i="0" smtClean="0">
                          <a:latin typeface="Cambria Math"/>
                        </a:rPr>
                        <m:t>tanh</m:t>
                      </m:r>
                      <m:r>
                        <a:rPr lang="en-GB" b="0" i="1" smtClean="0">
                          <a:latin typeface="Cambria Math"/>
                        </a:rPr>
                        <m:t>⁡(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/>
                            </a:rPr>
                            <m:t>𝑊</m:t>
                          </m:r>
                        </m:e>
                        <m:sub>
                          <m:r>
                            <a:rPr lang="en-GB" b="0" i="1" smtClean="0">
                              <a:latin typeface="Cambria Math"/>
                            </a:rPr>
                            <m:t>h</m:t>
                          </m:r>
                        </m:sub>
                      </m:sSub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/>
                            </a:rPr>
                            <m:t>h</m:t>
                          </m:r>
                        </m:e>
                        <m:sup>
                          <m:r>
                            <a:rPr lang="en-GB" i="1">
                              <a:latin typeface="Cambria Math"/>
                            </a:rPr>
                            <m:t>&lt;</m:t>
                          </m:r>
                          <m:r>
                            <a:rPr lang="en-GB" i="1">
                              <a:latin typeface="Cambria Math"/>
                            </a:rPr>
                            <m:t>𝑡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−1</m:t>
                          </m:r>
                          <m:r>
                            <a:rPr lang="en-GB" i="1">
                              <a:latin typeface="Cambria Math"/>
                            </a:rPr>
                            <m:t>&gt;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/>
                            </a:rPr>
                            <m:t>𝑊</m:t>
                          </m:r>
                        </m:e>
                        <m:sub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sub>
                      </m:sSub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/>
                            </a:rPr>
                            <m:t>&lt;</m:t>
                          </m:r>
                          <m:r>
                            <a:rPr lang="en-GB" i="1">
                              <a:latin typeface="Cambria Math"/>
                            </a:rPr>
                            <m:t>𝑡</m:t>
                          </m:r>
                          <m:r>
                            <a:rPr lang="en-GB" i="1">
                              <a:latin typeface="Cambria Math"/>
                            </a:rPr>
                            <m:t>&gt;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64" y="3933966"/>
                <a:ext cx="3663311" cy="369332"/>
              </a:xfrm>
              <a:prstGeom prst="rect">
                <a:avLst/>
              </a:prstGeom>
              <a:blipFill rotWithShape="1"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403364" y="5363924"/>
                <a:ext cx="1772665" cy="3933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GB" i="1">
                              <a:latin typeface="Cambria Math"/>
                            </a:rPr>
                            <m:t>&lt;</m:t>
                          </m:r>
                          <m:r>
                            <a:rPr lang="en-GB" i="1">
                              <a:latin typeface="Cambria Math"/>
                            </a:rPr>
                            <m:t>𝑡</m:t>
                          </m:r>
                          <m:r>
                            <a:rPr lang="en-GB" i="1">
                              <a:latin typeface="Cambria Math"/>
                            </a:rPr>
                            <m:t>&gt;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/>
                            </a:rPr>
                            <m:t>𝑊</m:t>
                          </m:r>
                        </m:e>
                        <m:sub>
                          <m:r>
                            <a:rPr lang="en-GB" b="0" i="1" smtClean="0">
                              <a:latin typeface="Cambria Math"/>
                            </a:rPr>
                            <m:t>𝑦</m:t>
                          </m:r>
                        </m:sub>
                      </m:sSub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/>
                            </a:rPr>
                            <m:t>h</m:t>
                          </m:r>
                        </m:e>
                        <m:sup>
                          <m:r>
                            <a:rPr lang="en-GB" i="1">
                              <a:latin typeface="Cambria Math"/>
                            </a:rPr>
                            <m:t>&lt;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n-GB" i="1">
                              <a:latin typeface="Cambria Math"/>
                            </a:rPr>
                            <m:t>&gt;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64" y="5363924"/>
                <a:ext cx="1772665" cy="393377"/>
              </a:xfrm>
              <a:prstGeom prst="rect">
                <a:avLst/>
              </a:prstGeom>
              <a:blipFill rotWithShape="1">
                <a:blip r:embed="rId6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1794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RNN cell 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971600" y="2512595"/>
            <a:ext cx="925808" cy="2354560"/>
            <a:chOff x="6156176" y="2539752"/>
            <a:chExt cx="925808" cy="2354560"/>
          </a:xfrm>
        </p:grpSpPr>
        <p:sp>
          <p:nvSpPr>
            <p:cNvPr id="6" name="Rectangle 5"/>
            <p:cNvSpPr/>
            <p:nvPr/>
          </p:nvSpPr>
          <p:spPr>
            <a:xfrm>
              <a:off x="6167584" y="4437112"/>
              <a:ext cx="914400" cy="4572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x</a:t>
              </a:r>
              <a:r>
                <a:rPr lang="en-GB" baseline="30000" dirty="0">
                  <a:solidFill>
                    <a:schemeClr val="tx1"/>
                  </a:solidFill>
                </a:rPr>
                <a:t>&lt;1&gt;</a:t>
              </a:r>
            </a:p>
          </p:txBody>
        </p:sp>
        <p:cxnSp>
          <p:nvCxnSpPr>
            <p:cNvPr id="7" name="Straight Arrow Connector 6"/>
            <p:cNvCxnSpPr/>
            <p:nvPr/>
          </p:nvCxnSpPr>
          <p:spPr>
            <a:xfrm flipV="1">
              <a:off x="6613376" y="4077072"/>
              <a:ext cx="0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Rectangle 7"/>
            <p:cNvSpPr/>
            <p:nvPr/>
          </p:nvSpPr>
          <p:spPr>
            <a:xfrm>
              <a:off x="6156176" y="3429000"/>
              <a:ext cx="914400" cy="64807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RNN cell</a:t>
              </a:r>
            </a:p>
          </p:txBody>
        </p:sp>
        <p:cxnSp>
          <p:nvCxnSpPr>
            <p:cNvPr id="9" name="Straight Arrow Connector 8"/>
            <p:cNvCxnSpPr>
              <a:stCxn id="8" idx="0"/>
            </p:cNvCxnSpPr>
            <p:nvPr/>
          </p:nvCxnSpPr>
          <p:spPr>
            <a:xfrm flipV="1">
              <a:off x="6613376" y="2996952"/>
              <a:ext cx="0" cy="4320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Rectangle 9"/>
            <p:cNvSpPr/>
            <p:nvPr/>
          </p:nvSpPr>
          <p:spPr>
            <a:xfrm>
              <a:off x="6156176" y="2539752"/>
              <a:ext cx="914400" cy="4572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y</a:t>
              </a:r>
              <a:r>
                <a:rPr lang="en-GB" baseline="30000" dirty="0">
                  <a:solidFill>
                    <a:schemeClr val="tx1"/>
                  </a:solidFill>
                </a:rPr>
                <a:t>&lt;1&gt;</a:t>
              </a:r>
            </a:p>
          </p:txBody>
        </p:sp>
      </p:grpSp>
      <p:sp>
        <p:nvSpPr>
          <p:cNvPr id="3" name="Rectangle 2"/>
          <p:cNvSpPr/>
          <p:nvPr/>
        </p:nvSpPr>
        <p:spPr>
          <a:xfrm>
            <a:off x="1890839" y="4055368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dirty="0"/>
              <a:t>h</a:t>
            </a:r>
            <a:r>
              <a:rPr lang="en-GB" baseline="30000" dirty="0"/>
              <a:t>&lt;0&gt; </a:t>
            </a:r>
            <a:r>
              <a:rPr lang="en-GB" dirty="0"/>
              <a:t>= [0, .., 0]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99328" y="4453889"/>
            <a:ext cx="5164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dirty="0">
                <a:solidFill>
                  <a:schemeClr val="tx2">
                    <a:lumMod val="20000"/>
                    <a:lumOff val="80000"/>
                  </a:schemeClr>
                </a:solidFill>
              </a:rPr>
              <a:t>x</a:t>
            </a:r>
            <a:r>
              <a:rPr lang="en-GB" baseline="30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&lt;2&gt;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59832" y="4437112"/>
            <a:ext cx="5164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dirty="0">
                <a:solidFill>
                  <a:schemeClr val="tx2">
                    <a:lumMod val="20000"/>
                    <a:lumOff val="80000"/>
                  </a:schemeClr>
                </a:solidFill>
              </a:rPr>
              <a:t>x</a:t>
            </a:r>
            <a:r>
              <a:rPr lang="en-GB" baseline="30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&lt;3&gt;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3528" y="3541213"/>
            <a:ext cx="5389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FFC000"/>
                </a:solidFill>
              </a:rPr>
              <a:t>h</a:t>
            </a:r>
            <a:r>
              <a:rPr lang="en-GB" baseline="30000" dirty="0">
                <a:solidFill>
                  <a:srgbClr val="FFC000"/>
                </a:solidFill>
              </a:rPr>
              <a:t>&lt;1&gt;</a:t>
            </a:r>
            <a:endParaRPr lang="en-GB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3779912" y="3613666"/>
                <a:ext cx="350621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h</m:t>
                          </m:r>
                        </m:e>
                        <m:sup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&lt;</m:t>
                          </m:r>
                          <m:r>
                            <a:rPr lang="en-GB" b="0" i="1" smtClean="0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&gt;</m:t>
                          </m:r>
                        </m:sup>
                      </m:sSup>
                      <m:r>
                        <a:rPr lang="en-GB" i="1">
                          <a:solidFill>
                            <a:srgbClr val="FFC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>
                          <a:solidFill>
                            <a:srgbClr val="FFC000"/>
                          </a:solidFill>
                          <a:latin typeface="Cambria Math"/>
                        </a:rPr>
                        <m:t>tanh</m:t>
                      </m:r>
                      <m:r>
                        <a:rPr lang="en-GB" i="1">
                          <a:solidFill>
                            <a:srgbClr val="FFC000"/>
                          </a:solidFill>
                          <a:latin typeface="Cambria Math"/>
                        </a:rPr>
                        <m:t>⁡(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𝑊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h</m:t>
                          </m:r>
                        </m:sub>
                      </m:sSub>
                      <m:sSup>
                        <m:sSupPr>
                          <m:ctrlPr>
                            <a:rPr lang="en-GB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h</m:t>
                          </m:r>
                        </m:e>
                        <m:sup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&lt;</m:t>
                          </m:r>
                          <m:r>
                            <a:rPr lang="en-GB" b="0" i="1" smtClean="0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0</m:t>
                          </m:r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&gt;</m:t>
                          </m:r>
                        </m:sup>
                      </m:sSup>
                      <m:r>
                        <a:rPr lang="en-GB" i="1">
                          <a:solidFill>
                            <a:srgbClr val="FFC000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𝑊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𝑥</m:t>
                          </m:r>
                        </m:sub>
                      </m:sSub>
                      <m:sSup>
                        <m:sSupPr>
                          <m:ctrlPr>
                            <a:rPr lang="en-GB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&lt;</m:t>
                          </m:r>
                          <m:r>
                            <a:rPr lang="en-GB" b="0" i="1" smtClean="0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&gt;</m:t>
                          </m:r>
                        </m:sup>
                      </m:sSup>
                      <m:r>
                        <a:rPr lang="en-GB" i="1">
                          <a:solidFill>
                            <a:srgbClr val="FFC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GB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12" y="3613666"/>
                <a:ext cx="3506216" cy="369332"/>
              </a:xfrm>
              <a:prstGeom prst="rect">
                <a:avLst/>
              </a:prstGeom>
              <a:blipFill rotWithShape="1">
                <a:blip r:embed="rId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3793268" y="3217467"/>
                <a:ext cx="1811778" cy="3961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&lt;</m:t>
                          </m:r>
                          <m:r>
                            <a:rPr lang="en-GB" b="0" i="1" smtClean="0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&gt;</m:t>
                          </m:r>
                        </m:sup>
                      </m:sSup>
                      <m:r>
                        <a:rPr lang="en-GB" i="1">
                          <a:solidFill>
                            <a:srgbClr val="FFC000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𝑊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𝑦</m:t>
                          </m:r>
                        </m:sub>
                      </m:sSub>
                      <m:sSup>
                        <m:sSupPr>
                          <m:ctrlPr>
                            <a:rPr lang="en-GB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h</m:t>
                          </m:r>
                        </m:e>
                        <m:sup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&lt;</m:t>
                          </m:r>
                          <m:r>
                            <a:rPr lang="en-GB" b="0" i="1" smtClean="0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&gt;</m:t>
                          </m:r>
                        </m:sup>
                      </m:sSup>
                    </m:oMath>
                  </m:oMathPara>
                </a14:m>
                <a:endParaRPr lang="en-GB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3268" y="3217467"/>
                <a:ext cx="1811778" cy="396199"/>
              </a:xfrm>
              <a:prstGeom prst="rect">
                <a:avLst/>
              </a:prstGeom>
              <a:blipFill rotWithShape="1">
                <a:blip r:embed="rId3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44842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RNN cell 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709600" y="2512595"/>
            <a:ext cx="925808" cy="2354560"/>
            <a:chOff x="6156176" y="2539752"/>
            <a:chExt cx="925808" cy="2354560"/>
          </a:xfrm>
        </p:grpSpPr>
        <p:sp>
          <p:nvSpPr>
            <p:cNvPr id="6" name="Rectangle 5"/>
            <p:cNvSpPr/>
            <p:nvPr/>
          </p:nvSpPr>
          <p:spPr>
            <a:xfrm>
              <a:off x="6167584" y="4437112"/>
              <a:ext cx="914400" cy="4572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x</a:t>
              </a:r>
              <a:r>
                <a:rPr lang="en-GB" baseline="30000" dirty="0">
                  <a:solidFill>
                    <a:schemeClr val="tx1"/>
                  </a:solidFill>
                </a:rPr>
                <a:t>&lt;2&gt;</a:t>
              </a:r>
            </a:p>
          </p:txBody>
        </p:sp>
        <p:cxnSp>
          <p:nvCxnSpPr>
            <p:cNvPr id="7" name="Straight Arrow Connector 6"/>
            <p:cNvCxnSpPr/>
            <p:nvPr/>
          </p:nvCxnSpPr>
          <p:spPr>
            <a:xfrm flipV="1">
              <a:off x="6613376" y="4077072"/>
              <a:ext cx="0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Rectangle 7"/>
            <p:cNvSpPr/>
            <p:nvPr/>
          </p:nvSpPr>
          <p:spPr>
            <a:xfrm>
              <a:off x="6156176" y="3429000"/>
              <a:ext cx="914400" cy="64807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RNN cell</a:t>
              </a:r>
            </a:p>
          </p:txBody>
        </p:sp>
        <p:cxnSp>
          <p:nvCxnSpPr>
            <p:cNvPr id="9" name="Straight Arrow Connector 8"/>
            <p:cNvCxnSpPr>
              <a:stCxn id="8" idx="0"/>
            </p:cNvCxnSpPr>
            <p:nvPr/>
          </p:nvCxnSpPr>
          <p:spPr>
            <a:xfrm flipV="1">
              <a:off x="6613376" y="2996952"/>
              <a:ext cx="0" cy="4320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Rectangle 9"/>
            <p:cNvSpPr/>
            <p:nvPr/>
          </p:nvSpPr>
          <p:spPr>
            <a:xfrm>
              <a:off x="6156176" y="2539752"/>
              <a:ext cx="914400" cy="4572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y</a:t>
              </a:r>
              <a:r>
                <a:rPr lang="en-GB" baseline="30000" dirty="0">
                  <a:solidFill>
                    <a:schemeClr val="tx1"/>
                  </a:solidFill>
                </a:rPr>
                <a:t>&lt;2&gt;</a:t>
              </a:r>
            </a:p>
          </p:txBody>
        </p:sp>
      </p:grpSp>
      <p:sp>
        <p:nvSpPr>
          <p:cNvPr id="3" name="Rectangle 2"/>
          <p:cNvSpPr/>
          <p:nvPr/>
        </p:nvSpPr>
        <p:spPr>
          <a:xfrm>
            <a:off x="2867863" y="3933056"/>
            <a:ext cx="5389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dirty="0"/>
              <a:t>h</a:t>
            </a:r>
            <a:r>
              <a:rPr lang="en-GB" baseline="30000" dirty="0"/>
              <a:t>&lt;1&gt;</a:t>
            </a:r>
            <a:endParaRPr lang="en-GB" dirty="0"/>
          </a:p>
        </p:txBody>
      </p:sp>
      <p:sp>
        <p:nvSpPr>
          <p:cNvPr id="12" name="Rectangle 11"/>
          <p:cNvSpPr/>
          <p:nvPr/>
        </p:nvSpPr>
        <p:spPr>
          <a:xfrm>
            <a:off x="887160" y="4453889"/>
            <a:ext cx="5164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dirty="0">
                <a:solidFill>
                  <a:schemeClr val="tx2">
                    <a:lumMod val="20000"/>
                    <a:lumOff val="80000"/>
                  </a:schemeClr>
                </a:solidFill>
              </a:rPr>
              <a:t>x</a:t>
            </a:r>
            <a:r>
              <a:rPr lang="en-GB" baseline="30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&lt;1&gt;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19408" y="4453889"/>
            <a:ext cx="5164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dirty="0">
                <a:solidFill>
                  <a:schemeClr val="tx2">
                    <a:lumMod val="20000"/>
                    <a:lumOff val="80000"/>
                  </a:schemeClr>
                </a:solidFill>
              </a:rPr>
              <a:t>x</a:t>
            </a:r>
            <a:r>
              <a:rPr lang="en-GB" baseline="30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&lt;3&gt;</a:t>
            </a:r>
          </a:p>
        </p:txBody>
      </p:sp>
      <p:sp>
        <p:nvSpPr>
          <p:cNvPr id="4" name="Rectangle 3"/>
          <p:cNvSpPr/>
          <p:nvPr/>
        </p:nvSpPr>
        <p:spPr>
          <a:xfrm>
            <a:off x="850521" y="2556529"/>
            <a:ext cx="5212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dirty="0"/>
              <a:t>y</a:t>
            </a:r>
            <a:r>
              <a:rPr lang="en-GB" baseline="30000" dirty="0"/>
              <a:t>&lt;1&gt;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9325" y="3503176"/>
            <a:ext cx="5389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FFC000"/>
                </a:solidFill>
              </a:rPr>
              <a:t>h</a:t>
            </a:r>
            <a:r>
              <a:rPr lang="en-GB" baseline="30000" dirty="0">
                <a:solidFill>
                  <a:srgbClr val="FFC000"/>
                </a:solidFill>
              </a:rPr>
              <a:t>&lt;2&gt;</a:t>
            </a:r>
            <a:endParaRPr lang="en-GB" dirty="0">
              <a:solidFill>
                <a:srgbClr val="FFC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923928" y="4437112"/>
            <a:ext cx="5164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dirty="0">
                <a:solidFill>
                  <a:schemeClr val="tx2">
                    <a:lumMod val="20000"/>
                    <a:lumOff val="80000"/>
                  </a:schemeClr>
                </a:solidFill>
              </a:rPr>
              <a:t>x</a:t>
            </a:r>
            <a:r>
              <a:rPr lang="en-GB" baseline="30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&lt;4&gt;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4465459" y="3676672"/>
                <a:ext cx="350621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h</m:t>
                          </m:r>
                        </m:e>
                        <m:sup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&lt;</m:t>
                          </m:r>
                          <m:r>
                            <a:rPr lang="en-GB" b="0" i="1" smtClean="0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&gt;</m:t>
                          </m:r>
                        </m:sup>
                      </m:sSup>
                      <m:r>
                        <a:rPr lang="en-GB" i="1">
                          <a:solidFill>
                            <a:srgbClr val="FFC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>
                          <a:solidFill>
                            <a:srgbClr val="FFC000"/>
                          </a:solidFill>
                          <a:latin typeface="Cambria Math"/>
                        </a:rPr>
                        <m:t>tanh</m:t>
                      </m:r>
                      <m:r>
                        <a:rPr lang="en-GB" i="1">
                          <a:solidFill>
                            <a:srgbClr val="FFC000"/>
                          </a:solidFill>
                          <a:latin typeface="Cambria Math"/>
                        </a:rPr>
                        <m:t>⁡(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𝑊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h</m:t>
                          </m:r>
                        </m:sub>
                      </m:sSub>
                      <m:sSup>
                        <m:sSupPr>
                          <m:ctrlPr>
                            <a:rPr lang="en-GB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h</m:t>
                          </m:r>
                        </m:e>
                        <m:sup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&lt;</m:t>
                          </m:r>
                          <m:r>
                            <a:rPr lang="en-GB" b="0" i="1" smtClean="0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&gt;</m:t>
                          </m:r>
                        </m:sup>
                      </m:sSup>
                      <m:r>
                        <a:rPr lang="en-GB" i="1">
                          <a:solidFill>
                            <a:srgbClr val="FFC000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𝑊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𝑥</m:t>
                          </m:r>
                        </m:sub>
                      </m:sSub>
                      <m:sSup>
                        <m:sSupPr>
                          <m:ctrlPr>
                            <a:rPr lang="en-GB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&lt;</m:t>
                          </m:r>
                          <m:r>
                            <a:rPr lang="en-GB" b="0" i="1" smtClean="0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&gt;</m:t>
                          </m:r>
                        </m:sup>
                      </m:sSup>
                      <m:r>
                        <a:rPr lang="en-GB" i="1">
                          <a:solidFill>
                            <a:srgbClr val="FFC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GB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459" y="3676672"/>
                <a:ext cx="3506216" cy="369332"/>
              </a:xfrm>
              <a:prstGeom prst="rect">
                <a:avLst/>
              </a:prstGeom>
              <a:blipFill rotWithShape="1">
                <a:blip r:embed="rId2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4478815" y="3280473"/>
                <a:ext cx="1811778" cy="396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&lt;</m:t>
                          </m:r>
                          <m:r>
                            <a:rPr lang="en-GB" b="0" i="1" smtClean="0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&gt;</m:t>
                          </m:r>
                        </m:sup>
                      </m:sSup>
                      <m:r>
                        <a:rPr lang="en-GB" i="1">
                          <a:solidFill>
                            <a:srgbClr val="FFC000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𝑊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𝑦</m:t>
                          </m:r>
                        </m:sub>
                      </m:sSub>
                      <m:sSup>
                        <m:sSupPr>
                          <m:ctrlPr>
                            <a:rPr lang="en-GB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h</m:t>
                          </m:r>
                        </m:e>
                        <m:sup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&lt;</m:t>
                          </m:r>
                          <m:r>
                            <a:rPr lang="en-GB" b="0" i="1" smtClean="0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&gt;</m:t>
                          </m:r>
                        </m:sup>
                      </m:sSup>
                    </m:oMath>
                  </m:oMathPara>
                </a14:m>
                <a:endParaRPr lang="en-GB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815" y="3280473"/>
                <a:ext cx="1811778" cy="396775"/>
              </a:xfrm>
              <a:prstGeom prst="rect">
                <a:avLst/>
              </a:prstGeom>
              <a:blipFill rotWithShape="1">
                <a:blip r:embed="rId3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9212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RNN cell 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154727" y="2512595"/>
            <a:ext cx="925808" cy="2354560"/>
            <a:chOff x="6156176" y="2539752"/>
            <a:chExt cx="925808" cy="2354560"/>
          </a:xfrm>
        </p:grpSpPr>
        <p:sp>
          <p:nvSpPr>
            <p:cNvPr id="6" name="Rectangle 5"/>
            <p:cNvSpPr/>
            <p:nvPr/>
          </p:nvSpPr>
          <p:spPr>
            <a:xfrm>
              <a:off x="6167584" y="4437112"/>
              <a:ext cx="914400" cy="4572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x</a:t>
              </a:r>
              <a:r>
                <a:rPr lang="en-GB" baseline="30000" dirty="0">
                  <a:solidFill>
                    <a:schemeClr val="tx1"/>
                  </a:solidFill>
                </a:rPr>
                <a:t>&lt;3&gt;</a:t>
              </a:r>
            </a:p>
          </p:txBody>
        </p:sp>
        <p:cxnSp>
          <p:nvCxnSpPr>
            <p:cNvPr id="7" name="Straight Arrow Connector 6"/>
            <p:cNvCxnSpPr/>
            <p:nvPr/>
          </p:nvCxnSpPr>
          <p:spPr>
            <a:xfrm flipV="1">
              <a:off x="6613376" y="4077072"/>
              <a:ext cx="0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Rectangle 7"/>
            <p:cNvSpPr/>
            <p:nvPr/>
          </p:nvSpPr>
          <p:spPr>
            <a:xfrm>
              <a:off x="6156176" y="3429000"/>
              <a:ext cx="914400" cy="64807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RNN cell</a:t>
              </a:r>
            </a:p>
          </p:txBody>
        </p:sp>
        <p:cxnSp>
          <p:nvCxnSpPr>
            <p:cNvPr id="9" name="Straight Arrow Connector 8"/>
            <p:cNvCxnSpPr>
              <a:stCxn id="8" idx="0"/>
            </p:cNvCxnSpPr>
            <p:nvPr/>
          </p:nvCxnSpPr>
          <p:spPr>
            <a:xfrm flipV="1">
              <a:off x="6613376" y="2996952"/>
              <a:ext cx="0" cy="4320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Rectangle 9"/>
            <p:cNvSpPr/>
            <p:nvPr/>
          </p:nvSpPr>
          <p:spPr>
            <a:xfrm>
              <a:off x="6156176" y="2539752"/>
              <a:ext cx="914400" cy="4572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y</a:t>
              </a:r>
              <a:r>
                <a:rPr lang="en-GB" baseline="30000" dirty="0">
                  <a:solidFill>
                    <a:schemeClr val="tx1"/>
                  </a:solidFill>
                </a:rPr>
                <a:t>&lt;3&gt;</a:t>
              </a:r>
            </a:p>
          </p:txBody>
        </p:sp>
      </p:grpSp>
      <p:sp>
        <p:nvSpPr>
          <p:cNvPr id="3" name="Rectangle 2"/>
          <p:cNvSpPr/>
          <p:nvPr/>
        </p:nvSpPr>
        <p:spPr>
          <a:xfrm>
            <a:off x="3312990" y="3933056"/>
            <a:ext cx="5389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dirty="0"/>
              <a:t>h</a:t>
            </a:r>
            <a:r>
              <a:rPr lang="en-GB" baseline="30000" dirty="0"/>
              <a:t>&lt;2&gt;</a:t>
            </a:r>
            <a:endParaRPr lang="en-GB" dirty="0"/>
          </a:p>
        </p:txBody>
      </p:sp>
      <p:sp>
        <p:nvSpPr>
          <p:cNvPr id="12" name="Rectangle 11"/>
          <p:cNvSpPr/>
          <p:nvPr/>
        </p:nvSpPr>
        <p:spPr>
          <a:xfrm>
            <a:off x="887160" y="4453889"/>
            <a:ext cx="5164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dirty="0">
                <a:solidFill>
                  <a:schemeClr val="tx2">
                    <a:lumMod val="20000"/>
                    <a:lumOff val="80000"/>
                  </a:schemeClr>
                </a:solidFill>
              </a:rPr>
              <a:t>x</a:t>
            </a:r>
            <a:r>
              <a:rPr lang="en-GB" baseline="30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&lt;1&gt;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83504" y="4437112"/>
            <a:ext cx="5164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dirty="0">
                <a:solidFill>
                  <a:schemeClr val="tx2">
                    <a:lumMod val="20000"/>
                    <a:lumOff val="80000"/>
                  </a:schemeClr>
                </a:solidFill>
              </a:rPr>
              <a:t>x</a:t>
            </a:r>
            <a:r>
              <a:rPr lang="en-GB" baseline="30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&lt;5&gt;</a:t>
            </a:r>
          </a:p>
        </p:txBody>
      </p:sp>
      <p:sp>
        <p:nvSpPr>
          <p:cNvPr id="4" name="Rectangle 3"/>
          <p:cNvSpPr/>
          <p:nvPr/>
        </p:nvSpPr>
        <p:spPr>
          <a:xfrm>
            <a:off x="850521" y="2556529"/>
            <a:ext cx="5212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dirty="0"/>
              <a:t>y</a:t>
            </a:r>
            <a:r>
              <a:rPr lang="en-GB" baseline="30000" dirty="0"/>
              <a:t>&lt;1&gt;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9332" y="4437112"/>
            <a:ext cx="5164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dirty="0">
                <a:solidFill>
                  <a:schemeClr val="tx2">
                    <a:lumMod val="20000"/>
                    <a:lumOff val="80000"/>
                  </a:schemeClr>
                </a:solidFill>
              </a:rPr>
              <a:t>x</a:t>
            </a:r>
            <a:r>
              <a:rPr lang="en-GB" baseline="30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&lt;2&gt;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35034" y="2565294"/>
            <a:ext cx="5212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dirty="0"/>
              <a:t>y</a:t>
            </a:r>
            <a:r>
              <a:rPr lang="en-GB" baseline="30000" dirty="0"/>
              <a:t>&lt;2&gt;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9332" y="3541213"/>
            <a:ext cx="5389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FFC000"/>
                </a:solidFill>
              </a:rPr>
              <a:t>h</a:t>
            </a:r>
            <a:r>
              <a:rPr lang="en-GB" baseline="30000" dirty="0">
                <a:solidFill>
                  <a:srgbClr val="FFC000"/>
                </a:solidFill>
              </a:rPr>
              <a:t>&lt;3&gt;</a:t>
            </a:r>
            <a:endParaRPr lang="en-GB" dirty="0">
              <a:solidFill>
                <a:srgbClr val="FFC00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312990" y="4437112"/>
            <a:ext cx="5164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dirty="0">
                <a:solidFill>
                  <a:schemeClr val="tx2">
                    <a:lumMod val="20000"/>
                    <a:lumOff val="80000"/>
                  </a:schemeClr>
                </a:solidFill>
              </a:rPr>
              <a:t>x</a:t>
            </a:r>
            <a:r>
              <a:rPr lang="en-GB" baseline="30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&lt;4&gt;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4774668" y="3676096"/>
                <a:ext cx="350621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h</m:t>
                          </m:r>
                        </m:e>
                        <m:sup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&lt;</m:t>
                          </m:r>
                          <m:r>
                            <a:rPr lang="en-GB" b="0" i="1" smtClean="0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3</m:t>
                          </m:r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&gt;</m:t>
                          </m:r>
                        </m:sup>
                      </m:sSup>
                      <m:r>
                        <a:rPr lang="en-GB" i="1">
                          <a:solidFill>
                            <a:srgbClr val="FFC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>
                          <a:solidFill>
                            <a:srgbClr val="FFC000"/>
                          </a:solidFill>
                          <a:latin typeface="Cambria Math"/>
                        </a:rPr>
                        <m:t>tanh</m:t>
                      </m:r>
                      <m:r>
                        <a:rPr lang="en-GB" i="1">
                          <a:solidFill>
                            <a:srgbClr val="FFC000"/>
                          </a:solidFill>
                          <a:latin typeface="Cambria Math"/>
                        </a:rPr>
                        <m:t>⁡(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𝑊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h</m:t>
                          </m:r>
                        </m:sub>
                      </m:sSub>
                      <m:sSup>
                        <m:sSupPr>
                          <m:ctrlPr>
                            <a:rPr lang="en-GB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h</m:t>
                          </m:r>
                        </m:e>
                        <m:sup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&lt;</m:t>
                          </m:r>
                          <m:r>
                            <a:rPr lang="en-GB" b="0" i="1" smtClean="0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&gt;</m:t>
                          </m:r>
                        </m:sup>
                      </m:sSup>
                      <m:r>
                        <a:rPr lang="en-GB" i="1">
                          <a:solidFill>
                            <a:srgbClr val="FFC000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𝑊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𝑥</m:t>
                          </m:r>
                        </m:sub>
                      </m:sSub>
                      <m:sSup>
                        <m:sSupPr>
                          <m:ctrlPr>
                            <a:rPr lang="en-GB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&lt;</m:t>
                          </m:r>
                          <m:r>
                            <a:rPr lang="en-GB" b="0" i="1" smtClean="0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3</m:t>
                          </m:r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&gt;</m:t>
                          </m:r>
                        </m:sup>
                      </m:sSup>
                      <m:r>
                        <a:rPr lang="en-GB" i="1">
                          <a:solidFill>
                            <a:srgbClr val="FFC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GB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4668" y="3676096"/>
                <a:ext cx="3506216" cy="369332"/>
              </a:xfrm>
              <a:prstGeom prst="rect">
                <a:avLst/>
              </a:prstGeom>
              <a:blipFill rotWithShape="1">
                <a:blip r:embed="rId2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4788024" y="3279897"/>
                <a:ext cx="1811778" cy="396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&lt;</m:t>
                          </m:r>
                          <m:r>
                            <a:rPr lang="en-GB" b="0" i="1" smtClean="0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3</m:t>
                          </m:r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&gt;</m:t>
                          </m:r>
                        </m:sup>
                      </m:sSup>
                      <m:r>
                        <a:rPr lang="en-GB" i="1">
                          <a:solidFill>
                            <a:srgbClr val="FFC000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𝑊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𝑦</m:t>
                          </m:r>
                        </m:sub>
                      </m:sSub>
                      <m:sSup>
                        <m:sSupPr>
                          <m:ctrlPr>
                            <a:rPr lang="en-GB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h</m:t>
                          </m:r>
                        </m:e>
                        <m:sup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&lt;</m:t>
                          </m:r>
                          <m:r>
                            <a:rPr lang="en-GB" b="0" i="1" smtClean="0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3</m:t>
                          </m:r>
                          <m:r>
                            <a:rPr lang="en-GB" i="1">
                              <a:solidFill>
                                <a:srgbClr val="FFC000"/>
                              </a:solidFill>
                              <a:latin typeface="Cambria Math"/>
                            </a:rPr>
                            <m:t>&gt;</m:t>
                          </m:r>
                        </m:sup>
                      </m:sSup>
                    </m:oMath>
                  </m:oMathPara>
                </a14:m>
                <a:endParaRPr lang="en-GB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024" y="3279897"/>
                <a:ext cx="1811778" cy="396775"/>
              </a:xfrm>
              <a:prstGeom prst="rect">
                <a:avLst/>
              </a:prstGeom>
              <a:blipFill rotWithShape="1">
                <a:blip r:embed="rId3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27969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RNN backward pass</a:t>
            </a: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42" y="2564904"/>
            <a:ext cx="4476750" cy="3676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2780928"/>
            <a:ext cx="3387080" cy="3174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50130" y="1938351"/>
            <a:ext cx="84543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During </a:t>
            </a:r>
            <a:r>
              <a:rPr lang="en-GB" dirty="0" err="1">
                <a:solidFill>
                  <a:srgbClr val="FF0000"/>
                </a:solidFill>
              </a:rPr>
              <a:t>backpropagation</a:t>
            </a:r>
            <a:r>
              <a:rPr lang="en-GB" dirty="0">
                <a:solidFill>
                  <a:srgbClr val="FF0000"/>
                </a:solidFill>
              </a:rPr>
              <a:t> from the next state to the current state we pass through a matrix multiplication step</a:t>
            </a:r>
          </a:p>
        </p:txBody>
      </p:sp>
    </p:spTree>
    <p:extLst>
      <p:ext uri="{BB962C8B-B14F-4D97-AF65-F5344CB8AC3E}">
        <p14:creationId xmlns:p14="http://schemas.microsoft.com/office/powerpoint/2010/main" val="42847882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RNN backward 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34818" name="Picture 2" descr="https://gblobscdn.gitbook.com/assets%2F-LIA3amopGH9NC6Rf0mA%2F-M4bJ-IWAKzglR0XHFwU%2F-M4bJ2qhkeQ1-xH49LhY%2Frnn-gradient-flow.png?alt=med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76" y="2132856"/>
            <a:ext cx="9182597" cy="1830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51520" y="4437112"/>
            <a:ext cx="84969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At each cell we multiply by many factors of  the weight matrix W</a:t>
            </a:r>
          </a:p>
          <a:p>
            <a:endParaRPr lang="en-GB" dirty="0">
              <a:solidFill>
                <a:srgbClr val="FF0000"/>
              </a:solidFill>
            </a:endParaRPr>
          </a:p>
          <a:p>
            <a:r>
              <a:rPr lang="en-GB" dirty="0">
                <a:solidFill>
                  <a:srgbClr val="FF0000"/>
                </a:solidFill>
              </a:rPr>
              <a:t>&gt; 1: exploding gradients (</a:t>
            </a:r>
            <a:r>
              <a:rPr lang="en-GB" b="1" dirty="0">
                <a:solidFill>
                  <a:srgbClr val="FF0000"/>
                </a:solidFill>
              </a:rPr>
              <a:t>gradient clipping</a:t>
            </a:r>
            <a:r>
              <a:rPr lang="en-GB" dirty="0">
                <a:solidFill>
                  <a:srgbClr val="FF0000"/>
                </a:solidFill>
              </a:rPr>
              <a:t>): scale the value of the gradient if it is too big</a:t>
            </a:r>
          </a:p>
          <a:p>
            <a:r>
              <a:rPr lang="en-GB" dirty="0">
                <a:solidFill>
                  <a:srgbClr val="FF0000"/>
                </a:solidFill>
              </a:rPr>
              <a:t>&lt; 1: vanishing gradients </a:t>
            </a:r>
          </a:p>
        </p:txBody>
      </p:sp>
    </p:spTree>
    <p:extLst>
      <p:ext uri="{BB962C8B-B14F-4D97-AF65-F5344CB8AC3E}">
        <p14:creationId xmlns:p14="http://schemas.microsoft.com/office/powerpoint/2010/main" val="13360241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Long short term memory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https://colah.github.io/posts/2015-08-Understanding-LSTMs/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819403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Long short term memory, 1997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/>
          <a:lstStyle/>
          <a:p>
            <a:r>
              <a:rPr lang="en-GB" dirty="0"/>
              <a:t>Alleviate the problems of vanishing and exploding gradient</a:t>
            </a:r>
          </a:p>
          <a:p>
            <a:r>
              <a:rPr lang="en-GB" dirty="0"/>
              <a:t>Selective forgetting and remembering (gates)</a:t>
            </a:r>
          </a:p>
          <a:p>
            <a:endParaRPr lang="en-GB" dirty="0"/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7880" y="2996952"/>
            <a:ext cx="4758176" cy="216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23528" y="3501008"/>
                <a:ext cx="2411814" cy="7146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GB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GB" i="1" smtClean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b="0" i="0" smtClean="0">
                          <a:latin typeface="Cambria Math"/>
                        </a:rPr>
                        <m:t>tanh</m:t>
                      </m:r>
                      <m:r>
                        <a:rPr lang="en-GB" b="0" i="1" smtClean="0">
                          <a:latin typeface="Cambria Math"/>
                        </a:rPr>
                        <m:t>⁡(</m:t>
                      </m:r>
                      <m:r>
                        <a:rPr lang="en-GB" b="0" i="1" smtClean="0">
                          <a:latin typeface="Cambria Math"/>
                        </a:rPr>
                        <m:t>𝑊</m:t>
                      </m:r>
                      <m:r>
                        <a:rPr lang="en-GB" b="0" i="1" smtClean="0"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𝑡</m:t>
                                  </m:r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−1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𝑡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GB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3501008"/>
                <a:ext cx="2411814" cy="71468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5229200"/>
            <a:ext cx="18192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5733256"/>
            <a:ext cx="1619250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55576" y="2996952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RNN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5659" y="2964686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LSTM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63435" y="5429225"/>
            <a:ext cx="19454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Two hidden states:</a:t>
            </a:r>
          </a:p>
          <a:p>
            <a:r>
              <a:rPr lang="en-GB" dirty="0">
                <a:solidFill>
                  <a:srgbClr val="FF0000"/>
                </a:solidFill>
              </a:rPr>
              <a:t>c – cell state</a:t>
            </a:r>
          </a:p>
          <a:p>
            <a:r>
              <a:rPr lang="en-GB" dirty="0">
                <a:solidFill>
                  <a:srgbClr val="FF0000"/>
                </a:solidFill>
              </a:rPr>
              <a:t>h – hidden state</a:t>
            </a:r>
          </a:p>
        </p:txBody>
      </p:sp>
    </p:spTree>
    <p:extLst>
      <p:ext uri="{BB962C8B-B14F-4D97-AF65-F5344CB8AC3E}">
        <p14:creationId xmlns:p14="http://schemas.microsoft.com/office/powerpoint/2010/main" val="33376010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Long short term memory, 1997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Alleviate the problems of vanishing and exploding gradient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RNN					 LSTM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20272" y="5733256"/>
            <a:ext cx="19454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Two hidden states:</a:t>
            </a:r>
          </a:p>
          <a:p>
            <a:r>
              <a:rPr lang="en-GB" dirty="0">
                <a:solidFill>
                  <a:srgbClr val="FF0000"/>
                </a:solidFill>
              </a:rPr>
              <a:t>c – cell state</a:t>
            </a:r>
          </a:p>
          <a:p>
            <a:r>
              <a:rPr lang="en-GB" dirty="0">
                <a:solidFill>
                  <a:srgbClr val="FF0000"/>
                </a:solidFill>
              </a:rPr>
              <a:t>h – hidden state</a:t>
            </a:r>
          </a:p>
        </p:txBody>
      </p:sp>
      <p:pic>
        <p:nvPicPr>
          <p:cNvPr id="2050" name="Picture 2" descr="https://colah.github.io/posts/2015-08-Understanding-LSTMs/img/LSTM3-SimpleRN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291" y="3177381"/>
            <a:ext cx="3665231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 LSTM neural network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3164805"/>
            <a:ext cx="3650516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36323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Long short term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Conveyor belt: previous cell state passes to become the next cell state with only some minor linear interactions</a:t>
            </a:r>
          </a:p>
        </p:txBody>
      </p:sp>
      <p:pic>
        <p:nvPicPr>
          <p:cNvPr id="12290" name="Picture 2" descr="https://colah.github.io/posts/2015-08-Understanding-LSTMs/img/LSTM3-C-lin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2536" y="3573016"/>
            <a:ext cx="9324255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674" y="2901526"/>
            <a:ext cx="1882804" cy="134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18926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Long short term memory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628800"/>
            <a:ext cx="4758176" cy="216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933056"/>
            <a:ext cx="18192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437112"/>
            <a:ext cx="1619250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Straight Arrow Connector 7"/>
          <p:cNvCxnSpPr/>
          <p:nvPr/>
        </p:nvCxnSpPr>
        <p:spPr>
          <a:xfrm flipH="1" flipV="1">
            <a:off x="3851920" y="3212976"/>
            <a:ext cx="432048" cy="11201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75856" y="4473998"/>
            <a:ext cx="360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>
                <a:solidFill>
                  <a:srgbClr val="FF0000"/>
                </a:solidFill>
              </a:rPr>
              <a:t>Concatenate previous hidden state cell with the current input and multiply them with a bigger weight matrix to compute four gates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1584201"/>
            <a:ext cx="3496457" cy="2780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720514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LSTM cell</a:t>
            </a:r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132856"/>
            <a:ext cx="7486650" cy="404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463745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Long short term memory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576232"/>
            <a:ext cx="4758176" cy="216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933056"/>
            <a:ext cx="18192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518" y="4437112"/>
            <a:ext cx="1619250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016" y="5103674"/>
            <a:ext cx="902048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Arial" pitchFamily="34" charset="0"/>
                <a:cs typeface="Arial" pitchFamily="34" charset="0"/>
              </a:rPr>
              <a:t>forget gate</a:t>
            </a:r>
            <a:r>
              <a:rPr lang="en-US" dirty="0">
                <a:latin typeface="Arial" pitchFamily="34" charset="0"/>
                <a:cs typeface="Arial" pitchFamily="34" charset="0"/>
              </a:rPr>
              <a:t>: whether to erase cell (how much we want to forget from the previous cell state?)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Arial" pitchFamily="34" charset="0"/>
                <a:cs typeface="Arial" pitchFamily="34" charset="0"/>
              </a:rPr>
              <a:t>input gate</a:t>
            </a:r>
            <a:r>
              <a:rPr lang="en-US" dirty="0">
                <a:latin typeface="Arial" pitchFamily="34" charset="0"/>
                <a:cs typeface="Arial" pitchFamily="34" charset="0"/>
              </a:rPr>
              <a:t>: whether to write to cell (how much to input into our cell?)	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Arial" pitchFamily="34" charset="0"/>
                <a:cs typeface="Arial" pitchFamily="34" charset="0"/>
              </a:rPr>
              <a:t>g gate</a:t>
            </a:r>
            <a:r>
              <a:rPr lang="en-US" dirty="0">
                <a:latin typeface="Arial" pitchFamily="34" charset="0"/>
                <a:cs typeface="Arial" pitchFamily="34" charset="0"/>
              </a:rPr>
              <a:t>: how much to write to cell (how much to write into our cell?)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Arial" pitchFamily="34" charset="0"/>
                <a:cs typeface="Arial" pitchFamily="34" charset="0"/>
              </a:rPr>
              <a:t>output gate</a:t>
            </a:r>
            <a:r>
              <a:rPr lang="en-US" dirty="0">
                <a:latin typeface="Arial" pitchFamily="34" charset="0"/>
                <a:cs typeface="Arial" pitchFamily="34" charset="0"/>
              </a:rPr>
              <a:t>: how much to reveal cell (how much to reveal from ourselves to the outside?</a:t>
            </a:r>
          </a:p>
        </p:txBody>
      </p:sp>
    </p:spTree>
    <p:extLst>
      <p:ext uri="{BB962C8B-B14F-4D97-AF65-F5344CB8AC3E}">
        <p14:creationId xmlns:p14="http://schemas.microsoft.com/office/powerpoint/2010/main" val="991290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GB" dirty="0"/>
              <a:t>Long short-term memory</a:t>
            </a:r>
            <a:br>
              <a:rPr lang="en-GB" dirty="0"/>
            </a:br>
            <a:r>
              <a:rPr lang="en-GB" sz="2200" dirty="0"/>
              <a:t>Forget gate: </a:t>
            </a:r>
            <a:r>
              <a:rPr lang="en-US" sz="2200" dirty="0">
                <a:latin typeface="Arial" pitchFamily="34" charset="0"/>
                <a:cs typeface="Arial" pitchFamily="34" charset="0"/>
              </a:rPr>
              <a:t>how much we want to forget from the previous cell state?/ whether to erase the cell</a:t>
            </a:r>
            <a:endParaRPr lang="en-GB" sz="22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556792"/>
            <a:ext cx="4758176" cy="216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645024"/>
            <a:ext cx="18192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149080"/>
            <a:ext cx="1619250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5940152" y="1412776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Sigmoid: [0, 1]</a:t>
            </a:r>
          </a:p>
          <a:p>
            <a:r>
              <a:rPr lang="en-GB" dirty="0" err="1">
                <a:solidFill>
                  <a:srgbClr val="FF0000"/>
                </a:solidFill>
              </a:rPr>
              <a:t>tanh</a:t>
            </a:r>
            <a:r>
              <a:rPr lang="en-GB" dirty="0">
                <a:solidFill>
                  <a:srgbClr val="FF0000"/>
                </a:solidFill>
              </a:rPr>
              <a:t>:  [-1, 1]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1709217" y="3356992"/>
            <a:ext cx="2718767" cy="48805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644009" y="2924944"/>
            <a:ext cx="38164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Element wise multiplication: forget that element of the cell (0), or remember it (1)</a:t>
            </a:r>
          </a:p>
        </p:txBody>
      </p:sp>
      <p:pic>
        <p:nvPicPr>
          <p:cNvPr id="4098" name="Picture 2" descr="https://colah.github.io/posts/2015-08-Understanding-LSTMs/img/LSTM3-focus-f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425" y="4512537"/>
            <a:ext cx="7334512" cy="2265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29143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GB" sz="4000" dirty="0"/>
              <a:t>Long short-term memory</a:t>
            </a:r>
            <a:br>
              <a:rPr lang="en-GB" sz="2000" dirty="0"/>
            </a:br>
            <a:r>
              <a:rPr lang="en-GB" sz="2000" dirty="0"/>
              <a:t>Forget gate: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how much we want to forget from the previous cell state?/ whether to erase the cell</a:t>
            </a:r>
            <a:endParaRPr lang="en-GB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Intuition: “The cell state might include the gender of the present subject, so that the correct pronouns can be used. When we see a new subject, we want to forget the gender of the old subject.”</a:t>
            </a:r>
          </a:p>
          <a:p>
            <a:r>
              <a:rPr lang="en-GB" dirty="0"/>
              <a:t>Next, we need decide what new information we’re going to store in the cell state. </a:t>
            </a:r>
          </a:p>
          <a:p>
            <a:pPr marL="971550" lvl="1" indent="-514350">
              <a:buAutoNum type="arabicPeriod"/>
            </a:pPr>
            <a:r>
              <a:rPr lang="en-GB" dirty="0"/>
              <a:t>a sigmoid layer called the “input gate layer” decides which values we’ll update</a:t>
            </a:r>
          </a:p>
          <a:p>
            <a:pPr marL="971550" lvl="1" indent="-514350">
              <a:buAutoNum type="arabicPeriod"/>
            </a:pPr>
            <a:r>
              <a:rPr lang="en-GB" dirty="0"/>
              <a:t>a tanh layer (g  gate) creates a vector of new candidate values, that could be added to the 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520" y="6309320"/>
            <a:ext cx="76328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https://colah.github.io/posts/2015-08-Understanding-LSTMs/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693486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algn="l"/>
            <a:r>
              <a:rPr lang="en-GB" dirty="0"/>
              <a:t>Long short-term memory</a:t>
            </a:r>
            <a:br>
              <a:rPr lang="en-GB" dirty="0"/>
            </a:br>
            <a:r>
              <a:rPr lang="en-GB" sz="2200" dirty="0"/>
              <a:t>Input gate: </a:t>
            </a:r>
            <a:r>
              <a:rPr lang="en-US" sz="2200" dirty="0">
                <a:latin typeface="Arial" pitchFamily="34" charset="0"/>
                <a:cs typeface="Arial" pitchFamily="34" charset="0"/>
              </a:rPr>
              <a:t>how much to input into our cell? / whether to write to cell </a:t>
            </a:r>
            <a:endParaRPr lang="en-GB" sz="22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576232"/>
            <a:ext cx="4758176" cy="216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933056"/>
            <a:ext cx="18192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437112"/>
            <a:ext cx="1619250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5940152" y="1700808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Sigmoid: [0, 1]</a:t>
            </a:r>
          </a:p>
          <a:p>
            <a:r>
              <a:rPr lang="en-GB" dirty="0" err="1">
                <a:solidFill>
                  <a:srgbClr val="FF0000"/>
                </a:solidFill>
              </a:rPr>
              <a:t>tanh</a:t>
            </a:r>
            <a:r>
              <a:rPr lang="en-GB" dirty="0">
                <a:solidFill>
                  <a:srgbClr val="FF0000"/>
                </a:solidFill>
              </a:rPr>
              <a:t>:  [-1, 1]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2411760" y="3661025"/>
            <a:ext cx="2016224" cy="4880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644009" y="3460358"/>
            <a:ext cx="38164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Element wise multiplication: for each element of the cell state, do we want to write to (1) it or not (0)?</a:t>
            </a:r>
          </a:p>
        </p:txBody>
      </p:sp>
      <p:pic>
        <p:nvPicPr>
          <p:cNvPr id="5122" name="Picture 2" descr="https://colah.github.io/posts/2015-08-Understanding-LSTMs/img/LSTM3-focus-i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1904" y="4806216"/>
            <a:ext cx="6300192" cy="1945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67813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GB" dirty="0"/>
              <a:t>Long short-term memory</a:t>
            </a:r>
            <a:br>
              <a:rPr lang="en-GB" dirty="0"/>
            </a:b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Input gate: </a:t>
            </a:r>
            <a:r>
              <a:rPr lang="en-US" sz="2200" dirty="0">
                <a:latin typeface="Arial" panose="020B0604020202020204" pitchFamily="34" charset="0"/>
                <a:cs typeface="Arial" pitchFamily="34" charset="0"/>
              </a:rPr>
              <a:t>how much to input into our cell? / whether to write to cell</a:t>
            </a:r>
            <a:br>
              <a:rPr lang="en-US" sz="2200" dirty="0">
                <a:latin typeface="Arial" panose="020B0604020202020204" pitchFamily="34" charset="0"/>
                <a:cs typeface="Arial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itchFamily="34" charset="0"/>
              </a:rPr>
              <a:t>g gate:  how much to write to cell (how much to write into our cell?)</a:t>
            </a:r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576232"/>
            <a:ext cx="4758176" cy="216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933056"/>
            <a:ext cx="18192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437112"/>
            <a:ext cx="1619250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5940152" y="1700808"/>
            <a:ext cx="15872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Sigmoid: [0, 1] </a:t>
            </a:r>
          </a:p>
          <a:p>
            <a:r>
              <a:rPr lang="en-GB" dirty="0" err="1">
                <a:solidFill>
                  <a:srgbClr val="FF0000"/>
                </a:solidFill>
              </a:rPr>
              <a:t>tanh</a:t>
            </a:r>
            <a:r>
              <a:rPr lang="en-GB" dirty="0">
                <a:solidFill>
                  <a:srgbClr val="FF0000"/>
                </a:solidFill>
              </a:rPr>
              <a:t>:  [-1, 1]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2518842" y="3889053"/>
            <a:ext cx="1909142" cy="2440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5122" name="Picture 2" descr="https://colah.github.io/posts/2015-08-Understanding-LSTMs/img/LSTM3-focus-i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006" y="4745152"/>
            <a:ext cx="6300192" cy="1945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4552512" y="3255918"/>
            <a:ext cx="41959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Element wise multiplication: the candidate value that we might consider writing to the current cell state [-1, 1] (creates a vector of new candidate values, that could be added to the state)</a:t>
            </a:r>
          </a:p>
        </p:txBody>
      </p:sp>
    </p:spTree>
    <p:extLst>
      <p:ext uri="{BB962C8B-B14F-4D97-AF65-F5344CB8AC3E}">
        <p14:creationId xmlns:p14="http://schemas.microsoft.com/office/powerpoint/2010/main" val="34087313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GB" sz="4000" dirty="0"/>
              <a:t>Long short-term memory</a:t>
            </a:r>
            <a:br>
              <a:rPr lang="en-GB" sz="2000" dirty="0"/>
            </a:b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Input gate: </a:t>
            </a:r>
            <a:r>
              <a:rPr lang="en-US" sz="2200" dirty="0">
                <a:latin typeface="Arial" panose="020B0604020202020204" pitchFamily="34" charset="0"/>
                <a:cs typeface="Arial" pitchFamily="34" charset="0"/>
              </a:rPr>
              <a:t>how much to input into our cell? / whether to write to cell</a:t>
            </a:r>
            <a:br>
              <a:rPr lang="en-US" sz="2200" dirty="0">
                <a:latin typeface="Arial" panose="020B0604020202020204" pitchFamily="34" charset="0"/>
                <a:cs typeface="Arial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itchFamily="34" charset="0"/>
              </a:rPr>
              <a:t>g gate:  how much to write to cell (how much to write into our cell?)</a:t>
            </a:r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Intuition: “We’d want to add the gender of the new subject to the cell state to replace the old one we’re forgetting.”</a:t>
            </a:r>
          </a:p>
          <a:p>
            <a:endParaRPr lang="en-GB" sz="2800" dirty="0"/>
          </a:p>
          <a:p>
            <a:endParaRPr lang="en-GB" sz="2800" dirty="0"/>
          </a:p>
          <a:p>
            <a:endParaRPr lang="en-GB" sz="2800" dirty="0"/>
          </a:p>
          <a:p>
            <a:endParaRPr lang="en-GB" sz="2800" dirty="0"/>
          </a:p>
          <a:p>
            <a:r>
              <a:rPr lang="en-GB" sz="2800" dirty="0"/>
              <a:t>Actually drop the information about the old subject’s gender and add the new information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520" y="6309320"/>
            <a:ext cx="76328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https://colah.github.io/posts/2015-08-Understanding-LSTMs/</a:t>
            </a:r>
            <a:r>
              <a:rPr lang="en-GB" dirty="0"/>
              <a:t> 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2780928"/>
            <a:ext cx="4980001" cy="1844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42979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algn="l"/>
            <a:r>
              <a:rPr lang="en-GB" dirty="0"/>
              <a:t>Long short term memory</a:t>
            </a:r>
            <a:br>
              <a:rPr lang="en-GB" dirty="0"/>
            </a:br>
            <a:r>
              <a:rPr lang="en-US" sz="2200" dirty="0">
                <a:latin typeface="Arial" pitchFamily="34" charset="0"/>
                <a:cs typeface="Arial" pitchFamily="34" charset="0"/>
              </a:rPr>
              <a:t>output gate: how much to reveal cell (how much to reveal from ourselves to the outside?</a:t>
            </a:r>
            <a:br>
              <a:rPr lang="en-US" sz="2200" dirty="0">
                <a:latin typeface="Arial" pitchFamily="34" charset="0"/>
                <a:cs typeface="Arial" pitchFamily="34" charset="0"/>
              </a:rPr>
            </a:br>
            <a:endParaRPr lang="en-GB" sz="22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665" y="1444689"/>
            <a:ext cx="4758176" cy="216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501008"/>
            <a:ext cx="18192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077072"/>
            <a:ext cx="1619250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5940152" y="1700808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Sigmoid: [0, 1]</a:t>
            </a:r>
          </a:p>
          <a:p>
            <a:r>
              <a:rPr lang="en-GB" dirty="0" err="1">
                <a:solidFill>
                  <a:srgbClr val="FF0000"/>
                </a:solidFill>
              </a:rPr>
              <a:t>tanh</a:t>
            </a:r>
            <a:r>
              <a:rPr lang="en-GB" dirty="0">
                <a:solidFill>
                  <a:srgbClr val="FF0000"/>
                </a:solidFill>
              </a:rPr>
              <a:t>:  [-1, 1]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1709217" y="3645025"/>
            <a:ext cx="2718767" cy="6511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52512" y="2996952"/>
            <a:ext cx="38164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Use the cell state to compute a hidden state which we will reveal to the outside world</a:t>
            </a:r>
          </a:p>
          <a:p>
            <a:endParaRPr lang="en-GB" dirty="0">
              <a:solidFill>
                <a:srgbClr val="FF0000"/>
              </a:solidFill>
            </a:endParaRPr>
          </a:p>
          <a:p>
            <a:r>
              <a:rPr lang="en-GB" dirty="0">
                <a:solidFill>
                  <a:srgbClr val="FF0000"/>
                </a:solidFill>
              </a:rPr>
              <a:t>Sigmoid: for each element of out cell state, do we want to reveal it or not?</a:t>
            </a:r>
          </a:p>
        </p:txBody>
      </p:sp>
      <p:pic>
        <p:nvPicPr>
          <p:cNvPr id="7170" name="Picture 2" descr="https://colah.github.io/posts/2015-08-Understanding-LSTMs/img/LSTM3-focus-o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7707" y="4869160"/>
            <a:ext cx="5796839" cy="179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395536" y="1484784"/>
            <a:ext cx="72728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 The output will be based on the cell state, but will be a filtered version. </a:t>
            </a:r>
          </a:p>
        </p:txBody>
      </p:sp>
    </p:spTree>
    <p:extLst>
      <p:ext uri="{BB962C8B-B14F-4D97-AF65-F5344CB8AC3E}">
        <p14:creationId xmlns:p14="http://schemas.microsoft.com/office/powerpoint/2010/main" val="27682870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GB" sz="4000" dirty="0"/>
              <a:t>Long short term memory</a:t>
            </a:r>
            <a:br>
              <a:rPr lang="en-GB" sz="2000" dirty="0"/>
            </a:br>
            <a:r>
              <a:rPr lang="en-US" sz="2000" dirty="0">
                <a:latin typeface="Arial" pitchFamily="34" charset="0"/>
                <a:cs typeface="Arial" pitchFamily="34" charset="0"/>
              </a:rPr>
              <a:t>output gate: how much to reveal cell (how much to reveal from ourselves to the outside?</a:t>
            </a:r>
            <a:endParaRPr lang="en-GB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sz="2800" dirty="0"/>
              <a:t>Intuition: “For the language model example, since it just saw a subject, it might want to output information relevant to a verb, in case that’s what is coming next. For example, it might output whether the subject is singular or plural, so that we know what form a verb should be conjugated into if that’s what follows next”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520" y="6309320"/>
            <a:ext cx="76328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https://colah.github.io/posts/2015-08-Understanding-LSTMs/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794969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GB" sz="3600" dirty="0"/>
              <a:t>Lots of variations of LSTMs were proposed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Gated Recurrent Unit (GRU) – simplify the architecture of the LSTM</a:t>
            </a:r>
          </a:p>
        </p:txBody>
      </p:sp>
      <p:pic>
        <p:nvPicPr>
          <p:cNvPr id="9218" name="Picture 2" descr="A gated recurrent unit neural network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140968"/>
            <a:ext cx="8505829" cy="262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61296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The Unreasonable Effectiveness of Recurrent Neural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GB" dirty="0">
                <a:hlinkClick r:id="rId2"/>
              </a:rPr>
              <a:t>https://karpathy.github.io/2015/05/21/rnn-effectiveness/</a:t>
            </a:r>
            <a:r>
              <a:rPr lang="en-GB" dirty="0"/>
              <a:t>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Shakespeare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dirty="0"/>
              <a:t>PANDARUS: </a:t>
            </a:r>
          </a:p>
          <a:p>
            <a:pPr marL="0" indent="0">
              <a:buNone/>
            </a:pPr>
            <a:r>
              <a:rPr lang="en-GB" dirty="0"/>
              <a:t>Alas, I think he shall be come approached and the day When little </a:t>
            </a:r>
            <a:r>
              <a:rPr lang="en-GB" dirty="0" err="1"/>
              <a:t>srain</a:t>
            </a:r>
            <a:r>
              <a:rPr lang="en-GB" dirty="0"/>
              <a:t> would be </a:t>
            </a:r>
            <a:r>
              <a:rPr lang="en-GB" dirty="0" err="1"/>
              <a:t>attain'd</a:t>
            </a:r>
            <a:r>
              <a:rPr lang="en-GB" dirty="0"/>
              <a:t> into being never fed, And who is but a chain and subjects of his death, I should not sleep.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Second Senator: </a:t>
            </a:r>
          </a:p>
          <a:p>
            <a:pPr marL="0" indent="0">
              <a:buNone/>
            </a:pPr>
            <a:r>
              <a:rPr lang="en-GB" dirty="0"/>
              <a:t>They are away this miseries, produced upon my soul, Breaking and strongly should be buried, when I perish The earth and thoughts of many states.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DUKE VINCENTIO: </a:t>
            </a:r>
          </a:p>
          <a:p>
            <a:pPr marL="0" indent="0">
              <a:buNone/>
            </a:pPr>
            <a:r>
              <a:rPr lang="en-GB" dirty="0"/>
              <a:t>Well, your wit is in the care of side and that. Second Lord: They would be ruled after this chamber, and my fair </a:t>
            </a:r>
            <a:r>
              <a:rPr lang="en-GB" dirty="0" err="1"/>
              <a:t>nues</a:t>
            </a:r>
            <a:r>
              <a:rPr lang="en-GB" dirty="0"/>
              <a:t> begun out of the fact, to be conveyed, Whose noble souls I'll have the heart of the wars.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Clown: Come, sir, I will make did behold your worship.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VIOLA: I'll drink it.</a:t>
            </a:r>
          </a:p>
        </p:txBody>
      </p:sp>
    </p:spTree>
    <p:extLst>
      <p:ext uri="{BB962C8B-B14F-4D97-AF65-F5344CB8AC3E}">
        <p14:creationId xmlns:p14="http://schemas.microsoft.com/office/powerpoint/2010/main" val="16557296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The Unreasonable Effectiveness of Recurrent Neural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GB" dirty="0">
                <a:hlinkClick r:id="rId2"/>
              </a:rPr>
              <a:t>https://karpathy.github.io/2015/05/21/rnn-effectiveness/</a:t>
            </a:r>
            <a:r>
              <a:rPr lang="en-GB" dirty="0"/>
              <a:t>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Wikipedia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dirty="0"/>
              <a:t>Naturalism and decision for the majority of Arab countries' </a:t>
            </a:r>
            <a:r>
              <a:rPr lang="en-GB" dirty="0" err="1"/>
              <a:t>capitalide</a:t>
            </a:r>
            <a:r>
              <a:rPr lang="en-GB" dirty="0"/>
              <a:t> was grounded by the Irish language by [[John Clair]], [[An Imperial Japanese Revolt]], associated with </a:t>
            </a:r>
            <a:r>
              <a:rPr lang="en-GB" dirty="0" err="1"/>
              <a:t>Guangzham's</a:t>
            </a:r>
            <a:r>
              <a:rPr lang="en-GB" dirty="0"/>
              <a:t> sovereignty. His generals were the powerful ruler of the Portugal in the [[Protestant </a:t>
            </a:r>
            <a:r>
              <a:rPr lang="en-GB" dirty="0" err="1"/>
              <a:t>Immineners</a:t>
            </a:r>
            <a:r>
              <a:rPr lang="en-GB" dirty="0"/>
              <a:t>]], which could be said to be directly in Cantonese Communication, which followed a ceremony and set inspired prison, training. The emperor travelled back to [[Antioch, Perth, October 25|21]] to note, the Kingdom of Costa Rica, unsuccessful fashioned the [[</a:t>
            </a:r>
            <a:r>
              <a:rPr lang="en-GB" dirty="0" err="1"/>
              <a:t>Thrales</a:t>
            </a:r>
            <a:r>
              <a:rPr lang="en-GB" dirty="0"/>
              <a:t>]], [[</a:t>
            </a:r>
            <a:r>
              <a:rPr lang="en-GB" dirty="0" err="1"/>
              <a:t>Cynth's</a:t>
            </a:r>
            <a:r>
              <a:rPr lang="en-GB" dirty="0"/>
              <a:t> </a:t>
            </a:r>
            <a:r>
              <a:rPr lang="en-GB" dirty="0" err="1"/>
              <a:t>Dajoard</a:t>
            </a:r>
            <a:r>
              <a:rPr lang="en-GB" dirty="0"/>
              <a:t>]], known in western [[Scotland]], near Italy to the conquest of India with the conflict. Copyright was the succession of independence in the slop of Syrian influence that was a famous German movement based on a more popular </a:t>
            </a:r>
            <a:r>
              <a:rPr lang="en-GB" dirty="0" err="1"/>
              <a:t>servicious</a:t>
            </a:r>
            <a:r>
              <a:rPr lang="en-GB" dirty="0"/>
              <a:t>, non-doctrinal and sexual power post. Many governments recognize the military housing of the [[Civil Liberalization and Infantry Resolution 265 National Party in Hungary]], that is sympathetic to be to the [[Punjab Resolution]] (PJS)[http://www.humah.yahoo.com/guardian. </a:t>
            </a:r>
            <a:r>
              <a:rPr lang="en-GB" dirty="0" err="1"/>
              <a:t>cfm</a:t>
            </a:r>
            <a:r>
              <a:rPr lang="en-GB" dirty="0"/>
              <a:t>/7754800786d17551963s89.htm Official economics </a:t>
            </a:r>
            <a:r>
              <a:rPr lang="en-GB" dirty="0" err="1"/>
              <a:t>Adjoint</a:t>
            </a:r>
            <a:r>
              <a:rPr lang="en-GB" dirty="0"/>
              <a:t> for the Nazism, Montgomery was swear to advance to the resources for those Socialism's rule, was starting to signing a major </a:t>
            </a:r>
            <a:r>
              <a:rPr lang="en-GB" dirty="0" err="1"/>
              <a:t>tripad</a:t>
            </a:r>
            <a:r>
              <a:rPr lang="en-GB" dirty="0"/>
              <a:t> of aid exile.]]</a:t>
            </a:r>
            <a:endParaRPr lang="en-GB" b="1" dirty="0"/>
          </a:p>
          <a:p>
            <a:pPr marL="0" indent="0">
              <a:buNone/>
            </a:pP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0301245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The Unreasonable Effectiveness of Recurrent Neural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b="1" dirty="0"/>
          </a:p>
        </p:txBody>
      </p:sp>
      <p:pic>
        <p:nvPicPr>
          <p:cNvPr id="13314" name="Picture 2" descr="https://karpathy.github.io/assets/rnn/latex3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675992"/>
            <a:ext cx="8280920" cy="4681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19704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572680" y="188640"/>
            <a:ext cx="7772400" cy="1470025"/>
          </a:xfrm>
        </p:spPr>
        <p:txBody>
          <a:bodyPr/>
          <a:lstStyle/>
          <a:p>
            <a:r>
              <a:rPr lang="en-GB" b="1" dirty="0"/>
              <a:t>Attention is all you need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552336" y="5805264"/>
            <a:ext cx="6400800" cy="576064"/>
          </a:xfrm>
        </p:spPr>
        <p:txBody>
          <a:bodyPr>
            <a:normAutofit lnSpcReduction="10000"/>
          </a:bodyPr>
          <a:lstStyle/>
          <a:p>
            <a:r>
              <a:rPr lang="en-GB" dirty="0">
                <a:hlinkClick r:id="rId2"/>
              </a:rPr>
              <a:t>https://arxiv.org/abs/1706.03762</a:t>
            </a:r>
            <a:r>
              <a:rPr lang="en-GB" dirty="0"/>
              <a:t> </a:t>
            </a:r>
          </a:p>
        </p:txBody>
      </p:sp>
      <p:pic>
        <p:nvPicPr>
          <p:cNvPr id="14338" name="Picture 2" descr="Attention is all you need | Know Your Mem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1484784"/>
            <a:ext cx="4249905" cy="3872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2007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Self-attention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80598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79F53D-94FC-7A66-5F3D-0A1A54C41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Self attention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4C56B3-CACE-1A9D-3CAD-FBE1692E691F}"/>
              </a:ext>
            </a:extLst>
          </p:cNvPr>
          <p:cNvSpPr/>
          <p:nvPr/>
        </p:nvSpPr>
        <p:spPr>
          <a:xfrm>
            <a:off x="2448473" y="2029714"/>
            <a:ext cx="271463" cy="73342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E5C4DC-D7E2-1A75-61FC-AF6598DFA31A}"/>
              </a:ext>
            </a:extLst>
          </p:cNvPr>
          <p:cNvSpPr/>
          <p:nvPr/>
        </p:nvSpPr>
        <p:spPr>
          <a:xfrm>
            <a:off x="1269255" y="2029714"/>
            <a:ext cx="271463" cy="73342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A47D0A-4EBF-F624-FE74-EA744A0D47B9}"/>
              </a:ext>
            </a:extLst>
          </p:cNvPr>
          <p:cNvSpPr/>
          <p:nvPr/>
        </p:nvSpPr>
        <p:spPr>
          <a:xfrm>
            <a:off x="1662328" y="2029714"/>
            <a:ext cx="271463" cy="73342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6A3977-4D6D-B840-1C24-1F6876569EBA}"/>
              </a:ext>
            </a:extLst>
          </p:cNvPr>
          <p:cNvSpPr/>
          <p:nvPr/>
        </p:nvSpPr>
        <p:spPr>
          <a:xfrm>
            <a:off x="2055400" y="2029714"/>
            <a:ext cx="271463" cy="73342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97120B-7E41-A241-BDD6-B47718A51C11}"/>
              </a:ext>
            </a:extLst>
          </p:cNvPr>
          <p:cNvSpPr/>
          <p:nvPr/>
        </p:nvSpPr>
        <p:spPr>
          <a:xfrm>
            <a:off x="2841546" y="2029714"/>
            <a:ext cx="271463" cy="73342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C5F917-BCA0-2FA3-E624-4B765FCF15F0}"/>
              </a:ext>
            </a:extLst>
          </p:cNvPr>
          <p:cNvSpPr/>
          <p:nvPr/>
        </p:nvSpPr>
        <p:spPr>
          <a:xfrm>
            <a:off x="3234619" y="2029714"/>
            <a:ext cx="271463" cy="73342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E7E9BE-90E4-75DA-764B-862D631AD11E}"/>
              </a:ext>
            </a:extLst>
          </p:cNvPr>
          <p:cNvSpPr/>
          <p:nvPr/>
        </p:nvSpPr>
        <p:spPr>
          <a:xfrm>
            <a:off x="3627691" y="2029714"/>
            <a:ext cx="271463" cy="73342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8CF9A2-A702-3173-24F7-917C48150E56}"/>
              </a:ext>
            </a:extLst>
          </p:cNvPr>
          <p:cNvSpPr/>
          <p:nvPr/>
        </p:nvSpPr>
        <p:spPr>
          <a:xfrm>
            <a:off x="4020766" y="2029714"/>
            <a:ext cx="271463" cy="73342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841707-5313-83FA-1281-4FB696CA18D7}"/>
              </a:ext>
            </a:extLst>
          </p:cNvPr>
          <p:cNvSpPr/>
          <p:nvPr/>
        </p:nvSpPr>
        <p:spPr>
          <a:xfrm>
            <a:off x="2448473" y="4990632"/>
            <a:ext cx="271463" cy="73342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D1EB38-AE94-7703-F5F9-8DFA1DA2BDD8}"/>
              </a:ext>
            </a:extLst>
          </p:cNvPr>
          <p:cNvSpPr/>
          <p:nvPr/>
        </p:nvSpPr>
        <p:spPr>
          <a:xfrm>
            <a:off x="1269255" y="4990632"/>
            <a:ext cx="271463" cy="73342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6A5604-1D1C-673C-EFE5-B2B3F41F991E}"/>
              </a:ext>
            </a:extLst>
          </p:cNvPr>
          <p:cNvSpPr/>
          <p:nvPr/>
        </p:nvSpPr>
        <p:spPr>
          <a:xfrm>
            <a:off x="1662328" y="4990632"/>
            <a:ext cx="271463" cy="73342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203889-B5A0-FF6E-5829-FDA312F2392F}"/>
              </a:ext>
            </a:extLst>
          </p:cNvPr>
          <p:cNvSpPr/>
          <p:nvPr/>
        </p:nvSpPr>
        <p:spPr>
          <a:xfrm>
            <a:off x="2055400" y="4990632"/>
            <a:ext cx="271463" cy="73342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F23C04-0F9B-43F0-EFB6-7E42AC2EC29B}"/>
              </a:ext>
            </a:extLst>
          </p:cNvPr>
          <p:cNvSpPr/>
          <p:nvPr/>
        </p:nvSpPr>
        <p:spPr>
          <a:xfrm>
            <a:off x="2841546" y="4990632"/>
            <a:ext cx="271463" cy="73342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DDACF28-E9B6-1F74-13D7-D2323022AB26}"/>
              </a:ext>
            </a:extLst>
          </p:cNvPr>
          <p:cNvSpPr/>
          <p:nvPr/>
        </p:nvSpPr>
        <p:spPr>
          <a:xfrm>
            <a:off x="3234619" y="4990632"/>
            <a:ext cx="271463" cy="73342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780281-8DD5-7DBF-56A8-25170C4D567B}"/>
              </a:ext>
            </a:extLst>
          </p:cNvPr>
          <p:cNvSpPr/>
          <p:nvPr/>
        </p:nvSpPr>
        <p:spPr>
          <a:xfrm>
            <a:off x="3627691" y="4990632"/>
            <a:ext cx="271463" cy="73342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FBF4C2-20F9-A39F-1C45-6B3F0F728F10}"/>
              </a:ext>
            </a:extLst>
          </p:cNvPr>
          <p:cNvSpPr/>
          <p:nvPr/>
        </p:nvSpPr>
        <p:spPr>
          <a:xfrm>
            <a:off x="4020766" y="4990632"/>
            <a:ext cx="271463" cy="73342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75F8B5-43C7-1CA0-E164-987AFE7D028E}"/>
              </a:ext>
            </a:extLst>
          </p:cNvPr>
          <p:cNvSpPr/>
          <p:nvPr/>
        </p:nvSpPr>
        <p:spPr>
          <a:xfrm>
            <a:off x="1269256" y="3125755"/>
            <a:ext cx="3022973" cy="15302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Self attention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C8FD0C-C70A-D903-06FC-38CD59767F04}"/>
              </a:ext>
            </a:extLst>
          </p:cNvPr>
          <p:cNvSpPr txBox="1"/>
          <p:nvPr/>
        </p:nvSpPr>
        <p:spPr>
          <a:xfrm>
            <a:off x="1239913" y="6064249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CA44E7-3003-024C-B948-C31AFD174FDD}"/>
              </a:ext>
            </a:extLst>
          </p:cNvPr>
          <p:cNvSpPr txBox="1"/>
          <p:nvPr/>
        </p:nvSpPr>
        <p:spPr>
          <a:xfrm>
            <a:off x="1596230" y="6064249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x2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4F1A5D-D56E-8FAD-7B7A-51ABE74AB420}"/>
              </a:ext>
            </a:extLst>
          </p:cNvPr>
          <p:cNvSpPr txBox="1"/>
          <p:nvPr/>
        </p:nvSpPr>
        <p:spPr>
          <a:xfrm>
            <a:off x="1996718" y="6064249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x3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544F455-148D-BD0C-6CAE-DB7E59F8FCB7}"/>
              </a:ext>
            </a:extLst>
          </p:cNvPr>
          <p:cNvSpPr txBox="1"/>
          <p:nvPr/>
        </p:nvSpPr>
        <p:spPr>
          <a:xfrm>
            <a:off x="2419132" y="6064249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x4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3B485F-CE38-2BF9-8BFB-24836573C693}"/>
              </a:ext>
            </a:extLst>
          </p:cNvPr>
          <p:cNvSpPr txBox="1"/>
          <p:nvPr/>
        </p:nvSpPr>
        <p:spPr>
          <a:xfrm>
            <a:off x="2812205" y="6064249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x5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234D81-DDCC-74F4-91EE-DEBD0C9B3DA8}"/>
              </a:ext>
            </a:extLst>
          </p:cNvPr>
          <p:cNvSpPr txBox="1"/>
          <p:nvPr/>
        </p:nvSpPr>
        <p:spPr>
          <a:xfrm>
            <a:off x="3205277" y="6064249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x6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8EEB1D-76C0-C8BB-97BD-B70E3A85BDB1}"/>
              </a:ext>
            </a:extLst>
          </p:cNvPr>
          <p:cNvSpPr txBox="1"/>
          <p:nvPr/>
        </p:nvSpPr>
        <p:spPr>
          <a:xfrm>
            <a:off x="3569009" y="6064249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x7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3DC8FB5-19DA-BE20-9F5C-97A4AE52C5C5}"/>
              </a:ext>
            </a:extLst>
          </p:cNvPr>
          <p:cNvSpPr txBox="1"/>
          <p:nvPr/>
        </p:nvSpPr>
        <p:spPr>
          <a:xfrm>
            <a:off x="3976754" y="6064249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x8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849BD6B-EAF2-DDD5-128C-9D295306C4DF}"/>
              </a:ext>
            </a:extLst>
          </p:cNvPr>
          <p:cNvSpPr txBox="1"/>
          <p:nvPr/>
        </p:nvSpPr>
        <p:spPr>
          <a:xfrm>
            <a:off x="1249265" y="1441961"/>
            <a:ext cx="405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AB2F109-87CC-DA95-4DB5-1ABCE29BDA18}"/>
              </a:ext>
            </a:extLst>
          </p:cNvPr>
          <p:cNvSpPr txBox="1"/>
          <p:nvPr/>
        </p:nvSpPr>
        <p:spPr>
          <a:xfrm>
            <a:off x="1605582" y="1441961"/>
            <a:ext cx="405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391A599-1B4C-8908-2588-C3887D5D2618}"/>
              </a:ext>
            </a:extLst>
          </p:cNvPr>
          <p:cNvSpPr txBox="1"/>
          <p:nvPr/>
        </p:nvSpPr>
        <p:spPr>
          <a:xfrm>
            <a:off x="2006069" y="1441961"/>
            <a:ext cx="405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0FCE937-F179-0431-E07D-955A32C157BD}"/>
              </a:ext>
            </a:extLst>
          </p:cNvPr>
          <p:cNvSpPr txBox="1"/>
          <p:nvPr/>
        </p:nvSpPr>
        <p:spPr>
          <a:xfrm>
            <a:off x="2428484" y="1441961"/>
            <a:ext cx="405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F4F2D94-9EC3-7C29-96D1-44D3BB01B9FB}"/>
              </a:ext>
            </a:extLst>
          </p:cNvPr>
          <p:cNvSpPr txBox="1"/>
          <p:nvPr/>
        </p:nvSpPr>
        <p:spPr>
          <a:xfrm>
            <a:off x="2821556" y="1441961"/>
            <a:ext cx="405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01EF842-A00E-86DF-FFAC-00181EB5AF2D}"/>
              </a:ext>
            </a:extLst>
          </p:cNvPr>
          <p:cNvSpPr txBox="1"/>
          <p:nvPr/>
        </p:nvSpPr>
        <p:spPr>
          <a:xfrm>
            <a:off x="3214629" y="1441961"/>
            <a:ext cx="405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EC8E896-EAE9-F5DB-5E21-D631B2144C65}"/>
              </a:ext>
            </a:extLst>
          </p:cNvPr>
          <p:cNvSpPr txBox="1"/>
          <p:nvPr/>
        </p:nvSpPr>
        <p:spPr>
          <a:xfrm>
            <a:off x="3578360" y="1441961"/>
            <a:ext cx="405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3476711-51E1-821C-EDE3-5F9054C6D0FE}"/>
              </a:ext>
            </a:extLst>
          </p:cNvPr>
          <p:cNvSpPr txBox="1"/>
          <p:nvPr/>
        </p:nvSpPr>
        <p:spPr>
          <a:xfrm>
            <a:off x="3986105" y="1441961"/>
            <a:ext cx="405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y8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F0EAB85-5BE8-CC51-B06B-EEAF830640B9}"/>
                  </a:ext>
                </a:extLst>
              </p:cNvPr>
              <p:cNvSpPr txBox="1"/>
              <p:nvPr/>
            </p:nvSpPr>
            <p:spPr>
              <a:xfrm>
                <a:off x="5004048" y="2549947"/>
                <a:ext cx="2327494" cy="7035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F0EAB85-5BE8-CC51-B06B-EEAF83064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2549947"/>
                <a:ext cx="2327494" cy="70352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E1819D8-F346-6815-4B90-A8F5CCA2A458}"/>
                  </a:ext>
                </a:extLst>
              </p:cNvPr>
              <p:cNvSpPr txBox="1"/>
              <p:nvPr/>
            </p:nvSpPr>
            <p:spPr>
              <a:xfrm>
                <a:off x="3738359" y="3253473"/>
                <a:ext cx="4573166" cy="4157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E1819D8-F346-6815-4B90-A8F5CCA2A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4479" y="3253472"/>
                <a:ext cx="6097554" cy="415755"/>
              </a:xfrm>
              <a:prstGeom prst="rect">
                <a:avLst/>
              </a:prstGeom>
              <a:blipFill>
                <a:blip r:embed="rId3"/>
                <a:stretch>
                  <a:fillRect b="-7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F2B5FA4-5BBC-65E8-FFE2-B789E1E93095}"/>
                  </a:ext>
                </a:extLst>
              </p:cNvPr>
              <p:cNvSpPr txBox="1"/>
              <p:nvPr/>
            </p:nvSpPr>
            <p:spPr>
              <a:xfrm>
                <a:off x="4100513" y="3753708"/>
                <a:ext cx="4573166" cy="4009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𝑠𝑜𝑓𝑡𝑚𝑎𝑥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F2B5FA4-5BBC-65E8-FFE2-B789E1E93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7351" y="3753708"/>
                <a:ext cx="6097554" cy="400944"/>
              </a:xfrm>
              <a:prstGeom prst="rect">
                <a:avLst/>
              </a:prstGeom>
              <a:blipFill>
                <a:blip r:embed="rId4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521B842-02C4-DE40-292B-593E0FDEEB3E}"/>
                  </a:ext>
                </a:extLst>
              </p:cNvPr>
              <p:cNvSpPr txBox="1"/>
              <p:nvPr/>
            </p:nvSpPr>
            <p:spPr>
              <a:xfrm>
                <a:off x="5667849" y="4752912"/>
                <a:ext cx="10908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b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521B842-02C4-DE40-292B-593E0FDEE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7132" y="4752911"/>
                <a:ext cx="1090811" cy="276999"/>
              </a:xfrm>
              <a:prstGeom prst="rect">
                <a:avLst/>
              </a:prstGeom>
              <a:blipFill>
                <a:blip r:embed="rId5"/>
                <a:stretch>
                  <a:fillRect l="-5028" t="-4444" r="-4469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71D617C-EBC3-47DA-F855-B87280C76A1A}"/>
                  </a:ext>
                </a:extLst>
              </p:cNvPr>
              <p:cNvSpPr txBox="1"/>
              <p:nvPr/>
            </p:nvSpPr>
            <p:spPr>
              <a:xfrm>
                <a:off x="5667849" y="5232012"/>
                <a:ext cx="20074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𝑠𝑜𝑓𝑡𝑚𝑎𝑥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′)</m:t>
                      </m:r>
                    </m:oMath>
                  </m:oMathPara>
                </a14:m>
                <a:endParaRPr lang="en-US" b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71D617C-EBC3-47DA-F855-B87280C76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7132" y="5232011"/>
                <a:ext cx="2007473" cy="276999"/>
              </a:xfrm>
              <a:prstGeom prst="rect">
                <a:avLst/>
              </a:prstGeom>
              <a:blipFill>
                <a:blip r:embed="rId6"/>
                <a:stretch>
                  <a:fillRect l="-2432" t="-2174" r="-3951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631FF03-5DD4-F025-5E45-2BF280ECF318}"/>
                  </a:ext>
                </a:extLst>
              </p:cNvPr>
              <p:cNvSpPr txBox="1"/>
              <p:nvPr/>
            </p:nvSpPr>
            <p:spPr>
              <a:xfrm>
                <a:off x="5667849" y="5798357"/>
                <a:ext cx="10573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b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631FF03-5DD4-F025-5E45-2BF280ECF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7132" y="5798356"/>
                <a:ext cx="1057341" cy="276999"/>
              </a:xfrm>
              <a:prstGeom prst="rect">
                <a:avLst/>
              </a:prstGeom>
              <a:blipFill>
                <a:blip r:embed="rId7"/>
                <a:stretch>
                  <a:fillRect l="-5202" t="-4348" r="-1734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7020272" y="5614899"/>
            <a:ext cx="202946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X - (</a:t>
            </a:r>
            <a:r>
              <a:rPr lang="en-GB" dirty="0" err="1">
                <a:solidFill>
                  <a:srgbClr val="FF0000"/>
                </a:solidFill>
              </a:rPr>
              <a:t>b,t,k</a:t>
            </a:r>
            <a:r>
              <a:rPr lang="en-GB" dirty="0">
                <a:solidFill>
                  <a:srgbClr val="FF0000"/>
                </a:solidFill>
              </a:rPr>
              <a:t>)</a:t>
            </a:r>
          </a:p>
          <a:p>
            <a:r>
              <a:rPr lang="en-GB" dirty="0">
                <a:solidFill>
                  <a:srgbClr val="FF0000"/>
                </a:solidFill>
              </a:rPr>
              <a:t>b – batch size</a:t>
            </a:r>
          </a:p>
          <a:p>
            <a:r>
              <a:rPr lang="en-GB" dirty="0">
                <a:solidFill>
                  <a:srgbClr val="FF0000"/>
                </a:solidFill>
              </a:rPr>
              <a:t>t – sequence length</a:t>
            </a:r>
          </a:p>
          <a:p>
            <a:r>
              <a:rPr lang="en-GB" dirty="0">
                <a:solidFill>
                  <a:srgbClr val="FF0000"/>
                </a:solidFill>
              </a:rPr>
              <a:t>k – embedding dim</a:t>
            </a:r>
          </a:p>
        </p:txBody>
      </p:sp>
    </p:spTree>
    <p:extLst>
      <p:ext uri="{BB962C8B-B14F-4D97-AF65-F5344CB8AC3E}">
        <p14:creationId xmlns:p14="http://schemas.microsoft.com/office/powerpoint/2010/main" val="97678773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0D8C2-05C0-6B56-C2C4-96FB17604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attention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C53A4ED0-F6D5-7504-EC5F-76AB935EED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700" y="3276600"/>
            <a:ext cx="2286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5364ED-8E27-1C2E-FD4D-90BCC7D86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031" y="1376903"/>
            <a:ext cx="6129338" cy="52162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B531868-F72E-DD61-E047-9A746EB11028}"/>
                  </a:ext>
                </a:extLst>
              </p:cNvPr>
              <p:cNvSpPr txBox="1"/>
              <p:nvPr/>
            </p:nvSpPr>
            <p:spPr>
              <a:xfrm>
                <a:off x="-108520" y="274638"/>
                <a:ext cx="2327494" cy="7035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B531868-F72E-DD61-E047-9A746EB11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8520" y="274638"/>
                <a:ext cx="2327494" cy="7035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912516-0237-658B-72F8-6BFDE1625BCB}"/>
                  </a:ext>
                </a:extLst>
              </p:cNvPr>
              <p:cNvSpPr txBox="1"/>
              <p:nvPr/>
            </p:nvSpPr>
            <p:spPr>
              <a:xfrm>
                <a:off x="-1374209" y="978164"/>
                <a:ext cx="4573166" cy="4157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912516-0237-658B-72F8-6BFDE1625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74209" y="978164"/>
                <a:ext cx="4573166" cy="415755"/>
              </a:xfrm>
              <a:prstGeom prst="rect">
                <a:avLst/>
              </a:prstGeom>
              <a:blipFill>
                <a:blip r:embed="rId4"/>
                <a:stretch>
                  <a:fillRect b="-7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06636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881D0-C913-90D3-ECF4-096685C5A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attention –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9CB8B-9872-07BB-BACB-CFE4FAA01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Has no parameters</a:t>
            </a:r>
          </a:p>
          <a:p>
            <a:r>
              <a:rPr lang="en-US" dirty="0"/>
              <a:t>It can look far back into the input sequence (every input has the same distance to every output)</a:t>
            </a:r>
          </a:p>
          <a:p>
            <a:r>
              <a:rPr lang="en-US" dirty="0"/>
              <a:t>It operates on sets (no information about the sequential structure of the input)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800" dirty="0" err="1"/>
              <a:t>self_attention</a:t>
            </a:r>
            <a:r>
              <a:rPr lang="en-US" sz="2800" dirty="0"/>
              <a:t>(permute(x)) =permute(</a:t>
            </a:r>
            <a:r>
              <a:rPr lang="en-US" sz="2800" dirty="0" err="1"/>
              <a:t>self_attention</a:t>
            </a:r>
            <a:r>
              <a:rPr lang="en-US" sz="2800" dirty="0"/>
              <a:t>(x))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8707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Self attention</a:t>
            </a:r>
            <a:endParaRPr lang="en-GB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458416"/>
            <a:ext cx="5904656" cy="3715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107504" y="6398696"/>
            <a:ext cx="40056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hlinkClick r:id="rId3"/>
              </a:rPr>
              <a:t>http://peterbloem.nl/blog/transformers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100750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Attention: query, keys and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“An </a:t>
            </a:r>
            <a:r>
              <a:rPr lang="en-GB" b="1" i="1" dirty="0"/>
              <a:t>attention function </a:t>
            </a:r>
            <a:r>
              <a:rPr lang="en-GB" dirty="0"/>
              <a:t>can be described as mapping a </a:t>
            </a:r>
            <a:r>
              <a:rPr lang="en-GB" u="sng" dirty="0"/>
              <a:t>query</a:t>
            </a:r>
            <a:r>
              <a:rPr lang="en-GB" dirty="0"/>
              <a:t> and a set </a:t>
            </a:r>
            <a:r>
              <a:rPr lang="en-GB" u="sng" dirty="0"/>
              <a:t>of key-value </a:t>
            </a:r>
            <a:r>
              <a:rPr lang="en-GB" dirty="0"/>
              <a:t>pairs to an output, where the query, keys, values, and output are all vectors.”</a:t>
            </a: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3781718"/>
            <a:ext cx="5085183" cy="2952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088875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E29C9-2BCE-E4D0-F29F-242824217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681" y="206505"/>
            <a:ext cx="7886700" cy="1325563"/>
          </a:xfrm>
        </p:spPr>
        <p:txBody>
          <a:bodyPr/>
          <a:lstStyle/>
          <a:p>
            <a:r>
              <a:rPr lang="en-US"/>
              <a:t>Key, query and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8062B-C57C-032B-43F8-DC3D855B5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386138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To obtain the query, keys and values, there matrices are introduced: W</a:t>
            </a:r>
            <a:r>
              <a:rPr lang="en-US" baseline="-25000"/>
              <a:t>q</a:t>
            </a:r>
            <a:r>
              <a:rPr lang="en-US"/>
              <a:t>, W</a:t>
            </a:r>
            <a:r>
              <a:rPr lang="en-US" baseline="-25000"/>
              <a:t>k</a:t>
            </a:r>
            <a:r>
              <a:rPr lang="en-US"/>
              <a:t>, W</a:t>
            </a:r>
            <a:r>
              <a:rPr lang="en-US" baseline="-25000"/>
              <a:t>v </a:t>
            </a:r>
            <a:r>
              <a:rPr lang="en-US"/>
              <a:t>  (added some learnable parameters)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41CB397-8926-33D5-4F17-F8C99ADCE4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4150" y="1532068"/>
            <a:ext cx="4136231" cy="498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354869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0D8C2-05C0-6B56-C2C4-96FB17604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Key, query and values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C53A4ED0-F6D5-7504-EC5F-76AB935EED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700" y="3276600"/>
            <a:ext cx="2286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5364ED-8E27-1C2E-FD4D-90BCC7D86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031" y="1376903"/>
            <a:ext cx="6129338" cy="52162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902D91-04CE-2099-5DB2-6BA86CDA3E79}"/>
              </a:ext>
            </a:extLst>
          </p:cNvPr>
          <p:cNvSpPr txBox="1"/>
          <p:nvPr/>
        </p:nvSpPr>
        <p:spPr>
          <a:xfrm>
            <a:off x="1439702" y="5111764"/>
            <a:ext cx="738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accent6">
                    <a:lumMod val="75000"/>
                  </a:schemeClr>
                </a:solidFill>
              </a:rPr>
              <a:t>query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1B436E-CE32-2F1E-C68B-DB9AEFB6CF70}"/>
              </a:ext>
            </a:extLst>
          </p:cNvPr>
          <p:cNvSpPr txBox="1"/>
          <p:nvPr/>
        </p:nvSpPr>
        <p:spPr>
          <a:xfrm rot="16200000">
            <a:off x="1829398" y="5461285"/>
            <a:ext cx="699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030A0"/>
                </a:solidFill>
              </a:rPr>
              <a:t>value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199CEC-78AC-DA60-D00C-58FAB357199D}"/>
              </a:ext>
            </a:extLst>
          </p:cNvPr>
          <p:cNvSpPr txBox="1"/>
          <p:nvPr/>
        </p:nvSpPr>
        <p:spPr>
          <a:xfrm rot="16200000">
            <a:off x="1646271" y="3957279"/>
            <a:ext cx="511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accent5">
                    <a:lumMod val="75000"/>
                  </a:schemeClr>
                </a:solidFill>
              </a:rPr>
              <a:t>key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1E9464-5D91-69CC-0689-CE10F39F1092}"/>
              </a:ext>
            </a:extLst>
          </p:cNvPr>
          <p:cNvSpPr txBox="1"/>
          <p:nvPr/>
        </p:nvSpPr>
        <p:spPr>
          <a:xfrm>
            <a:off x="4133773" y="6093296"/>
            <a:ext cx="4758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When computing </a:t>
            </a:r>
            <a:r>
              <a:rPr lang="en-US" dirty="0" err="1">
                <a:solidFill>
                  <a:srgbClr val="FF0000"/>
                </a:solidFill>
              </a:rPr>
              <a:t>y</a:t>
            </a:r>
            <a:r>
              <a:rPr lang="en-US" baseline="-25000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, x</a:t>
            </a:r>
            <a:r>
              <a:rPr lang="en-US" baseline="-25000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is matched against every other input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62535C3-0940-826F-6BF6-60FE5350F79A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1809066" y="5481096"/>
            <a:ext cx="2324707" cy="9353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89145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0D8C2-05C0-6B56-C2C4-96FB17604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Key, query and values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C53A4ED0-F6D5-7504-EC5F-76AB935EED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700" y="3276600"/>
            <a:ext cx="2286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5364ED-8E27-1C2E-FD4D-90BCC7D86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031" y="1376903"/>
            <a:ext cx="6129338" cy="52162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902D91-04CE-2099-5DB2-6BA86CDA3E79}"/>
              </a:ext>
            </a:extLst>
          </p:cNvPr>
          <p:cNvSpPr txBox="1"/>
          <p:nvPr/>
        </p:nvSpPr>
        <p:spPr>
          <a:xfrm>
            <a:off x="1439702" y="5111764"/>
            <a:ext cx="738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accent6">
                    <a:lumMod val="75000"/>
                  </a:schemeClr>
                </a:solidFill>
              </a:rPr>
              <a:t>query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1B436E-CE32-2F1E-C68B-DB9AEFB6CF70}"/>
              </a:ext>
            </a:extLst>
          </p:cNvPr>
          <p:cNvSpPr txBox="1"/>
          <p:nvPr/>
        </p:nvSpPr>
        <p:spPr>
          <a:xfrm rot="16200000">
            <a:off x="1829398" y="5461285"/>
            <a:ext cx="699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030A0"/>
                </a:solidFill>
              </a:rPr>
              <a:t>value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199CEC-78AC-DA60-D00C-58FAB357199D}"/>
              </a:ext>
            </a:extLst>
          </p:cNvPr>
          <p:cNvSpPr txBox="1"/>
          <p:nvPr/>
        </p:nvSpPr>
        <p:spPr>
          <a:xfrm rot="16200000">
            <a:off x="1646271" y="3957279"/>
            <a:ext cx="511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accent5">
                    <a:lumMod val="75000"/>
                  </a:schemeClr>
                </a:solidFill>
              </a:rPr>
              <a:t>key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1E9464-5D91-69CC-0689-CE10F39F1092}"/>
              </a:ext>
            </a:extLst>
          </p:cNvPr>
          <p:cNvSpPr txBox="1"/>
          <p:nvPr/>
        </p:nvSpPr>
        <p:spPr>
          <a:xfrm>
            <a:off x="4133771" y="6488668"/>
            <a:ext cx="4370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The vector that the query is matched against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62535C3-0940-826F-6BF6-60FE5350F79A}"/>
              </a:ext>
            </a:extLst>
          </p:cNvPr>
          <p:cNvCxnSpPr>
            <a:cxnSpLocks/>
          </p:cNvCxnSpPr>
          <p:nvPr/>
        </p:nvCxnSpPr>
        <p:spPr>
          <a:xfrm flipH="1" flipV="1">
            <a:off x="1993748" y="4328628"/>
            <a:ext cx="2140024" cy="22645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600807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0D8C2-05C0-6B56-C2C4-96FB17604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Key, query and values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C53A4ED0-F6D5-7504-EC5F-76AB935EED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700" y="3276600"/>
            <a:ext cx="2286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5364ED-8E27-1C2E-FD4D-90BCC7D86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031" y="1376903"/>
            <a:ext cx="6129338" cy="52162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902D91-04CE-2099-5DB2-6BA86CDA3E79}"/>
              </a:ext>
            </a:extLst>
          </p:cNvPr>
          <p:cNvSpPr txBox="1"/>
          <p:nvPr/>
        </p:nvSpPr>
        <p:spPr>
          <a:xfrm>
            <a:off x="1439702" y="5111764"/>
            <a:ext cx="738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accent6">
                    <a:lumMod val="75000"/>
                  </a:schemeClr>
                </a:solidFill>
              </a:rPr>
              <a:t>query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1B436E-CE32-2F1E-C68B-DB9AEFB6CF70}"/>
              </a:ext>
            </a:extLst>
          </p:cNvPr>
          <p:cNvSpPr txBox="1"/>
          <p:nvPr/>
        </p:nvSpPr>
        <p:spPr>
          <a:xfrm rot="16200000">
            <a:off x="1829398" y="5461285"/>
            <a:ext cx="699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030A0"/>
                </a:solidFill>
              </a:rPr>
              <a:t>value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199CEC-78AC-DA60-D00C-58FAB357199D}"/>
              </a:ext>
            </a:extLst>
          </p:cNvPr>
          <p:cNvSpPr txBox="1"/>
          <p:nvPr/>
        </p:nvSpPr>
        <p:spPr>
          <a:xfrm rot="16200000">
            <a:off x="1646271" y="3957279"/>
            <a:ext cx="511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accent5">
                    <a:lumMod val="75000"/>
                  </a:schemeClr>
                </a:solidFill>
              </a:rPr>
              <a:t>key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1E9464-5D91-69CC-0689-CE10F39F1092}"/>
              </a:ext>
            </a:extLst>
          </p:cNvPr>
          <p:cNvSpPr txBox="1"/>
          <p:nvPr/>
        </p:nvSpPr>
        <p:spPr>
          <a:xfrm>
            <a:off x="4133771" y="6488668"/>
            <a:ext cx="3908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Used in the weighted sum of the output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62535C3-0940-826F-6BF6-60FE5350F79A}"/>
              </a:ext>
            </a:extLst>
          </p:cNvPr>
          <p:cNvCxnSpPr>
            <a:cxnSpLocks/>
            <a:stCxn id="3" idx="1"/>
            <a:endCxn id="10" idx="1"/>
          </p:cNvCxnSpPr>
          <p:nvPr/>
        </p:nvCxnSpPr>
        <p:spPr>
          <a:xfrm flipH="1" flipV="1">
            <a:off x="2178917" y="5995470"/>
            <a:ext cx="1954854" cy="6778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6841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BB37D-B84E-EE9B-4DFE-85906C401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 version of a dictionary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385F7-AAF1-7FC0-F8FE-AD022EC7E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6"/>
            <a:ext cx="7886700" cy="1603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my_dict</a:t>
            </a:r>
            <a:r>
              <a:rPr lang="en-US" dirty="0"/>
              <a:t> = {‘key1’: 24, ‘key2’: 1, ‘key3’:  6}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my_dict</a:t>
            </a:r>
            <a:r>
              <a:rPr lang="en-US" dirty="0"/>
              <a:t>[key1] </a:t>
            </a:r>
            <a:r>
              <a:rPr lang="en-US"/>
              <a:t>== 24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455DEA-5552-7C76-23FC-A73F172B08DB}"/>
              </a:ext>
            </a:extLst>
          </p:cNvPr>
          <p:cNvSpPr txBox="1"/>
          <p:nvPr/>
        </p:nvSpPr>
        <p:spPr>
          <a:xfrm>
            <a:off x="2195736" y="3429000"/>
            <a:ext cx="738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query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7CE280-0C42-C046-F940-466D5CBEFF57}"/>
              </a:ext>
            </a:extLst>
          </p:cNvPr>
          <p:cNvSpPr txBox="1"/>
          <p:nvPr/>
        </p:nvSpPr>
        <p:spPr>
          <a:xfrm>
            <a:off x="6156176" y="2420888"/>
            <a:ext cx="511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A40C53-3C75-309B-C27A-4F88A30F2796}"/>
              </a:ext>
            </a:extLst>
          </p:cNvPr>
          <p:cNvSpPr txBox="1"/>
          <p:nvPr/>
        </p:nvSpPr>
        <p:spPr>
          <a:xfrm>
            <a:off x="7020272" y="2420888"/>
            <a:ext cx="699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value</a:t>
            </a:r>
          </a:p>
        </p:txBody>
      </p:sp>
    </p:spTree>
    <p:extLst>
      <p:ext uri="{BB962C8B-B14F-4D97-AF65-F5344CB8AC3E}">
        <p14:creationId xmlns:p14="http://schemas.microsoft.com/office/powerpoint/2010/main" val="276358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FC9713D1B4A348AAE7B3383364C377" ma:contentTypeVersion="3" ma:contentTypeDescription="Create a new document." ma:contentTypeScope="" ma:versionID="805bd71d9a7f8f9b424e91dbcb7c74e5">
  <xsd:schema xmlns:xsd="http://www.w3.org/2001/XMLSchema" xmlns:xs="http://www.w3.org/2001/XMLSchema" xmlns:p="http://schemas.microsoft.com/office/2006/metadata/properties" xmlns:ns2="ea7aeede-a3ac-4adc-a1af-0ad03a3d66bd" targetNamespace="http://schemas.microsoft.com/office/2006/metadata/properties" ma:root="true" ma:fieldsID="c052b27818055ad5eadc0971d765fd36" ns2:_="">
    <xsd:import namespace="ea7aeede-a3ac-4adc-a1af-0ad03a3d66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7aeede-a3ac-4adc-a1af-0ad03a3d66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76EE0ED-FCCB-4E14-966F-6346359EE9CD}"/>
</file>

<file path=customXml/itemProps2.xml><?xml version="1.0" encoding="utf-8"?>
<ds:datastoreItem xmlns:ds="http://schemas.openxmlformats.org/officeDocument/2006/customXml" ds:itemID="{7341D23B-C9B5-4343-919D-97DA52BC39A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C16A729-1264-4B26-BF1A-D72DF52AD8B2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003519e6-1151-47e3-af62-b6c7058ddb98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5469</TotalTime>
  <Words>2447</Words>
  <Application>Microsoft Office PowerPoint</Application>
  <PresentationFormat>On-screen Show (4:3)</PresentationFormat>
  <Paragraphs>323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4" baseType="lpstr">
      <vt:lpstr>Arial</vt:lpstr>
      <vt:lpstr>Calibri</vt:lpstr>
      <vt:lpstr>Cambria Math</vt:lpstr>
      <vt:lpstr>Office Theme</vt:lpstr>
      <vt:lpstr>Computer vision and Deep Learning</vt:lpstr>
      <vt:lpstr>Today’s agenda</vt:lpstr>
      <vt:lpstr>Sequence models</vt:lpstr>
      <vt:lpstr>Sequences</vt:lpstr>
      <vt:lpstr>Sequence models</vt:lpstr>
      <vt:lpstr>Sequence to sequence layers</vt:lpstr>
      <vt:lpstr>Processing discrete inputs</vt:lpstr>
      <vt:lpstr>Processing discrete inputs</vt:lpstr>
      <vt:lpstr>Batching sequences</vt:lpstr>
      <vt:lpstr>Batching sequences: padding</vt:lpstr>
      <vt:lpstr>Batching sequences: packing</vt:lpstr>
      <vt:lpstr>Definitions</vt:lpstr>
      <vt:lpstr>Definitions</vt:lpstr>
      <vt:lpstr>Definitions</vt:lpstr>
      <vt:lpstr>Patterns in sequence models</vt:lpstr>
      <vt:lpstr>Process sequences</vt:lpstr>
      <vt:lpstr>Process sequences</vt:lpstr>
      <vt:lpstr>Process sequences</vt:lpstr>
      <vt:lpstr>Process sequences</vt:lpstr>
      <vt:lpstr>Recurrent neural networks</vt:lpstr>
      <vt:lpstr>Recurrent neural networks</vt:lpstr>
      <vt:lpstr>RNN cell</vt:lpstr>
      <vt:lpstr>RNN cell </vt:lpstr>
      <vt:lpstr>RNN cell </vt:lpstr>
      <vt:lpstr>RNN cell </vt:lpstr>
      <vt:lpstr>RNN cell </vt:lpstr>
      <vt:lpstr>RNN cell </vt:lpstr>
      <vt:lpstr>RNN cell </vt:lpstr>
      <vt:lpstr>RNN backward pass</vt:lpstr>
      <vt:lpstr>RNN backward pass</vt:lpstr>
      <vt:lpstr>Long short term memory</vt:lpstr>
      <vt:lpstr>Long short term memory, 1997</vt:lpstr>
      <vt:lpstr>Long short term memory, 1997</vt:lpstr>
      <vt:lpstr>Long short term memory</vt:lpstr>
      <vt:lpstr>Long short term memory</vt:lpstr>
      <vt:lpstr>LSTM cell</vt:lpstr>
      <vt:lpstr>Long short term memory</vt:lpstr>
      <vt:lpstr>Long short-term memory Forget gate: how much we want to forget from the previous cell state?/ whether to erase the cell</vt:lpstr>
      <vt:lpstr>Long short-term memory Forget gate: how much we want to forget from the previous cell state?/ whether to erase the cell</vt:lpstr>
      <vt:lpstr>Long short-term memory Input gate: how much to input into our cell? / whether to write to cell </vt:lpstr>
      <vt:lpstr>Long short-term memory Input gate: how much to input into our cell? / whether to write to cell g gate:  how much to write to cell (how much to write into our cell?)</vt:lpstr>
      <vt:lpstr>Long short-term memory Input gate: how much to input into our cell? / whether to write to cell g gate:  how much to write to cell (how much to write into our cell?)</vt:lpstr>
      <vt:lpstr>Long short term memory output gate: how much to reveal cell (how much to reveal from ourselves to the outside? </vt:lpstr>
      <vt:lpstr>Long short term memory output gate: how much to reveal cell (how much to reveal from ourselves to the outside?</vt:lpstr>
      <vt:lpstr>Lots of variations of LSTMs were proposed</vt:lpstr>
      <vt:lpstr>The Unreasonable Effectiveness of Recurrent Neural Networks</vt:lpstr>
      <vt:lpstr>The Unreasonable Effectiveness of Recurrent Neural Networks</vt:lpstr>
      <vt:lpstr>The Unreasonable Effectiveness of Recurrent Neural Networks</vt:lpstr>
      <vt:lpstr>Attention is all you need</vt:lpstr>
      <vt:lpstr>Self-attention</vt:lpstr>
      <vt:lpstr>Self attention</vt:lpstr>
      <vt:lpstr>Self attention</vt:lpstr>
      <vt:lpstr>Self attention – so far</vt:lpstr>
      <vt:lpstr>Self attention</vt:lpstr>
      <vt:lpstr>Attention: query, keys and values</vt:lpstr>
      <vt:lpstr>Key, query and values</vt:lpstr>
      <vt:lpstr>Key, query and values</vt:lpstr>
      <vt:lpstr>Key, query and values</vt:lpstr>
      <vt:lpstr>Key, query and values</vt:lpstr>
      <vt:lpstr>Soft version of a dictionary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Vision and Deep Learning</dc:title>
  <dc:creator>diana</dc:creator>
  <cp:lastModifiedBy>Diana Borza</cp:lastModifiedBy>
  <cp:revision>388</cp:revision>
  <dcterms:created xsi:type="dcterms:W3CDTF">2020-11-28T16:07:05Z</dcterms:created>
  <dcterms:modified xsi:type="dcterms:W3CDTF">2026-04-09T07:52:32Z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0x010100F4FC9713D1B4A348AAE7B3383364C377</vt:lpwstr>
  </property>
</Properties>
</file>