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2" r:id="rId6"/>
    <p:sldId id="261" r:id="rId7"/>
    <p:sldId id="260" r:id="rId8"/>
    <p:sldId id="263" r:id="rId9"/>
    <p:sldId id="279" r:id="rId10"/>
    <p:sldId id="298" r:id="rId11"/>
    <p:sldId id="299" r:id="rId12"/>
    <p:sldId id="296" r:id="rId13"/>
    <p:sldId id="297" r:id="rId14"/>
    <p:sldId id="302" r:id="rId15"/>
    <p:sldId id="300" r:id="rId16"/>
    <p:sldId id="301" r:id="rId17"/>
    <p:sldId id="303" r:id="rId18"/>
    <p:sldId id="304" r:id="rId19"/>
    <p:sldId id="305" r:id="rId20"/>
    <p:sldId id="307" r:id="rId21"/>
    <p:sldId id="306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271" r:id="rId34"/>
    <p:sldId id="282" r:id="rId35"/>
    <p:sldId id="283" r:id="rId36"/>
    <p:sldId id="284" r:id="rId37"/>
    <p:sldId id="281" r:id="rId38"/>
    <p:sldId id="285" r:id="rId39"/>
    <p:sldId id="280" r:id="rId40"/>
    <p:sldId id="287" r:id="rId41"/>
    <p:sldId id="288" r:id="rId42"/>
    <p:sldId id="290" r:id="rId43"/>
    <p:sldId id="289" r:id="rId44"/>
    <p:sldId id="291" r:id="rId45"/>
    <p:sldId id="292" r:id="rId46"/>
    <p:sldId id="294" r:id="rId47"/>
    <p:sldId id="293" r:id="rId48"/>
    <p:sldId id="295" r:id="rId49"/>
    <p:sldId id="319" r:id="rId50"/>
    <p:sldId id="264" r:id="rId51"/>
    <p:sldId id="267" r:id="rId52"/>
    <p:sldId id="265" r:id="rId53"/>
    <p:sldId id="266" r:id="rId54"/>
    <p:sldId id="272" r:id="rId55"/>
    <p:sldId id="274" r:id="rId56"/>
    <p:sldId id="268" r:id="rId57"/>
    <p:sldId id="275" r:id="rId58"/>
    <p:sldId id="273" r:id="rId59"/>
    <p:sldId id="276" r:id="rId60"/>
    <p:sldId id="278" r:id="rId61"/>
    <p:sldId id="269" r:id="rId62"/>
    <p:sldId id="270" r:id="rId63"/>
    <p:sldId id="277" r:id="rId64"/>
    <p:sldId id="320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73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32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29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8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20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9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1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0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36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6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1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1C97824-70B2-4931-819A-3811D52937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D4A3153-C27A-462C-A07D-BFBA6832401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7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911.05722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104.14294" TargetMode="Externa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111.06377" TargetMode="Externa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B550-06DB-BF70-F486-B4689A2DC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COMPUTER VISION AND DEEP LEARNING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4789B-D86A-7305-07A4-E70537A6F7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668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3714D-B1C0-18E2-DCCD-DE682E11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3025-5D7B-C83C-739B-B7BBA145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Supervised. Unsupervised. Self-supervised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2684A-8DBA-E1A4-E941-6C0CB4191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SUPERVISED LEARRNING: models are trained on a dataset that includes both input data and corresponding labels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 err="1"/>
              <a:t>Imagenet</a:t>
            </a:r>
            <a:r>
              <a:rPr lang="en-GB" sz="2000" dirty="0"/>
              <a:t> labelling (Amazon Mechanical Turk)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/>
              <a:t>Labelling started in July 2008 and ended in April 2010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/>
              <a:t>It took 49K workers from 167 countries filtering and labelling over 160M candidate images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/>
              <a:t>Each of the 14 million images labelled three times.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UNSUPERVISED LEARNING: analyses </a:t>
            </a:r>
            <a:r>
              <a:rPr lang="en-GB" sz="2400" b="1" dirty="0"/>
              <a:t>unlabelled</a:t>
            </a:r>
            <a:r>
              <a:rPr lang="en-GB" sz="2400" dirty="0"/>
              <a:t> datasets to identify hidden patterns, structures, or relationships without human intervention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SELF-SUPERVISED LEARNING: system learns to understand and interpret data by teaching itself</a:t>
            </a: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3049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7C9F-6548-1D75-5277-3133B0D8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Supervised. Unsupervised. Self-supervised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737E9-5413-DF9C-A05D-3C891C57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608CFB-1949-7DE2-1019-50D7012FA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943" y="1737360"/>
            <a:ext cx="7841796" cy="4108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00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C103C-B9D7-1CED-48FA-3BDEC4D2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FD50D-57E3-7429-5359-95A01DE15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Self-supervised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C9041-5CBC-CA24-B0DD-C3D606C1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400" dirty="0"/>
              <a:t>Define a </a:t>
            </a:r>
            <a:r>
              <a:rPr lang="en-US" sz="2400" b="1" dirty="0"/>
              <a:t>pretext task</a:t>
            </a:r>
            <a:r>
              <a:rPr lang="en-US" sz="2400" dirty="0"/>
              <a:t> that generates supervisory signals from the data itself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network learns </a:t>
            </a:r>
            <a:r>
              <a:rPr lang="en-US" sz="2400" b="1" dirty="0"/>
              <a:t>representations</a:t>
            </a:r>
            <a:r>
              <a:rPr lang="en-US" sz="2400" dirty="0"/>
              <a:t> by solving the pretext task, and these representations transfer to downstream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Idea: if a model can predict missing or transformed parts of data, it learned something meaningful about the data's structure.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533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58A6-239A-19C4-9FEC-7B241EB69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1326-B4E1-6647-6FB2-D7B3837F1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Self-supervised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CF109-2718-85C5-2E18-303222A82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Contrastive learning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Self-distillation </a:t>
            </a:r>
            <a:endParaRPr lang="en-US" sz="26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Masked image modeling (MIM)</a:t>
            </a:r>
            <a:endParaRPr lang="en-GB" sz="28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21985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1B51-4573-07EE-A41A-E76DEB63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EA2D-5061-565F-CC57-07B132BC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Self-supervised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3CA61-D614-DE92-E371-AB6DBA884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Contrastive learning</a:t>
            </a:r>
          </a:p>
          <a:p>
            <a:pPr marL="749808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pull together representations of different views of the same image (positives), push apart representations of different images (negatives)</a:t>
            </a:r>
          </a:p>
          <a:p>
            <a:pPr marL="749808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learn “same” vs “different” representations</a:t>
            </a:r>
          </a:p>
          <a:p>
            <a:pPr marL="749808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The typical loss is </a:t>
            </a:r>
            <a:r>
              <a:rPr lang="en-GB" sz="2800" dirty="0" err="1"/>
              <a:t>InfoNCE</a:t>
            </a:r>
            <a:r>
              <a:rPr lang="en-GB" sz="2800" dirty="0"/>
              <a:t>: </a:t>
            </a:r>
            <a:r>
              <a:rPr lang="en-GB" sz="2800" dirty="0" err="1"/>
              <a:t>softmax</a:t>
            </a:r>
            <a:r>
              <a:rPr lang="en-GB" sz="2800" dirty="0"/>
              <a:t> cross-entropy where the positive pair is the correct class and all negatives are incorrect classes</a:t>
            </a: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1609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D0DCE-00D1-4CC1-C4A8-D2A735E93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2963-8E5C-4743-38B5-CEEE1A0C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Self-supervised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4E199-E58C-3649-8813-B1582E1D4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Contrastive learning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Self-distillation </a:t>
            </a:r>
          </a:p>
          <a:p>
            <a:pPr marL="749808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usually, use two views of the same image and train the model such that their representations match</a:t>
            </a:r>
          </a:p>
          <a:p>
            <a:pPr marL="749808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NO is no explicit push-apart force on negatives</a:t>
            </a:r>
            <a:endParaRPr lang="en-US" sz="26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Masked image modeling (MIM)</a:t>
            </a:r>
            <a:endParaRPr lang="en-GB" sz="28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9598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979E7-C60C-155E-6AFC-C8F0DAAC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33C4-12F2-98B0-430A-5E9316CEF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Self-supervised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E25D9-E6C1-7955-FCA4-1C0B74BB5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Contrastive learning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Self-distillation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Masked image modeling (MIM)</a:t>
            </a:r>
          </a:p>
          <a:p>
            <a:pPr marL="749808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The model receives an image with parts removed and must predict the missing content</a:t>
            </a:r>
          </a:p>
          <a:p>
            <a:pPr marL="749808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Reconstructive learning signal: the model must understand enough about visual structure to fill in the gaps</a:t>
            </a:r>
            <a:endParaRPr lang="en-US" sz="2600" dirty="0"/>
          </a:p>
          <a:p>
            <a:pPr marL="0" indent="0">
              <a:buNone/>
            </a:pPr>
            <a:r>
              <a:rPr lang="en-US" sz="2800" dirty="0"/>
              <a:t>	</a:t>
            </a:r>
            <a:endParaRPr lang="en-GB" sz="28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559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1D2F62-90EE-8A72-A03D-7D48B95B0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FB85C2-496B-A00A-E358-57AA4A3DF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Momentum Contrast for Unsupervised Visual Representation Learning (</a:t>
            </a:r>
            <a:r>
              <a:rPr lang="en-GB" dirty="0" err="1"/>
              <a:t>MoCO</a:t>
            </a:r>
            <a:r>
              <a:rPr lang="en-GB" dirty="0"/>
              <a:t>)</a:t>
            </a:r>
          </a:p>
          <a:p>
            <a:r>
              <a:rPr lang="en-US" dirty="0">
                <a:hlinkClick r:id="rId2"/>
              </a:rPr>
              <a:t>https://arxiv.org/pdf/1911.05722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3303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EC7998-5511-417D-F024-2DBA7B8F8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Contrastive Learning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2519D6-EE1E-440C-726F-93CFF304D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Similar images are considered positives while different images are considered negatives [1]">
            <a:extLst>
              <a:ext uri="{FF2B5EF4-FFF2-40B4-BE49-F238E27FC236}">
                <a16:creationId xmlns:a16="http://schemas.microsoft.com/office/drawing/2014/main" id="{243E00AB-D411-7568-7058-FD36308E4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698" y="1845734"/>
            <a:ext cx="6474958" cy="420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863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D9AB-4379-F1B3-82BB-217AE163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Contrastive learning (CL)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E3318-F317-5B63-08B1-E90C2E005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Pull representations of two augmented views of the same image together, push representations of different images apart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The model solves a discrimination task: given a query, identify its matching key among a set of distractors.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Works if d</a:t>
            </a:r>
            <a:r>
              <a:rPr lang="en-US" sz="2400" dirty="0" err="1"/>
              <a:t>istractors</a:t>
            </a:r>
            <a:r>
              <a:rPr lang="en-US" sz="2400" dirty="0"/>
              <a:t> are </a:t>
            </a:r>
            <a:r>
              <a:rPr lang="en-US" sz="2400" b="1" dirty="0"/>
              <a:t>hard enough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E.g. K negatives drawn randomly from ImageNet's ~1000 classes,  K needs to be large enough that most classes appear at least once in the negative set.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At K=256 -&gt; many classes are absent and the task is underspecified</a:t>
            </a:r>
            <a:endParaRPr lang="en-US" sz="2400" b="1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57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EBC71C-8A2B-ECFB-162D-845FF5A4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InfoNCE</a:t>
            </a:r>
            <a:r>
              <a:rPr lang="en-GB" dirty="0"/>
              <a:t> </a:t>
            </a:r>
            <a:r>
              <a:rPr lang="en-US" dirty="0"/>
              <a:t>(Noise Contrastive Estimation)</a:t>
            </a:r>
            <a:r>
              <a:rPr lang="en-GB" dirty="0"/>
              <a:t> loss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F89C85-9EEC-9681-B36D-F5FE4D8A7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</a:t>
            </a:r>
            <a:r>
              <a:rPr lang="en-GB" sz="2400" dirty="0"/>
              <a:t>Frames representation learning as a </a:t>
            </a:r>
            <a:r>
              <a:rPr lang="en-GB" sz="2400" b="1" dirty="0"/>
              <a:t>K+1-way classification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Given a query q, one positive key k⁺ (another view of the same image), and K negative keys k₁…</a:t>
            </a:r>
            <a:r>
              <a:rPr lang="en-GB" sz="2400" dirty="0" err="1"/>
              <a:t>k_K</a:t>
            </a:r>
            <a:r>
              <a:rPr lang="en-GB" sz="2400" dirty="0"/>
              <a:t> (views of different images), the loss classifies which key is the positive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BC16C2-3B70-C9A5-BA12-691B00C11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982" y="3973286"/>
            <a:ext cx="5581393" cy="130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39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AE750-79CE-4AF2-2908-90F1A6C2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A9894C3-D760-542F-E407-6C0F60A3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InfoNCE</a:t>
            </a:r>
            <a:r>
              <a:rPr lang="en-GB" dirty="0"/>
              <a:t> loss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7408AC-C309-F013-7CF0-D6C68F252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</a:t>
            </a:r>
            <a:r>
              <a:rPr lang="en-GB" sz="2400" dirty="0"/>
              <a:t>Frames representation learning as a </a:t>
            </a:r>
            <a:r>
              <a:rPr lang="en-GB" sz="2400" b="1" dirty="0"/>
              <a:t>K+1-way classification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Given a query q, one positive key k⁺ (another view of the same image), and K negative keys k₁…</a:t>
            </a:r>
            <a:r>
              <a:rPr lang="en-GB" sz="2400" dirty="0" err="1"/>
              <a:t>k_K</a:t>
            </a:r>
            <a:r>
              <a:rPr lang="en-GB" sz="2400" dirty="0"/>
              <a:t> (views of different images), the loss classifies which key is the positive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Minimizing this loss simultaneously </a:t>
            </a:r>
            <a:r>
              <a:rPr lang="en-GB" sz="2400" b="1" dirty="0"/>
              <a:t>maximizes</a:t>
            </a:r>
            <a:r>
              <a:rPr lang="en-GB" sz="2400" dirty="0"/>
              <a:t> the similarity between query and positive and </a:t>
            </a:r>
            <a:r>
              <a:rPr lang="en-GB" sz="2400" b="1" dirty="0"/>
              <a:t>minimizes</a:t>
            </a:r>
            <a:r>
              <a:rPr lang="en-GB" sz="2400" dirty="0"/>
              <a:t> similarity between query and all negatives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C8D2C3-355D-AB33-377E-234CD5C20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382" y="4562809"/>
            <a:ext cx="5581393" cy="130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2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9364-26A0-40E5-E19D-009E6F5A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Contrastive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8786C-2B4B-DDE2-C70A-7EF461A3D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CL can be seen as building a discrete dictionary over a on high-dimensional continuous input (images)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</a:t>
            </a:r>
            <a:r>
              <a:rPr lang="en-GB" sz="2400" b="1" i="1" dirty="0"/>
              <a:t>Dynamic </a:t>
            </a:r>
            <a:r>
              <a:rPr lang="en-GB" sz="2400" dirty="0"/>
              <a:t>dictionary: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keys are randomly sampled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key encoder evolves during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Hypothesis: good features can be learned by a large dictionary that covers a rich set of negative samples, and the encoder for the dictionary keys is kept as consistent as possible despite its evolution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3683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B019-0D87-21FD-C04A-E7A934FB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Patterns in contrastive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CEC35-B061-091C-8A41-0BBF166FD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D7F8A1-D13C-966F-21B6-B09F1AEC7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042" y="1965207"/>
            <a:ext cx="9669916" cy="378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5184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2FDE1-A7E5-FE04-D37F-E714272B7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654E-8F07-2D66-9374-794D837A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Patterns in CL</a:t>
            </a:r>
            <a:br>
              <a:rPr lang="en-GB" dirty="0"/>
            </a:br>
            <a:r>
              <a:rPr lang="en-GB" sz="3200" dirty="0"/>
              <a:t>End to end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276B8-1F21-07C5-8B26-910CFEAC2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469777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Uses the samples in the current mini-batch as the dictionary, so the keys are consistently encoded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i="1" dirty="0"/>
              <a:t> The model needs a very large batch size of negative samples which is memory expensive</a:t>
            </a: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C7C22EF-E0B5-A16D-94B2-FE0572FA12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423"/>
          <a:stretch>
            <a:fillRect/>
          </a:stretch>
        </p:blipFill>
        <p:spPr bwMode="auto">
          <a:xfrm>
            <a:off x="8674213" y="1965207"/>
            <a:ext cx="3343615" cy="378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813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93D8-F1C6-E691-D96F-740725EC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Patterns in CL</a:t>
            </a:r>
            <a:br>
              <a:rPr lang="en-GB" dirty="0"/>
            </a:br>
            <a:r>
              <a:rPr lang="en-GB" sz="3200" dirty="0"/>
              <a:t>Memory bank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5943-5ABD-E0B2-53FE-68B218292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654834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</a:t>
            </a:r>
            <a:r>
              <a:rPr lang="en-GB" sz="2400" dirty="0"/>
              <a:t>A memory bank contains the feature representation for all images in the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Feature representations for each image are exponential moving average calculated in prior epochs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The memory bank needs to be updated and replaced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</a:t>
            </a:r>
            <a:r>
              <a:rPr lang="en-GB" sz="2400" b="1" i="1" dirty="0"/>
              <a:t>Drawback: it needs to regularly update the feature representations in the memory bank which can be computationally expensive.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914965E-A599-8A1A-17EA-224CD9F5D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40" r="32664"/>
          <a:stretch>
            <a:fillRect/>
          </a:stretch>
        </p:blipFill>
        <p:spPr bwMode="auto">
          <a:xfrm>
            <a:off x="8860972" y="1965207"/>
            <a:ext cx="3200400" cy="378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14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11E6E7-9C17-863F-681B-31B5D2568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2" y="2303044"/>
            <a:ext cx="4754878" cy="33046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9EC6BE-C44B-FA7D-ED3B-3A9484A1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Patterns in CL</a:t>
            </a:r>
            <a:br>
              <a:rPr lang="en-GB" dirty="0"/>
            </a:br>
            <a:r>
              <a:rPr lang="en-GB" sz="3200" dirty="0"/>
              <a:t>Momentum encoder. MoCo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458F6-76D3-EB40-A161-658555EDE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511834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Dictionary is maintained as a </a:t>
            </a:r>
            <a:r>
              <a:rPr lang="en-GB" sz="2400" i="1" dirty="0"/>
              <a:t>queue </a:t>
            </a:r>
            <a:r>
              <a:rPr lang="en-GB" sz="2400" dirty="0"/>
              <a:t>of samples -&gt; allows the reuse of keys in the immediate preceding mini-batches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Dictionary can be much larger than the typical mini-batch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Samples in the dictionary are progressively replaced: enqueue the current mini-batch and remove the oldest one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Oldest keys are most outdates and less consistent with the newer ones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56161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D8B82-52CE-8EFF-C639-4D2D05C9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6BCF-ADFC-186E-3234-C791BE8F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MoCo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3E69B-4D50-9B5E-21E8-D67844FC9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511834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Queues can increase the size of the dictionary, but keys update becomes intractable with backprop (the gradient should flow to all samples in the queue)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Use momentum update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Only </a:t>
            </a:r>
            <a:r>
              <a:rPr lang="en-GB" sz="2400" dirty="0" err="1"/>
              <a:t>θ</a:t>
            </a:r>
            <a:r>
              <a:rPr lang="en-GB" sz="2400" baseline="-25000" dirty="0" err="1"/>
              <a:t>q</a:t>
            </a:r>
            <a:r>
              <a:rPr lang="en-GB" sz="2400" baseline="-25000" dirty="0"/>
              <a:t> </a:t>
            </a:r>
            <a:r>
              <a:rPr lang="en-GB" sz="2400" dirty="0"/>
              <a:t>is updated by backprop. </a:t>
            </a:r>
            <a:r>
              <a:rPr lang="en-GB" sz="2400" dirty="0" err="1"/>
              <a:t>θ</a:t>
            </a:r>
            <a:r>
              <a:rPr lang="en-GB" sz="2400" baseline="-25000" dirty="0" err="1"/>
              <a:t>q</a:t>
            </a:r>
            <a:r>
              <a:rPr lang="en-GB" sz="2400" baseline="-25000" dirty="0"/>
              <a:t> </a:t>
            </a:r>
            <a:r>
              <a:rPr lang="en-GB" sz="2400" dirty="0"/>
              <a:t>evolves more smoothly (keys in the queue are encoded by different encoders – different mini-batches – their difference is not that big)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Use a large momentum m = 0.999</a:t>
            </a:r>
            <a:endParaRPr lang="en-GB" sz="2400" baseline="-25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F188B98-4C16-ECEE-BF80-D85E8A120D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24"/>
          <a:stretch>
            <a:fillRect/>
          </a:stretch>
        </p:blipFill>
        <p:spPr bwMode="auto">
          <a:xfrm>
            <a:off x="8196942" y="1965207"/>
            <a:ext cx="3169444" cy="378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85B6DC-7559-C6E1-3A9F-79DD1067E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36" y="3309254"/>
            <a:ext cx="4049528" cy="67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58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DE2CB-EC4B-7ECD-5D62-0E858FBCE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MoCo</a:t>
            </a:r>
            <a:br>
              <a:rPr lang="en-GB" dirty="0"/>
            </a:br>
            <a:r>
              <a:rPr lang="en-GB" sz="3200" dirty="0"/>
              <a:t>Pretext task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06481-6DB4-6CB6-40EE-FB204179F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a query and a key are a positive pair if they originate from the same image, and otherwise as a negative sample pair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Take two random “views” of the same image under random data augmentation to form a positive pair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The data augmentation setting: a 224x224-pixel crop is taken from a randomly resized image, and then undergoes random </a:t>
            </a:r>
            <a:r>
              <a:rPr lang="en-GB" sz="2200" dirty="0" err="1"/>
              <a:t>color</a:t>
            </a:r>
            <a:r>
              <a:rPr lang="en-GB" sz="2200" dirty="0"/>
              <a:t> jittering, random horizontal flip, and random grayscale conversion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Queries and keys are encoded by two different encoders </a:t>
            </a:r>
            <a:r>
              <a:rPr lang="en-GB" sz="2200" dirty="0" err="1"/>
              <a:t>f</a:t>
            </a:r>
            <a:r>
              <a:rPr lang="en-GB" sz="2200" baseline="-25000" dirty="0" err="1"/>
              <a:t>q</a:t>
            </a:r>
            <a:r>
              <a:rPr lang="en-GB" sz="2200" dirty="0"/>
              <a:t> and </a:t>
            </a:r>
            <a:r>
              <a:rPr lang="en-GB" sz="2200" dirty="0" err="1"/>
              <a:t>f</a:t>
            </a:r>
            <a:r>
              <a:rPr lang="en-GB" sz="2200" baseline="-25000" dirty="0" err="1"/>
              <a:t>k</a:t>
            </a:r>
            <a:endParaRPr lang="en-US" sz="2200" baseline="-25000" dirty="0"/>
          </a:p>
        </p:txBody>
      </p:sp>
    </p:spTree>
    <p:extLst>
      <p:ext uri="{BB962C8B-B14F-4D97-AF65-F5344CB8AC3E}">
        <p14:creationId xmlns:p14="http://schemas.microsoft.com/office/powerpoint/2010/main" val="3046452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4C877-731F-A955-B84E-7804454F7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58101-F015-07B1-59CF-76C5B0843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3E26CB-941A-E39F-C1CB-E4E1BCD23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1" y="0"/>
            <a:ext cx="5468800" cy="6677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67772F-39FF-FE64-675E-51DD5FB63BA4}"/>
              </a:ext>
            </a:extLst>
          </p:cNvPr>
          <p:cNvSpPr txBox="1"/>
          <p:nvPr/>
        </p:nvSpPr>
        <p:spPr>
          <a:xfrm>
            <a:off x="6126480" y="23952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Key encoder starts as an exact copy of the query encoder.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5EBF78-8403-1889-9AC4-10C97C34C099}"/>
              </a:ext>
            </a:extLst>
          </p:cNvPr>
          <p:cNvCxnSpPr/>
          <p:nvPr/>
        </p:nvCxnSpPr>
        <p:spPr>
          <a:xfrm flipH="1" flipV="1">
            <a:off x="3516086" y="1502229"/>
            <a:ext cx="2610394" cy="1034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063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DEE52-881A-DAB5-6750-C0F86203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7DBD-C295-CDF3-BC18-20EB693C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C78B9-CCCE-078C-0714-BAECF0034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61B0C-133F-BF5E-6E81-95C4400C4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1" y="0"/>
            <a:ext cx="5468800" cy="6677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1F64C5-93B9-1ECD-681D-5C2997766261}"/>
              </a:ext>
            </a:extLst>
          </p:cNvPr>
          <p:cNvSpPr txBox="1"/>
          <p:nvPr/>
        </p:nvSpPr>
        <p:spPr>
          <a:xfrm>
            <a:off x="6126480" y="23952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Two independent random augmentations of the same batch. </a:t>
            </a:r>
            <a:r>
              <a:rPr lang="en-GB" dirty="0" err="1">
                <a:solidFill>
                  <a:srgbClr val="FF0000"/>
                </a:solidFill>
              </a:rPr>
              <a:t>x_q</a:t>
            </a:r>
            <a:r>
              <a:rPr lang="en-GB" dirty="0">
                <a:solidFill>
                  <a:srgbClr val="FF0000"/>
                </a:solidFill>
              </a:rPr>
              <a:t> and </a:t>
            </a:r>
            <a:r>
              <a:rPr lang="en-GB" dirty="0" err="1">
                <a:solidFill>
                  <a:srgbClr val="FF0000"/>
                </a:solidFill>
              </a:rPr>
              <a:t>x_k</a:t>
            </a:r>
            <a:r>
              <a:rPr lang="en-GB" dirty="0">
                <a:solidFill>
                  <a:srgbClr val="FF0000"/>
                </a:solidFill>
              </a:rPr>
              <a:t> look different but contain the same images. One will produce the query, one the positive key.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060AEA-0D16-5FB8-1CD2-D515603227F0}"/>
              </a:ext>
            </a:extLst>
          </p:cNvPr>
          <p:cNvCxnSpPr>
            <a:cxnSpLocks/>
          </p:cNvCxnSpPr>
          <p:nvPr/>
        </p:nvCxnSpPr>
        <p:spPr>
          <a:xfrm flipH="1" flipV="1">
            <a:off x="2013857" y="1845734"/>
            <a:ext cx="4112623" cy="8128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111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03E6-4019-99BA-5189-DD34CF13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80FF-678C-09FA-C16C-D84EC641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A66D0-952C-59BA-CF60-2D8632E1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D5A519-CA49-BF7E-8632-45D12E734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1" y="0"/>
            <a:ext cx="5468800" cy="6677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AEAA45-B4E0-3CDD-0DE7-48AC8A8FB1EB}"/>
              </a:ext>
            </a:extLst>
          </p:cNvPr>
          <p:cNvSpPr txBox="1"/>
          <p:nvPr/>
        </p:nvSpPr>
        <p:spPr>
          <a:xfrm>
            <a:off x="6126480" y="23952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FW pass. N – images, C – dimensionality each</a:t>
            </a:r>
          </a:p>
          <a:p>
            <a:r>
              <a:rPr lang="en-GB" b="1" dirty="0">
                <a:solidFill>
                  <a:srgbClr val="FF0000"/>
                </a:solidFill>
              </a:rPr>
              <a:t>Cut the gradient through the key encoder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EFA5E8-8840-8321-EE71-2B8A792E7418}"/>
              </a:ext>
            </a:extLst>
          </p:cNvPr>
          <p:cNvCxnSpPr>
            <a:cxnSpLocks/>
          </p:cNvCxnSpPr>
          <p:nvPr/>
        </p:nvCxnSpPr>
        <p:spPr>
          <a:xfrm flipH="1" flipV="1">
            <a:off x="3004457" y="2395248"/>
            <a:ext cx="3122023" cy="1411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923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A4BA-F7AA-3408-51B5-4DA0C9E6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9A24D-0A79-2BCB-F903-A6093B9AE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DE4D1-4B57-902D-B2FA-F876F8C37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B0D7BB-CB40-B72E-9C6D-67C6FF922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1" y="0"/>
            <a:ext cx="5468800" cy="6677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3661CD-EDCC-5A59-0F53-385158BF20E1}"/>
              </a:ext>
            </a:extLst>
          </p:cNvPr>
          <p:cNvSpPr txBox="1"/>
          <p:nvPr/>
        </p:nvSpPr>
        <p:spPr>
          <a:xfrm>
            <a:off x="6126480" y="239524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Batched matrix multiply</a:t>
            </a:r>
            <a:r>
              <a:rPr lang="en-GB" dirty="0">
                <a:solidFill>
                  <a:srgbClr val="FF0000"/>
                </a:solidFill>
              </a:rPr>
              <a:t> between query and its corresponding positive key</a:t>
            </a:r>
          </a:p>
          <a:p>
            <a:r>
              <a:rPr lang="en-GB" dirty="0" err="1">
                <a:solidFill>
                  <a:srgbClr val="FF0000"/>
                </a:solidFill>
              </a:rPr>
              <a:t>q.view</a:t>
            </a:r>
            <a:r>
              <a:rPr lang="en-GB" dirty="0">
                <a:solidFill>
                  <a:srgbClr val="FF0000"/>
                </a:solidFill>
              </a:rPr>
              <a:t>(N,1,C) -&gt; (N, 1, C) </a:t>
            </a:r>
          </a:p>
          <a:p>
            <a:r>
              <a:rPr lang="en-GB" dirty="0" err="1">
                <a:solidFill>
                  <a:srgbClr val="FF0000"/>
                </a:solidFill>
              </a:rPr>
              <a:t>k.view</a:t>
            </a:r>
            <a:r>
              <a:rPr lang="en-GB" dirty="0">
                <a:solidFill>
                  <a:srgbClr val="FF0000"/>
                </a:solidFill>
              </a:rPr>
              <a:t>(N,C,1) -&gt; (N, C, 1)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The </a:t>
            </a:r>
            <a:r>
              <a:rPr lang="en-GB" dirty="0" err="1">
                <a:solidFill>
                  <a:srgbClr val="FF0000"/>
                </a:solidFill>
              </a:rPr>
              <a:t>bmm</a:t>
            </a:r>
            <a:r>
              <a:rPr lang="en-GB" dirty="0">
                <a:solidFill>
                  <a:srgbClr val="FF0000"/>
                </a:solidFill>
              </a:rPr>
              <a:t> result shape: </a:t>
            </a:r>
            <a:r>
              <a:rPr lang="en-GB" b="1" dirty="0">
                <a:solidFill>
                  <a:srgbClr val="FF0000"/>
                </a:solidFill>
              </a:rPr>
              <a:t>(Nx1x1)</a:t>
            </a:r>
            <a:r>
              <a:rPr lang="en-GB" dirty="0">
                <a:solidFill>
                  <a:srgbClr val="FF0000"/>
                </a:solidFill>
              </a:rPr>
              <a:t> -&gt; </a:t>
            </a:r>
            <a:r>
              <a:rPr lang="en-GB" b="1" dirty="0">
                <a:solidFill>
                  <a:srgbClr val="FF0000"/>
                </a:solidFill>
              </a:rPr>
              <a:t>(Nx1)</a:t>
            </a:r>
          </a:p>
          <a:p>
            <a:endParaRPr lang="en-GB" b="1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Each of the N images gets one scalar: the dot product between its query and its own positive key. 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High value = good alignment.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ADFD0E-DBA5-D175-9D3C-067B30DACA3D}"/>
              </a:ext>
            </a:extLst>
          </p:cNvPr>
          <p:cNvCxnSpPr>
            <a:cxnSpLocks/>
          </p:cNvCxnSpPr>
          <p:nvPr/>
        </p:nvCxnSpPr>
        <p:spPr>
          <a:xfrm flipH="1">
            <a:off x="3015343" y="2536371"/>
            <a:ext cx="3111137" cy="468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147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AC876-FCA0-4D74-8E78-7588BE86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A8F5-B531-FD93-CD47-976089AD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44354-362D-1E62-9E1D-66B1556E7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FB10E3-88F2-AB76-6469-100C5FF8D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1" y="0"/>
            <a:ext cx="5468800" cy="6677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1BA012-BD80-3CD3-A589-69932C394420}"/>
              </a:ext>
            </a:extLst>
          </p:cNvPr>
          <p:cNvSpPr txBox="1"/>
          <p:nvPr/>
        </p:nvSpPr>
        <p:spPr>
          <a:xfrm>
            <a:off x="6126480" y="239524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Matrix multiply </a:t>
            </a:r>
            <a:r>
              <a:rPr lang="en-GB" dirty="0">
                <a:solidFill>
                  <a:srgbClr val="FF0000"/>
                </a:solidFill>
              </a:rPr>
              <a:t>between all queries and all queued keys. 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Shape: (</a:t>
            </a:r>
            <a:r>
              <a:rPr lang="en-GB" dirty="0" err="1">
                <a:solidFill>
                  <a:srgbClr val="FF0000"/>
                </a:solidFill>
              </a:rPr>
              <a:t>NxC</a:t>
            </a:r>
            <a:r>
              <a:rPr lang="en-GB" dirty="0">
                <a:solidFill>
                  <a:srgbClr val="FF0000"/>
                </a:solidFill>
              </a:rPr>
              <a:t>) · (</a:t>
            </a:r>
            <a:r>
              <a:rPr lang="en-GB" dirty="0" err="1">
                <a:solidFill>
                  <a:srgbClr val="FF0000"/>
                </a:solidFill>
              </a:rPr>
              <a:t>CxK</a:t>
            </a:r>
            <a:r>
              <a:rPr lang="en-GB" dirty="0">
                <a:solidFill>
                  <a:srgbClr val="FF0000"/>
                </a:solidFill>
              </a:rPr>
              <a:t>) = </a:t>
            </a:r>
            <a:r>
              <a:rPr lang="en-GB" b="1" dirty="0">
                <a:solidFill>
                  <a:srgbClr val="FF0000"/>
                </a:solidFill>
              </a:rPr>
              <a:t>(</a:t>
            </a:r>
            <a:r>
              <a:rPr lang="en-GB" b="1" dirty="0" err="1">
                <a:solidFill>
                  <a:srgbClr val="FF0000"/>
                </a:solidFill>
              </a:rPr>
              <a:t>NxK</a:t>
            </a:r>
            <a:r>
              <a:rPr lang="en-GB" b="1" dirty="0">
                <a:solidFill>
                  <a:srgbClr val="FF0000"/>
                </a:solidFill>
              </a:rPr>
              <a:t>)</a:t>
            </a:r>
            <a:r>
              <a:rPr lang="en-GB" dirty="0">
                <a:solidFill>
                  <a:srgbClr val="FF0000"/>
                </a:solidFill>
              </a:rPr>
              <a:t>. K queue size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Every query is compared against every key in the </a:t>
            </a:r>
            <a:r>
              <a:rPr lang="en-GB" b="1" dirty="0">
                <a:solidFill>
                  <a:srgbClr val="FF0000"/>
                </a:solidFill>
              </a:rPr>
              <a:t>queue</a:t>
            </a:r>
            <a:r>
              <a:rPr lang="en-GB" dirty="0">
                <a:solidFill>
                  <a:srgbClr val="FF0000"/>
                </a:solidFill>
              </a:rPr>
              <a:t>.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CDD718-4A33-CF32-6FE6-114AFD274CEB}"/>
              </a:ext>
            </a:extLst>
          </p:cNvPr>
          <p:cNvCxnSpPr>
            <a:cxnSpLocks/>
          </p:cNvCxnSpPr>
          <p:nvPr/>
        </p:nvCxnSpPr>
        <p:spPr>
          <a:xfrm flipH="1">
            <a:off x="3080657" y="2536371"/>
            <a:ext cx="3045823" cy="8926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735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3662-105B-D325-DE09-B928A04E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818AF-1A81-2167-69F5-D6711574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768D3-9CFD-5CA5-4C31-29B8C694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5F4B1-DADA-C04F-0B1D-E9883E1F6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1" y="0"/>
            <a:ext cx="5468800" cy="6677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45AA88-8544-7DBE-F3A9-6B4446C234F6}"/>
              </a:ext>
            </a:extLst>
          </p:cNvPr>
          <p:cNvSpPr txBox="1"/>
          <p:nvPr/>
        </p:nvSpPr>
        <p:spPr>
          <a:xfrm>
            <a:off x="6126480" y="239524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Concatenate positive and negative logits along the key dimension</a:t>
            </a:r>
          </a:p>
          <a:p>
            <a:r>
              <a:rPr lang="en-GB" dirty="0">
                <a:solidFill>
                  <a:srgbClr val="FF0000"/>
                </a:solidFill>
              </a:rPr>
              <a:t> Shape: </a:t>
            </a:r>
            <a:r>
              <a:rPr lang="en-GB" b="1" dirty="0">
                <a:solidFill>
                  <a:srgbClr val="FF0000"/>
                </a:solidFill>
              </a:rPr>
              <a:t>(N x (1+K))</a:t>
            </a:r>
          </a:p>
          <a:p>
            <a:endParaRPr lang="en-GB" b="1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 The positive is at </a:t>
            </a:r>
            <a:r>
              <a:rPr lang="en-GB" b="1" dirty="0">
                <a:solidFill>
                  <a:srgbClr val="FF0000"/>
                </a:solidFill>
              </a:rPr>
              <a:t>index 0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59C74C-09D0-A858-2445-36B8CDA44B18}"/>
              </a:ext>
            </a:extLst>
          </p:cNvPr>
          <p:cNvCxnSpPr>
            <a:cxnSpLocks/>
          </p:cNvCxnSpPr>
          <p:nvPr/>
        </p:nvCxnSpPr>
        <p:spPr>
          <a:xfrm flipH="1">
            <a:off x="3124200" y="2536371"/>
            <a:ext cx="3002280" cy="1426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749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E2E1-5309-0A0C-FD5F-39BF537D0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FE6BA-323F-A6B2-FAC7-97724A58B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16762-3D7A-73FA-04FF-D804248E8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9E9A0-4101-B2B7-189C-687785926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1" y="0"/>
            <a:ext cx="5468800" cy="6677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325E98-2A4C-AF94-FDE2-C8BAA7880F3C}"/>
              </a:ext>
            </a:extLst>
          </p:cNvPr>
          <p:cNvSpPr txBox="1"/>
          <p:nvPr/>
        </p:nvSpPr>
        <p:spPr>
          <a:xfrm>
            <a:off x="6126480" y="239524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labels -&gt; the correct answer is always at index 0 (the positive). 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logits/t -&gt; apply the temperature before the </a:t>
            </a:r>
            <a:r>
              <a:rPr lang="en-GB" dirty="0" err="1">
                <a:solidFill>
                  <a:srgbClr val="FF0000"/>
                </a:solidFill>
              </a:rPr>
              <a:t>softmax</a:t>
            </a:r>
            <a:r>
              <a:rPr lang="en-GB" dirty="0">
                <a:solidFill>
                  <a:srgbClr val="FF0000"/>
                </a:solidFill>
              </a:rPr>
              <a:t> inside </a:t>
            </a:r>
            <a:r>
              <a:rPr lang="en-GB" dirty="0" err="1">
                <a:solidFill>
                  <a:srgbClr val="FF0000"/>
                </a:solidFill>
              </a:rPr>
              <a:t>CrossEntropyLoss</a:t>
            </a:r>
            <a:r>
              <a:rPr lang="en-GB" dirty="0">
                <a:solidFill>
                  <a:srgbClr val="FF0000"/>
                </a:solidFill>
              </a:rPr>
              <a:t>. 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Low t sharpens the distribution and focuses gradients on hard negatives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520C6E-418E-886B-D2A0-A48DB5F2DAF5}"/>
              </a:ext>
            </a:extLst>
          </p:cNvPr>
          <p:cNvCxnSpPr>
            <a:cxnSpLocks/>
          </p:cNvCxnSpPr>
          <p:nvPr/>
        </p:nvCxnSpPr>
        <p:spPr>
          <a:xfrm flipH="1">
            <a:off x="2634343" y="2536371"/>
            <a:ext cx="3492137" cy="1915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606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90F5-AEF9-8CB5-66B2-3E9CA215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1AD4-7337-39E1-D5D5-EDFE32A25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26AD-04D3-F7EE-20F4-B0A5FA2E5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2620F-8AFF-3AE6-D92A-9DAA31303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1" y="0"/>
            <a:ext cx="5468800" cy="6677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1DB8E4-EBF9-C5BE-5607-1F0970C768EE}"/>
              </a:ext>
            </a:extLst>
          </p:cNvPr>
          <p:cNvSpPr txBox="1"/>
          <p:nvPr/>
        </p:nvSpPr>
        <p:spPr>
          <a:xfrm>
            <a:off x="6126480" y="23952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Gradients flow only through the query encoder. </a:t>
            </a:r>
            <a:r>
              <a:rPr lang="en-GB" dirty="0" err="1">
                <a:solidFill>
                  <a:srgbClr val="FF0000"/>
                </a:solidFill>
              </a:rPr>
              <a:t>f_k</a:t>
            </a:r>
            <a:r>
              <a:rPr lang="en-GB" dirty="0">
                <a:solidFill>
                  <a:srgbClr val="FF0000"/>
                </a:solidFill>
              </a:rPr>
              <a:t> was detached. Only </a:t>
            </a:r>
            <a:r>
              <a:rPr lang="en-GB" dirty="0" err="1">
                <a:solidFill>
                  <a:srgbClr val="FF0000"/>
                </a:solidFill>
              </a:rPr>
              <a:t>f_q's</a:t>
            </a:r>
            <a:r>
              <a:rPr lang="en-GB" dirty="0">
                <a:solidFill>
                  <a:srgbClr val="FF0000"/>
                </a:solidFill>
              </a:rPr>
              <a:t> parameters are updated.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1718EC-48DA-CB65-D86C-E65E608F8997}"/>
              </a:ext>
            </a:extLst>
          </p:cNvPr>
          <p:cNvCxnSpPr>
            <a:cxnSpLocks/>
          </p:cNvCxnSpPr>
          <p:nvPr/>
        </p:nvCxnSpPr>
        <p:spPr>
          <a:xfrm flipH="1">
            <a:off x="2416629" y="2536371"/>
            <a:ext cx="3709851" cy="26343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9CF01E4-2A5A-149B-8ADA-EA4BFD76FF01}"/>
              </a:ext>
            </a:extLst>
          </p:cNvPr>
          <p:cNvSpPr txBox="1"/>
          <p:nvPr/>
        </p:nvSpPr>
        <p:spPr>
          <a:xfrm>
            <a:off x="5889171" y="388619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EMA update of the key encoder</a:t>
            </a:r>
          </a:p>
          <a:p>
            <a:r>
              <a:rPr lang="en-GB" dirty="0">
                <a:solidFill>
                  <a:srgbClr val="FF0000"/>
                </a:solidFill>
              </a:rPr>
              <a:t>m = 0.999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b="1" dirty="0" err="1">
                <a:solidFill>
                  <a:srgbClr val="FF0000"/>
                </a:solidFill>
              </a:rPr>
              <a:t>f_k</a:t>
            </a:r>
            <a:r>
              <a:rPr lang="en-GB" b="1" dirty="0">
                <a:solidFill>
                  <a:srgbClr val="FF0000"/>
                </a:solidFill>
              </a:rPr>
              <a:t> slowly and consistently evolving, </a:t>
            </a:r>
            <a:r>
              <a:rPr lang="en-GB" dirty="0">
                <a:solidFill>
                  <a:srgbClr val="FF0000"/>
                </a:solidFill>
              </a:rPr>
              <a:t>to prevent the inconsistency that would occur if </a:t>
            </a:r>
            <a:r>
              <a:rPr lang="en-GB" dirty="0" err="1">
                <a:solidFill>
                  <a:srgbClr val="FF0000"/>
                </a:solidFill>
              </a:rPr>
              <a:t>f_k</a:t>
            </a:r>
            <a:r>
              <a:rPr lang="en-GB" dirty="0">
                <a:solidFill>
                  <a:srgbClr val="FF0000"/>
                </a:solidFill>
              </a:rPr>
              <a:t> changed as fast as </a:t>
            </a:r>
            <a:r>
              <a:rPr lang="en-GB" dirty="0" err="1">
                <a:solidFill>
                  <a:srgbClr val="FF0000"/>
                </a:solidFill>
              </a:rPr>
              <a:t>f_q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A27C98-7B98-5D4B-F6EE-0076D13058B0}"/>
              </a:ext>
            </a:extLst>
          </p:cNvPr>
          <p:cNvCxnSpPr>
            <a:cxnSpLocks/>
          </p:cNvCxnSpPr>
          <p:nvPr/>
        </p:nvCxnSpPr>
        <p:spPr>
          <a:xfrm flipH="1">
            <a:off x="2710543" y="4257683"/>
            <a:ext cx="3354978" cy="14828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027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8A3DE-9A53-EDBE-B42B-CDC10C46C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5AD7-39FC-7B02-6588-C7791A5D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3BDFF-FCDD-E292-4AC3-74A0CE8FF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B32D9-3EF9-C832-ED58-58F59E63B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1" y="0"/>
            <a:ext cx="5468800" cy="66773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AF3B6F-96F7-C118-D69E-FCFF95A6425C}"/>
              </a:ext>
            </a:extLst>
          </p:cNvPr>
          <p:cNvSpPr txBox="1"/>
          <p:nvPr/>
        </p:nvSpPr>
        <p:spPr>
          <a:xfrm>
            <a:off x="5889171" y="388619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FIFO queue update. 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The N fresh keys from this batch are added to the front, and the N oldest keys are removed from the back.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 The queue always holds exactly K keys, all produced by recent versions of </a:t>
            </a:r>
            <a:r>
              <a:rPr lang="en-GB" dirty="0" err="1">
                <a:solidFill>
                  <a:srgbClr val="FF0000"/>
                </a:solidFill>
              </a:rPr>
              <a:t>f_k</a:t>
            </a:r>
            <a:r>
              <a:rPr lang="en-GB" dirty="0">
                <a:solidFill>
                  <a:srgbClr val="FF0000"/>
                </a:solidFill>
              </a:rPr>
              <a:t>. MoCo gets 65536 negatives at batch size 256 and queue size the 256 previous batches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3A9C19-3BA0-3A9E-49F2-447E4E0D5656}"/>
              </a:ext>
            </a:extLst>
          </p:cNvPr>
          <p:cNvCxnSpPr>
            <a:cxnSpLocks/>
          </p:cNvCxnSpPr>
          <p:nvPr/>
        </p:nvCxnSpPr>
        <p:spPr>
          <a:xfrm flipH="1">
            <a:off x="2351314" y="4257683"/>
            <a:ext cx="3714207" cy="20995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879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0649-1821-CBCE-4B3E-C89CD12E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MoCo </a:t>
            </a:r>
            <a:br>
              <a:rPr lang="en-GB" dirty="0"/>
            </a:br>
            <a:r>
              <a:rPr lang="en-GB" sz="3200" dirty="0"/>
              <a:t>Results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B509A-0444-AB0C-9ABF-B64CBCE7C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D8DA3-9EB2-B799-CF56-97D22BFE1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537" y="228069"/>
            <a:ext cx="4874805" cy="634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0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AF06-B6DB-644C-5D9F-05ADECA92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MoCo</a:t>
            </a:r>
            <a:br>
              <a:rPr lang="en-GB" dirty="0"/>
            </a:br>
            <a:r>
              <a:rPr lang="en-GB" sz="3200" dirty="0"/>
              <a:t>Object detection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26C34-F2CB-EAC8-18A1-E345BFB76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D9455-70D9-1AB7-E1BD-6CE9E2FAE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550" y="286603"/>
            <a:ext cx="4468678" cy="585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88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1B0A0-1EB9-307E-81C7-41C633FB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MoCo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3FF67-018A-D830-8B08-983294891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MoCo -&gt; a strong pretrained backbone but doesn’t require afford the large-batch compute as other CL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The contrastive objective directly optimizes instance discrimination, each image gets a unique identity in the embedding space -&gt; MoCo features well-calibrated for distance-based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Use MoCo for image retrieval and similarity search, where cosine similarity between features is meaningful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MoCo falls short at dense prediction. The final global average pool vector captures </a:t>
            </a:r>
            <a:r>
              <a:rPr lang="en-GB" sz="2400" b="1" i="1" dirty="0"/>
              <a:t>what</a:t>
            </a:r>
            <a:r>
              <a:rPr lang="en-GB" sz="2400" dirty="0"/>
              <a:t> is in the image but not </a:t>
            </a:r>
            <a:r>
              <a:rPr lang="en-GB" sz="2400" b="1" i="1" dirty="0"/>
              <a:t>where</a:t>
            </a:r>
            <a:r>
              <a:rPr lang="en-GB" sz="2400" dirty="0"/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21444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BEA699-2493-EF3F-1318-0EDEF067D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Self-distillation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B7C8083-E531-F839-A418-0BB8F382F0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/>
              <a:t>Emerging Properties in Self-Supervised Vision Transformers (DINO)</a:t>
            </a:r>
            <a:endParaRPr lang="en-US" b="1" dirty="0"/>
          </a:p>
          <a:p>
            <a:r>
              <a:rPr lang="en-US" b="1">
                <a:hlinkClick r:id="rId2"/>
              </a:rPr>
              <a:t>https://arxiv.org/abs/2104.14294</a:t>
            </a:r>
            <a:r>
              <a:rPr lang="en-US" b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7149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7B74-32C0-20E4-21F3-5740457D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DINO</a:t>
            </a:r>
            <a:br>
              <a:rPr lang="en-US"/>
            </a:br>
            <a:r>
              <a:rPr lang="en-US" sz="3600"/>
              <a:t>Knowledge distillation (KD)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720D-240B-EB29-BB04-568DF2D33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Knowledge distillation is a learning paradigm in which a student network </a:t>
            </a:r>
            <a:r>
              <a:rPr lang="en-US" dirty="0" err="1"/>
              <a:t>g</a:t>
            </a:r>
            <a:r>
              <a:rPr lang="en-US" baseline="-25000" dirty="0" err="1"/>
              <a:t>θs</a:t>
            </a:r>
            <a:r>
              <a:rPr lang="en-US" dirty="0"/>
              <a:t> is trained to match the output of a given teacher network </a:t>
            </a:r>
            <a:r>
              <a:rPr lang="en-US" dirty="0" err="1"/>
              <a:t>g</a:t>
            </a:r>
            <a:r>
              <a:rPr lang="en-US" baseline="-25000" dirty="0" err="1"/>
              <a:t>θt</a:t>
            </a:r>
            <a:endParaRPr lang="en-US" baseline="-25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Ps(x) and Pt(x), student and teacher </a:t>
            </a:r>
            <a:r>
              <a:rPr lang="en-US" dirty="0" err="1"/>
              <a:t>predicitions</a:t>
            </a:r>
            <a:r>
              <a:rPr lang="en-US" dirty="0"/>
              <a:t> (probabilities) for an image x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Given </a:t>
            </a:r>
            <a:r>
              <a:rPr lang="en-US" b="1" dirty="0"/>
              <a:t>a fixed teacher network </a:t>
            </a:r>
            <a:r>
              <a:rPr lang="en-US" dirty="0" err="1"/>
              <a:t>g</a:t>
            </a:r>
            <a:r>
              <a:rPr lang="en-US" baseline="-25000" dirty="0" err="1"/>
              <a:t>θt</a:t>
            </a:r>
            <a:r>
              <a:rPr lang="en-US" dirty="0"/>
              <a:t> , DINO learns to match the student and teacher distributions by minimizing the cross-entropy loss </a:t>
            </a:r>
            <a:r>
              <a:rPr lang="en-US" dirty="0" err="1"/>
              <a:t>w.r.t.</a:t>
            </a:r>
            <a:r>
              <a:rPr lang="en-US" dirty="0"/>
              <a:t> the parameters of the student network </a:t>
            </a:r>
            <a:r>
              <a:rPr lang="en-US" dirty="0" err="1"/>
              <a:t>g</a:t>
            </a:r>
            <a:r>
              <a:rPr lang="en-US" baseline="-25000" dirty="0" err="1"/>
              <a:t>θs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baseline="-25000" dirty="0"/>
          </a:p>
          <a:p>
            <a:pPr>
              <a:buFont typeface="Arial" panose="020B0604020202020204" pitchFamily="34" charset="0"/>
              <a:buChar char="•"/>
            </a:pPr>
            <a:endParaRPr lang="en-US" baseline="-25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B9BD9D-14CF-C604-CC69-4AE7A7D65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53" y="3137172"/>
            <a:ext cx="4553517" cy="10824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84557F-CF3E-6574-5AE7-F68C1554A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21" y="5314320"/>
            <a:ext cx="2198924" cy="5547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57CE3A-9B7C-EA8B-80E1-B5519DEC8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192" y="5314320"/>
            <a:ext cx="2697172" cy="49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49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AB7A-42DB-9DB5-5BF2-AA7FA419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DINO</a:t>
            </a:r>
            <a:br>
              <a:rPr lang="en-US"/>
            </a:br>
            <a:r>
              <a:rPr lang="en-US"/>
              <a:t>KD as self-supervised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A7523-126E-80A6-0F10-C80AAA394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an image </a:t>
            </a:r>
            <a:r>
              <a:rPr lang="en-US" i="1" dirty="0"/>
              <a:t>x, </a:t>
            </a:r>
            <a:r>
              <a:rPr lang="en-US" dirty="0"/>
              <a:t>generate a set V of different views  construct different distorted views, or crops, of </a:t>
            </a:r>
            <a:r>
              <a:rPr lang="en-US" dirty="0" err="1"/>
              <a:t>multicrop</a:t>
            </a:r>
            <a:r>
              <a:rPr lang="en-US" dirty="0"/>
              <a:t> strategy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two global views, x</a:t>
            </a:r>
            <a:r>
              <a:rPr lang="en-US" baseline="-25000" dirty="0"/>
              <a:t>g</a:t>
            </a:r>
            <a:r>
              <a:rPr lang="en-US" baseline="30000" dirty="0"/>
              <a:t>1</a:t>
            </a:r>
            <a:r>
              <a:rPr lang="en-US" dirty="0"/>
              <a:t> and x</a:t>
            </a:r>
            <a:r>
              <a:rPr lang="en-US" baseline="-25000" dirty="0"/>
              <a:t>g</a:t>
            </a:r>
            <a:r>
              <a:rPr lang="en-US" baseline="30000" dirty="0"/>
              <a:t>2</a:t>
            </a:r>
            <a:r>
              <a:rPr lang="en-US" dirty="0"/>
              <a:t>  (224</a:t>
            </a:r>
            <a:r>
              <a:rPr lang="en-US" baseline="30000" dirty="0"/>
              <a:t>2 </a:t>
            </a:r>
            <a:r>
              <a:rPr lang="en-US" dirty="0"/>
              <a:t>covering &gt; 50% of the image)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several local views of smaller resolution (96</a:t>
            </a:r>
            <a:r>
              <a:rPr lang="en-US" baseline="30000" dirty="0"/>
              <a:t>2 </a:t>
            </a:r>
            <a:r>
              <a:rPr lang="en-US" dirty="0"/>
              <a:t>covering smaller areas, &lt; 50% of the image)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All crops</a:t>
            </a:r>
            <a:r>
              <a:rPr lang="en-US" dirty="0"/>
              <a:t> are passed through the </a:t>
            </a:r>
            <a:r>
              <a:rPr lang="en-US" b="1" dirty="0"/>
              <a:t>student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Only the global views</a:t>
            </a:r>
            <a:r>
              <a:rPr lang="en-US" dirty="0"/>
              <a:t> are passed through the teacher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encourages learning “local-to-global” correspondences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Given a different crop of the  image, can the student predict what distribution the teacher produces?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CBB1D-0133-9D84-F8D1-628C2737F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143" y="4302969"/>
            <a:ext cx="4222714" cy="103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07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BBA6-BC6D-A046-4C80-8B6D639AD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DINO</a:t>
            </a:r>
            <a:br>
              <a:rPr lang="en-US"/>
            </a:br>
            <a:r>
              <a:rPr lang="en-US"/>
              <a:t>Teacher and student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A7743-9AFA-3B43-253E-DEB2E90FC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400" dirty="0"/>
              <a:t>Teacher and student share the same architecture with different sets of parameters </a:t>
            </a:r>
            <a:r>
              <a:rPr lang="en-US" sz="2400" dirty="0" err="1"/>
              <a:t>θ</a:t>
            </a:r>
            <a:r>
              <a:rPr lang="en-US" sz="2400" baseline="-25000" dirty="0" err="1"/>
              <a:t>s</a:t>
            </a:r>
            <a:r>
              <a:rPr lang="en-US" sz="2400" dirty="0"/>
              <a:t> and </a:t>
            </a:r>
            <a:r>
              <a:rPr lang="en-US" sz="2400" dirty="0" err="1"/>
              <a:t>θ</a:t>
            </a:r>
            <a:r>
              <a:rPr lang="en-US" sz="2400" baseline="-25000" dirty="0" err="1"/>
              <a:t>t</a:t>
            </a:r>
            <a:r>
              <a:rPr lang="en-US" sz="2400" baseline="-25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NN g is composed of a </a:t>
            </a:r>
            <a:r>
              <a:rPr lang="en-GB" sz="2400" b="1" dirty="0"/>
              <a:t>backbone</a:t>
            </a:r>
            <a:r>
              <a:rPr lang="en-GB" sz="2400" dirty="0"/>
              <a:t> </a:t>
            </a:r>
            <a:r>
              <a:rPr lang="en-GB" sz="2400" i="1" dirty="0"/>
              <a:t>f</a:t>
            </a:r>
            <a:r>
              <a:rPr lang="en-GB" sz="2400" dirty="0"/>
              <a:t> (</a:t>
            </a:r>
            <a:r>
              <a:rPr lang="en-GB" sz="2400" dirty="0" err="1"/>
              <a:t>ViT</a:t>
            </a:r>
            <a:r>
              <a:rPr lang="en-GB" sz="2400" dirty="0"/>
              <a:t> or </a:t>
            </a:r>
            <a:r>
              <a:rPr lang="en-GB" sz="2400" dirty="0" err="1"/>
              <a:t>ResNet</a:t>
            </a:r>
            <a:r>
              <a:rPr lang="en-GB" sz="2400" dirty="0"/>
              <a:t> ), and of a projection head </a:t>
            </a:r>
            <a:r>
              <a:rPr lang="en-GB" sz="2400" i="1" dirty="0"/>
              <a:t>h</a:t>
            </a:r>
            <a:r>
              <a:rPr lang="en-GB" sz="2400" dirty="0"/>
              <a:t>:  g = h ◦ f.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The projection head consists of a 3-layer MLP with hidden size 2048, and a weight normalized fully connected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In downstream tasks use </a:t>
            </a:r>
            <a:r>
              <a:rPr lang="en-GB" sz="2400" b="1" dirty="0"/>
              <a:t>only the backbone </a:t>
            </a:r>
            <a:r>
              <a:rPr lang="en-GB" sz="2400" i="1" dirty="0"/>
              <a:t>f</a:t>
            </a:r>
            <a:r>
              <a:rPr lang="en-GB" sz="2400" dirty="0"/>
              <a:t> output.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Does not use BN in </a:t>
            </a:r>
            <a:r>
              <a:rPr lang="en-US" sz="2400" dirty="0" err="1"/>
              <a:t>ViT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TEACHER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Unlike classical KD, the teacher does not exists </a:t>
            </a:r>
            <a:r>
              <a:rPr lang="en-US" sz="2400" i="1" dirty="0"/>
              <a:t>a priori </a:t>
            </a:r>
            <a:r>
              <a:rPr lang="en-US" sz="2400" dirty="0"/>
              <a:t>and is </a:t>
            </a:r>
            <a:r>
              <a:rPr lang="en-US" sz="2400" b="1" dirty="0"/>
              <a:t>build it from past iterations </a:t>
            </a:r>
            <a:r>
              <a:rPr lang="en-US" sz="2400" dirty="0"/>
              <a:t>of the student network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Use an exponential moving average (EMA) on the student weights: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EFF56-2D3D-23D5-2203-321C1B5F1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172" y="5435710"/>
            <a:ext cx="2347163" cy="3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266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CEE2-17D6-7739-2066-15197CC2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426C9-42D3-0E14-E547-2908AC4A7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0C0AF-4A0E-4ADF-D56E-1E5C13558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177" y="1123750"/>
            <a:ext cx="4915326" cy="4610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8E80B1-B431-6E5C-210D-A405358A0DA3}"/>
              </a:ext>
            </a:extLst>
          </p:cNvPr>
          <p:cNvSpPr txBox="1"/>
          <p:nvPr/>
        </p:nvSpPr>
        <p:spPr>
          <a:xfrm>
            <a:off x="7805892" y="4817071"/>
            <a:ext cx="45167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0" dirty="0">
                <a:solidFill>
                  <a:srgbClr val="FF0000"/>
                </a:solidFill>
                <a:effectLst/>
                <a:latin typeface="Anthropic Sans"/>
              </a:rPr>
              <a:t>The student must predict the teacher's distribution from a </a:t>
            </a:r>
            <a:r>
              <a:rPr lang="en-GB" b="1" i="1" dirty="0">
                <a:solidFill>
                  <a:srgbClr val="FF0000"/>
                </a:solidFill>
                <a:effectLst/>
                <a:latin typeface="Anthropic Sans"/>
              </a:rPr>
              <a:t>different</a:t>
            </a:r>
            <a:r>
              <a:rPr lang="en-GB" b="0" i="0" dirty="0">
                <a:solidFill>
                  <a:srgbClr val="FF0000"/>
                </a:solidFill>
                <a:effectLst/>
                <a:latin typeface="Anthropic Sans"/>
              </a:rPr>
              <a:t> crop. Same-view pairs are never used. </a:t>
            </a:r>
          </a:p>
          <a:p>
            <a:pPr algn="l">
              <a:buNone/>
            </a:pPr>
            <a:r>
              <a:rPr lang="en-GB" dirty="0">
                <a:solidFill>
                  <a:srgbClr val="FF0000"/>
                </a:solidFill>
                <a:latin typeface="Anthropic Sans"/>
              </a:rPr>
              <a:t>-&gt; </a:t>
            </a:r>
            <a:r>
              <a:rPr lang="en-GB" b="0" i="0" dirty="0">
                <a:solidFill>
                  <a:srgbClr val="FF0000"/>
                </a:solidFill>
                <a:effectLst/>
                <a:latin typeface="Anthropic Sans"/>
              </a:rPr>
              <a:t>view-invariant, semantic representations</a:t>
            </a:r>
          </a:p>
          <a:p>
            <a:pPr>
              <a:buNone/>
            </a:pPr>
            <a:br>
              <a:rPr lang="en-GB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658B8A-D81E-D926-8762-060565D1F37E}"/>
              </a:ext>
            </a:extLst>
          </p:cNvPr>
          <p:cNvCxnSpPr/>
          <p:nvPr/>
        </p:nvCxnSpPr>
        <p:spPr>
          <a:xfrm flipH="1" flipV="1">
            <a:off x="7075714" y="4909457"/>
            <a:ext cx="730178" cy="642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EEEC86-2F6A-3999-B7A2-8AF59061677D}"/>
              </a:ext>
            </a:extLst>
          </p:cNvPr>
          <p:cNvCxnSpPr>
            <a:cxnSpLocks/>
          </p:cNvCxnSpPr>
          <p:nvPr/>
        </p:nvCxnSpPr>
        <p:spPr>
          <a:xfrm flipH="1" flipV="1">
            <a:off x="4506686" y="4909457"/>
            <a:ext cx="3299206" cy="6297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3F627-73E6-65E1-6C04-437E15CA6AC1}"/>
              </a:ext>
            </a:extLst>
          </p:cNvPr>
          <p:cNvSpPr txBox="1"/>
          <p:nvPr/>
        </p:nvSpPr>
        <p:spPr>
          <a:xfrm>
            <a:off x="8229600" y="2967335"/>
            <a:ext cx="396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FF0000"/>
                </a:solidFill>
                <a:effectLst/>
                <a:latin typeface="ui-monospace"/>
              </a:rPr>
              <a:t>EMA </a:t>
            </a:r>
            <a:r>
              <a:rPr lang="en-GB" dirty="0">
                <a:solidFill>
                  <a:srgbClr val="FF0000"/>
                </a:solidFill>
                <a:latin typeface="ui-monospace"/>
              </a:rPr>
              <a:t>teaches </a:t>
            </a:r>
            <a:r>
              <a:rPr lang="en-GB" b="0" i="0" dirty="0" err="1">
                <a:solidFill>
                  <a:srgbClr val="FF0000"/>
                </a:solidFill>
                <a:effectLst/>
                <a:latin typeface="ui-monospace"/>
              </a:rPr>
              <a:t>gt</a:t>
            </a:r>
            <a:r>
              <a:rPr lang="en-GB" b="0" i="0" dirty="0">
                <a:solidFill>
                  <a:srgbClr val="FF0000"/>
                </a:solidFill>
                <a:effectLst/>
                <a:latin typeface="ui-monospace"/>
              </a:rPr>
              <a:t> ← </a:t>
            </a:r>
            <a:r>
              <a:rPr lang="en-GB" b="0" i="0" dirty="0" err="1">
                <a:solidFill>
                  <a:srgbClr val="FF0000"/>
                </a:solidFill>
                <a:effectLst/>
                <a:latin typeface="ui-monospace"/>
              </a:rPr>
              <a:t>λ·gt</a:t>
            </a:r>
            <a:r>
              <a:rPr lang="en-GB" b="0" i="0" dirty="0">
                <a:solidFill>
                  <a:srgbClr val="FF0000"/>
                </a:solidFill>
                <a:effectLst/>
                <a:latin typeface="ui-monospace"/>
              </a:rPr>
              <a:t> + (1−λ)·</a:t>
            </a:r>
            <a:r>
              <a:rPr lang="en-GB" b="0" i="0" dirty="0" err="1">
                <a:solidFill>
                  <a:srgbClr val="FF0000"/>
                </a:solidFill>
                <a:effectLst/>
                <a:latin typeface="ui-monospace"/>
              </a:rPr>
              <a:t>gs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b="0" i="0" dirty="0">
                <a:solidFill>
                  <a:srgbClr val="FF0000"/>
                </a:solidFill>
                <a:effectLst/>
                <a:latin typeface="Anthropic Sans"/>
              </a:rPr>
              <a:t>λ </a:t>
            </a:r>
            <a:r>
              <a:rPr lang="en-GB" dirty="0">
                <a:solidFill>
                  <a:srgbClr val="FF0000"/>
                </a:solidFill>
                <a:latin typeface="Anthropic Sans"/>
              </a:rPr>
              <a:t>goes</a:t>
            </a:r>
            <a:r>
              <a:rPr lang="en-GB" b="0" i="0" dirty="0">
                <a:solidFill>
                  <a:srgbClr val="FF0000"/>
                </a:solidFill>
                <a:effectLst/>
                <a:latin typeface="Anthropic Sans"/>
              </a:rPr>
              <a:t> from 0.996 </a:t>
            </a:r>
            <a:r>
              <a:rPr lang="en-GB" dirty="0" err="1">
                <a:solidFill>
                  <a:srgbClr val="FF0000"/>
                </a:solidFill>
                <a:latin typeface="Anthropic Sans"/>
              </a:rPr>
              <a:t>tp</a:t>
            </a:r>
            <a:r>
              <a:rPr lang="en-GB" dirty="0">
                <a:solidFill>
                  <a:srgbClr val="FF0000"/>
                </a:solidFill>
                <a:latin typeface="Anthropic Sans"/>
              </a:rPr>
              <a:t> </a:t>
            </a:r>
            <a:r>
              <a:rPr lang="en-GB" b="0" i="0" dirty="0">
                <a:solidFill>
                  <a:srgbClr val="FF0000"/>
                </a:solidFill>
                <a:effectLst/>
                <a:latin typeface="Anthropic Sans"/>
              </a:rPr>
              <a:t>1 during training. </a:t>
            </a:r>
          </a:p>
          <a:p>
            <a:r>
              <a:rPr lang="en-GB" b="0" i="0" dirty="0">
                <a:solidFill>
                  <a:srgbClr val="FF0000"/>
                </a:solidFill>
                <a:effectLst/>
                <a:latin typeface="Anthropic Sans"/>
              </a:rPr>
              <a:t>Teacher is a </a:t>
            </a:r>
            <a:r>
              <a:rPr lang="en-GB" b="1" i="0" dirty="0">
                <a:solidFill>
                  <a:srgbClr val="FF0000"/>
                </a:solidFill>
                <a:effectLst/>
                <a:latin typeface="Anthropic Sans"/>
              </a:rPr>
              <a:t>stable</a:t>
            </a:r>
            <a:r>
              <a:rPr lang="en-GB" b="0" i="0" dirty="0">
                <a:solidFill>
                  <a:srgbClr val="FF0000"/>
                </a:solidFill>
                <a:effectLst/>
                <a:latin typeface="Anthropic Sans"/>
              </a:rPr>
              <a:t> moving target.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E04516-B37A-1D86-2713-86F5610457CD}"/>
              </a:ext>
            </a:extLst>
          </p:cNvPr>
          <p:cNvCxnSpPr>
            <a:cxnSpLocks/>
          </p:cNvCxnSpPr>
          <p:nvPr/>
        </p:nvCxnSpPr>
        <p:spPr>
          <a:xfrm flipH="1">
            <a:off x="5730911" y="3233057"/>
            <a:ext cx="2353663" cy="7079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073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72A7-00B2-F2C8-5B28-77E4D7E0E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312F1-70BA-2B5D-3855-4CCD26E7F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COLLAPSE: trivial optimal solution is for both networks to </a:t>
            </a:r>
            <a:r>
              <a:rPr lang="en-GB" sz="2400" u="sng" dirty="0"/>
              <a:t>output the same constant distribution 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GB" sz="2400" b="1" i="1" dirty="0" err="1"/>
              <a:t>Centering</a:t>
            </a:r>
            <a:r>
              <a:rPr lang="en-GB" sz="2400" dirty="0"/>
              <a:t>: subtract running mean c from teacher logits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/>
              <a:t>Prevents one dimension to dominate, and has a uniformization effect (B batch size)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2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84048" lvl="2" indent="0">
              <a:buNone/>
            </a:pPr>
            <a:endParaRPr lang="en-GB" sz="2000" dirty="0"/>
          </a:p>
          <a:p>
            <a:pPr marL="658368" lvl="1" indent="-457200">
              <a:buFont typeface="+mj-lt"/>
              <a:buAutoNum type="arabicPeriod"/>
            </a:pPr>
            <a:r>
              <a:rPr lang="en-GB" sz="2400" b="1" i="1" dirty="0"/>
              <a:t>Sharpening: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nthropic Sans"/>
              </a:rPr>
              <a:t>low teacher temperature 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nthropic Sans"/>
              </a:rPr>
              <a:t>Opposite effect of sharpening</a:t>
            </a:r>
            <a:endParaRPr lang="en-GB" sz="1800" b="1" i="1" dirty="0"/>
          </a:p>
          <a:p>
            <a:pPr>
              <a:buFont typeface="Arial" panose="020B0604020202020204" pitchFamily="34" charset="0"/>
              <a:buChar char="•"/>
            </a:pPr>
            <a:endParaRPr lang="en-US" sz="24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C8CC9-33C9-DF1C-B6DD-09B24CBC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768" y="3425577"/>
            <a:ext cx="3756975" cy="86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734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9AC53-25D2-E318-894A-70138168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7FF2-A775-AAB6-6615-67C589F3A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B7331-2848-5D6D-7945-96C900E50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526" y="838038"/>
            <a:ext cx="6309907" cy="53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62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A631F-6235-39F3-A438-E8E803634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4DF459-3AA4-05A6-E26E-E7859979D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55" y="413495"/>
            <a:ext cx="6309907" cy="53497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6F26E9-86F9-0DB2-F53E-7FA69C116BB3}"/>
              </a:ext>
            </a:extLst>
          </p:cNvPr>
          <p:cNvSpPr txBox="1"/>
          <p:nvPr/>
        </p:nvSpPr>
        <p:spPr>
          <a:xfrm>
            <a:off x="7511143" y="1043335"/>
            <a:ext cx="3690257" cy="37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ui-monospace"/>
              </a:rPr>
              <a:t>x1, x2  - two different random views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7DFB9F-602F-7219-3F92-A9032C767E94}"/>
              </a:ext>
            </a:extLst>
          </p:cNvPr>
          <p:cNvCxnSpPr>
            <a:cxnSpLocks/>
          </p:cNvCxnSpPr>
          <p:nvPr/>
        </p:nvCxnSpPr>
        <p:spPr>
          <a:xfrm flipH="1">
            <a:off x="4582886" y="1240971"/>
            <a:ext cx="2797628" cy="8926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E2A6AD-22DE-2EEA-74C1-5DC5E3DFA2DB}"/>
              </a:ext>
            </a:extLst>
          </p:cNvPr>
          <p:cNvSpPr txBox="1"/>
          <p:nvPr/>
        </p:nvSpPr>
        <p:spPr>
          <a:xfrm>
            <a:off x="7249886" y="1888018"/>
            <a:ext cx="45175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FF0000"/>
                </a:solidFill>
                <a:effectLst/>
                <a:latin typeface="Anthropic Sans"/>
              </a:rPr>
              <a:t>With multi-crop (full DINO), the student also sees several small local crops. The teacher only ever sees the two global views.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76D7F6-7C17-C4A4-E76A-1E172C68BF28}"/>
              </a:ext>
            </a:extLst>
          </p:cNvPr>
          <p:cNvCxnSpPr>
            <a:cxnSpLocks/>
          </p:cNvCxnSpPr>
          <p:nvPr/>
        </p:nvCxnSpPr>
        <p:spPr>
          <a:xfrm flipH="1">
            <a:off x="6291943" y="2428931"/>
            <a:ext cx="957943" cy="1618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4BBBA84-F9F5-1972-9549-51A6C03996AB}"/>
              </a:ext>
            </a:extLst>
          </p:cNvPr>
          <p:cNvSpPr txBox="1"/>
          <p:nvPr/>
        </p:nvSpPr>
        <p:spPr>
          <a:xfrm>
            <a:off x="7138306" y="3209735"/>
            <a:ext cx="47407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Teacher saw view 1. Student saw at view 2. The student must predict the teacher's distribution from a </a:t>
            </a:r>
            <a:r>
              <a:rPr lang="en-GB" b="1" dirty="0">
                <a:solidFill>
                  <a:srgbClr val="FF0000"/>
                </a:solidFill>
              </a:rPr>
              <a:t>completely different crop</a:t>
            </a:r>
            <a:r>
              <a:rPr lang="en-GB" dirty="0">
                <a:solidFill>
                  <a:srgbClr val="FF0000"/>
                </a:solidFill>
              </a:rPr>
              <a:t>. Student to learn that both crops, despite looking different, belong to the same semantic concept.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59CBC5-475B-C419-F0E5-D775B332B197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2612571" y="3209735"/>
            <a:ext cx="4525735" cy="738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1901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C9F2-D3B1-C378-A2A6-623712CFF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DB6EAB-7F0A-52B9-5D42-F2C99DAE0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55" y="413495"/>
            <a:ext cx="6309907" cy="53497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FF703C-74B0-C65D-3F55-75C00CA16A24}"/>
              </a:ext>
            </a:extLst>
          </p:cNvPr>
          <p:cNvSpPr txBox="1"/>
          <p:nvPr/>
        </p:nvSpPr>
        <p:spPr>
          <a:xfrm>
            <a:off x="7380514" y="2782669"/>
            <a:ext cx="3690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Teacher starts as an </a:t>
            </a:r>
            <a:r>
              <a:rPr lang="en-GB" b="1" dirty="0">
                <a:solidFill>
                  <a:srgbClr val="FF0000"/>
                </a:solidFill>
              </a:rPr>
              <a:t>exact copy</a:t>
            </a:r>
            <a:r>
              <a:rPr lang="en-GB" dirty="0">
                <a:solidFill>
                  <a:srgbClr val="FF0000"/>
                </a:solidFill>
              </a:rPr>
              <a:t> of the student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29AC8C-448B-94A8-CBD5-24E1BA670045}"/>
              </a:ext>
            </a:extLst>
          </p:cNvPr>
          <p:cNvCxnSpPr>
            <a:cxnSpLocks/>
          </p:cNvCxnSpPr>
          <p:nvPr/>
        </p:nvCxnSpPr>
        <p:spPr>
          <a:xfrm flipH="1" flipV="1">
            <a:off x="3048000" y="1872343"/>
            <a:ext cx="4223657" cy="12160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8885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1A30E-585E-E532-C77B-FC7B9EE35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1B67D1-1565-E626-1E23-2E01D188B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55" y="413495"/>
            <a:ext cx="6309907" cy="53497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E0704B-F5E3-DB54-8F58-B7A2AEA51D39}"/>
              </a:ext>
            </a:extLst>
          </p:cNvPr>
          <p:cNvSpPr txBox="1"/>
          <p:nvPr/>
        </p:nvSpPr>
        <p:spPr>
          <a:xfrm>
            <a:off x="7380514" y="2782669"/>
            <a:ext cx="36902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Standard SGD step on the </a:t>
            </a:r>
            <a:r>
              <a:rPr lang="en-GB" b="1" dirty="0">
                <a:solidFill>
                  <a:srgbClr val="FF0000"/>
                </a:solidFill>
              </a:rPr>
              <a:t>student only.</a:t>
            </a:r>
          </a:p>
          <a:p>
            <a:r>
              <a:rPr lang="en-GB" dirty="0">
                <a:solidFill>
                  <a:srgbClr val="FF0000"/>
                </a:solidFill>
              </a:rPr>
              <a:t>No gradient update of the teacher here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EAA840-9FD0-11CB-CB3C-DC8F77704B50}"/>
              </a:ext>
            </a:extLst>
          </p:cNvPr>
          <p:cNvCxnSpPr>
            <a:cxnSpLocks/>
          </p:cNvCxnSpPr>
          <p:nvPr/>
        </p:nvCxnSpPr>
        <p:spPr>
          <a:xfrm flipH="1">
            <a:off x="3058886" y="3352800"/>
            <a:ext cx="4147457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C3592D4-F6D6-8F56-56C9-210353D0E3EF}"/>
              </a:ext>
            </a:extLst>
          </p:cNvPr>
          <p:cNvSpPr txBox="1"/>
          <p:nvPr/>
        </p:nvSpPr>
        <p:spPr>
          <a:xfrm>
            <a:off x="7206343" y="4221716"/>
            <a:ext cx="3516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EMA update of the teacher. This is the only way the teacher can change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6CEAD4-66F9-44B6-DB34-06C6D5E2CAF5}"/>
              </a:ext>
            </a:extLst>
          </p:cNvPr>
          <p:cNvCxnSpPr>
            <a:cxnSpLocks/>
          </p:cNvCxnSpPr>
          <p:nvPr/>
        </p:nvCxnSpPr>
        <p:spPr>
          <a:xfrm flipH="1" flipV="1">
            <a:off x="5606143" y="4060371"/>
            <a:ext cx="1426028" cy="751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7137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00ECB-4650-A99D-DD15-60AC05A9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1C2288-5F64-A9A9-F0B7-4BA2CC1C5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55" y="413495"/>
            <a:ext cx="6309907" cy="53497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A18462-C92E-7B4A-DAF0-86E527A9E0F4}"/>
              </a:ext>
            </a:extLst>
          </p:cNvPr>
          <p:cNvSpPr txBox="1"/>
          <p:nvPr/>
        </p:nvSpPr>
        <p:spPr>
          <a:xfrm>
            <a:off x="7728856" y="1778675"/>
            <a:ext cx="36902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EMA update of the </a:t>
            </a:r>
            <a:r>
              <a:rPr lang="en-GB" dirty="0" err="1">
                <a:solidFill>
                  <a:srgbClr val="FF0000"/>
                </a:solidFill>
              </a:rPr>
              <a:t>center</a:t>
            </a:r>
            <a:r>
              <a:rPr lang="en-GB" dirty="0">
                <a:solidFill>
                  <a:srgbClr val="FF0000"/>
                </a:solidFill>
              </a:rPr>
              <a:t> C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cat([t1, t2]) stacks - teacher outputs from both views into shape (2n, K). .mean(dim=0) averages across all 2n samples -&gt; shape (K,)</a:t>
            </a:r>
          </a:p>
          <a:p>
            <a:r>
              <a:rPr lang="en-GB" dirty="0">
                <a:solidFill>
                  <a:srgbClr val="FF0000"/>
                </a:solidFill>
              </a:rPr>
              <a:t>C tracks the </a:t>
            </a:r>
            <a:r>
              <a:rPr lang="en-GB" b="1" dirty="0">
                <a:solidFill>
                  <a:srgbClr val="FF0000"/>
                </a:solidFill>
              </a:rPr>
              <a:t>running mean of teacher outputs</a:t>
            </a:r>
            <a:r>
              <a:rPr lang="en-GB" dirty="0">
                <a:solidFill>
                  <a:srgbClr val="FF0000"/>
                </a:solidFill>
              </a:rPr>
              <a:t> across the dataset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5DC3C8-3D9B-DC3C-26D2-0A014501FA8A}"/>
              </a:ext>
            </a:extLst>
          </p:cNvPr>
          <p:cNvCxnSpPr>
            <a:cxnSpLocks/>
          </p:cNvCxnSpPr>
          <p:nvPr/>
        </p:nvCxnSpPr>
        <p:spPr>
          <a:xfrm flipH="1">
            <a:off x="3058886" y="3352800"/>
            <a:ext cx="4147457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5992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4FDF7-1521-64D4-9773-7881CBE2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0F5886-9498-2F78-2867-0DF355C38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55" y="413495"/>
            <a:ext cx="6309907" cy="53497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958723-47A0-3364-D7CA-CF8E8D38746B}"/>
              </a:ext>
            </a:extLst>
          </p:cNvPr>
          <p:cNvSpPr txBox="1"/>
          <p:nvPr/>
        </p:nvSpPr>
        <p:spPr>
          <a:xfrm>
            <a:off x="8508821" y="3962676"/>
            <a:ext cx="36902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Converts student logits to a probability distribution. Higher temperature, softer distribution. Student is mor </a:t>
            </a:r>
            <a:r>
              <a:rPr lang="en-GB" b="1" dirty="0">
                <a:solidFill>
                  <a:srgbClr val="FF0000"/>
                </a:solidFill>
              </a:rPr>
              <a:t>uncertain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E08F42-55C5-CE9E-4533-AEBC39CA9724}"/>
              </a:ext>
            </a:extLst>
          </p:cNvPr>
          <p:cNvCxnSpPr>
            <a:cxnSpLocks/>
          </p:cNvCxnSpPr>
          <p:nvPr/>
        </p:nvCxnSpPr>
        <p:spPr>
          <a:xfrm flipH="1">
            <a:off x="4022271" y="4464087"/>
            <a:ext cx="4147457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0174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3F02C-8549-CF05-4452-963F1A7E5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EE92EC-3E2B-7FFA-CC9F-F115BDCA8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55" y="413495"/>
            <a:ext cx="6309907" cy="53497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E3D2CB-985C-43E3-7311-ED9287231FF3}"/>
              </a:ext>
            </a:extLst>
          </p:cNvPr>
          <p:cNvSpPr txBox="1"/>
          <p:nvPr/>
        </p:nvSpPr>
        <p:spPr>
          <a:xfrm>
            <a:off x="8343899" y="3300127"/>
            <a:ext cx="36902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1. </a:t>
            </a:r>
            <a:r>
              <a:rPr lang="en-GB" dirty="0" err="1">
                <a:solidFill>
                  <a:srgbClr val="FF0000"/>
                </a:solidFill>
              </a:rPr>
              <a:t>Centering</a:t>
            </a:r>
            <a:r>
              <a:rPr lang="en-GB" dirty="0">
                <a:solidFill>
                  <a:srgbClr val="FF0000"/>
                </a:solidFill>
              </a:rPr>
              <a:t>: subtract the running mean c. Removes whatever prototype the teacher always </a:t>
            </a:r>
            <a:r>
              <a:rPr lang="en-GB" dirty="0" err="1">
                <a:solidFill>
                  <a:srgbClr val="FF0000"/>
                </a:solidFill>
              </a:rPr>
              <a:t>favors</a:t>
            </a:r>
            <a:r>
              <a:rPr lang="en-GB" dirty="0">
                <a:solidFill>
                  <a:srgbClr val="FF0000"/>
                </a:solidFill>
              </a:rPr>
              <a:t> regardless of input (prevents mode collapse)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0D4183-0107-4CE4-CEBF-A10BE9ED1F31}"/>
              </a:ext>
            </a:extLst>
          </p:cNvPr>
          <p:cNvCxnSpPr>
            <a:cxnSpLocks/>
          </p:cNvCxnSpPr>
          <p:nvPr/>
        </p:nvCxnSpPr>
        <p:spPr>
          <a:xfrm flipH="1">
            <a:off x="4468585" y="4963886"/>
            <a:ext cx="3701143" cy="1991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A609D1B-8053-C6D8-4746-7DC39BEF62E5}"/>
              </a:ext>
            </a:extLst>
          </p:cNvPr>
          <p:cNvSpPr txBox="1"/>
          <p:nvPr/>
        </p:nvSpPr>
        <p:spPr>
          <a:xfrm>
            <a:off x="8256812" y="4963886"/>
            <a:ext cx="36902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2. Sharpening: divide by teacher temperature much lower than student's 0.1 -&gt; </a:t>
            </a:r>
            <a:r>
              <a:rPr lang="en-GB" b="1" dirty="0">
                <a:solidFill>
                  <a:srgbClr val="FF0000"/>
                </a:solidFill>
              </a:rPr>
              <a:t>sharper</a:t>
            </a:r>
            <a:r>
              <a:rPr lang="en-GB" dirty="0">
                <a:solidFill>
                  <a:srgbClr val="FF0000"/>
                </a:solidFill>
              </a:rPr>
              <a:t> distribution.</a:t>
            </a:r>
          </a:p>
          <a:p>
            <a:r>
              <a:rPr lang="en-GB" dirty="0">
                <a:solidFill>
                  <a:srgbClr val="FF0000"/>
                </a:solidFill>
              </a:rPr>
              <a:t>forces the student to make confident predictions, which prevents uniform collapse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198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2F04-F9C8-8244-6AAA-EDB6B1835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DINO</a:t>
            </a:r>
            <a:br>
              <a:rPr lang="en-GB" dirty="0"/>
            </a:br>
            <a:r>
              <a:rPr lang="en-GB" sz="3200" dirty="0"/>
              <a:t>Results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628CA-8249-841C-BF28-31754DA44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651C5-93CF-A6E3-2766-6FD9CA732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858" y="1845734"/>
            <a:ext cx="5199289" cy="4225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2C937-9976-FCCB-B6A5-D26230530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9774"/>
            <a:ext cx="6322508" cy="239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04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6906-2E57-25BD-E101-DE8CC38E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DINO </a:t>
            </a:r>
            <a:br>
              <a:rPr lang="en-GB" dirty="0"/>
            </a:br>
            <a:r>
              <a:rPr lang="en-GB" sz="3200" dirty="0"/>
              <a:t>Properties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00F1C-EB33-7722-7D01-17CC8620C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6A633-2D5F-BBAD-1F4D-3923E1805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93" y="1971155"/>
            <a:ext cx="10904989" cy="376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004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B137-738B-694D-9E2E-9EDE32DA7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DINO</a:t>
            </a:r>
            <a:br>
              <a:rPr lang="en-GB" dirty="0"/>
            </a:br>
            <a:r>
              <a:rPr lang="en-GB" sz="3200" dirty="0"/>
              <a:t>Properties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4B1B2-56E4-FF1C-D186-A6CAB87A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DCC58-C059-1FAC-A25A-EE70E4EB2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191" y="90660"/>
            <a:ext cx="4950351" cy="638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663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A09C-DB3D-0F98-EFD1-424D7710C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3FCD8-2E37-D7FD-93B9-2DE0F5B41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DINO produces qualitatively different features -&gt;  the self-distillation objective encourages the [CLS] token to aggregate </a:t>
            </a:r>
            <a:r>
              <a:rPr lang="en-GB" b="1" i="1" dirty="0"/>
              <a:t>spatially</a:t>
            </a:r>
            <a:r>
              <a:rPr lang="en-GB" dirty="0"/>
              <a:t> and </a:t>
            </a:r>
            <a:r>
              <a:rPr lang="en-GB" b="1" i="1" dirty="0"/>
              <a:t>semantically</a:t>
            </a:r>
            <a:r>
              <a:rPr lang="en-GB" dirty="0"/>
              <a:t> coherent info from across the image.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Use DINO when you need frozen features that work immediately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DINO -&gt; the quality of its frozen representation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Use it for segmentation without finetuning, where patch-level attention maps trace object boundaries as an </a:t>
            </a:r>
            <a:r>
              <a:rPr lang="en-GB" i="1" dirty="0"/>
              <a:t>emergent</a:t>
            </a:r>
            <a:r>
              <a:rPr lang="en-GB" dirty="0"/>
              <a:t> property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it for video object segmentation, where patch features are geometrically consistent enough across frames that temporal correspondence appears for free via nearest-</a:t>
            </a:r>
            <a:r>
              <a:rPr lang="en-GB" dirty="0" err="1"/>
              <a:t>neighbor</a:t>
            </a:r>
            <a:r>
              <a:rPr lang="en-GB" dirty="0"/>
              <a:t> matching.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DINO -&gt; overkill is full finetuning on classification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6965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18ED5-0A92-1EEB-3173-7E96ED702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Masked Image Modelling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C943AF5-4F92-0599-44F0-5D5CFC0AB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Masked Autoencoders Are Scalable Vision Learners</a:t>
            </a: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https://arxiv.org/abs/2111.06377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50892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742C-3ECD-5E9B-7539-557D5BD4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E255B-DB89-5F0A-5288-949EC66C5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Success of masking in NLP (BERT)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</a:t>
            </a:r>
            <a:r>
              <a:rPr lang="en-GB" sz="2400" i="1" dirty="0"/>
              <a:t>What makes masked autoencoding different between vision and language?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For a time, architectures were different: transformers vs CNNs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Information density is different between language and vision.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200" b="1" dirty="0"/>
              <a:t>Language</a:t>
            </a:r>
            <a:r>
              <a:rPr lang="en-GB" sz="2200" dirty="0"/>
              <a:t>: highly semantic and information dense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200" b="1" dirty="0"/>
              <a:t>Images</a:t>
            </a:r>
            <a:r>
              <a:rPr lang="en-GB" sz="2200" dirty="0"/>
              <a:t>: exhibit high redundancy. A missing patch can be recovered from </a:t>
            </a:r>
            <a:r>
              <a:rPr lang="en-GB" sz="2200" dirty="0" err="1"/>
              <a:t>neighboring</a:t>
            </a:r>
            <a:r>
              <a:rPr lang="en-GB" sz="2200" dirty="0"/>
              <a:t> patches with little high-level understanding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Decoder plays a different role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200" dirty="0"/>
              <a:t>Images: reconstructs pixels, its output is of a lower semantic level than common recognition tasks.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200" dirty="0"/>
              <a:t>Language: it predicts missing words that contain rich semantic information.</a:t>
            </a:r>
            <a:endParaRPr lang="en-US" sz="22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47510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E593-B431-004E-7F81-A57CBEA0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B5420-CC89-2053-7AE8-56E27CC7A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IDEA: </a:t>
            </a:r>
            <a:r>
              <a:rPr lang="en-GB" sz="2400" b="1" dirty="0"/>
              <a:t>mask</a:t>
            </a:r>
            <a:r>
              <a:rPr lang="en-GB" sz="2400" dirty="0"/>
              <a:t> random patches of the input image and reconstruct the missing pixels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Asymmetric encoder-decoder architecture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encoder operates only on the visible subset of patches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a lightweight decoder that reconstructs the original image from the latent representation and mask tokens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Masking a high proportion of the input image, e.g., 75%, yields a meaningful self-supervisory task.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055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3A05-F613-766A-80E0-6F8EF1737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DDC94C-E480-600A-32A4-833EEDB23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58" y="1944188"/>
            <a:ext cx="7059749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637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8792C-1B9B-EB7B-F613-38C45AEE7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FF9E3-3003-A298-40CF-93FCA48B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br>
              <a:rPr lang="en-GB" dirty="0"/>
            </a:br>
            <a:r>
              <a:rPr lang="en-GB" dirty="0"/>
              <a:t>Encoder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DFAAA-D1CF-32D6-9A85-FE4E4B87F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Divide an image into regular non-overlapping patches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Sample random patches without replacement following a uniform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</a:t>
            </a:r>
            <a:r>
              <a:rPr lang="en-GB" sz="2400" b="1" dirty="0"/>
              <a:t>High masking ratio</a:t>
            </a:r>
            <a:r>
              <a:rPr lang="en-GB" sz="2400" dirty="0"/>
              <a:t> (i.e., the ratio of removed patches) eliminates </a:t>
            </a:r>
            <a:r>
              <a:rPr lang="en-GB" sz="2400" i="1" dirty="0"/>
              <a:t>redundancy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798526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CB184-6ECF-F65A-7958-033D8469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C724-7087-DEAB-8240-D482821C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br>
              <a:rPr lang="en-GB" dirty="0"/>
            </a:br>
            <a:r>
              <a:rPr lang="en-GB" sz="3200" dirty="0"/>
              <a:t>ENCODER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EB892-237F-8F59-6E56-9DD5521C9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 err="1"/>
              <a:t>ViT</a:t>
            </a:r>
            <a:r>
              <a:rPr lang="en-GB" sz="2400" dirty="0"/>
              <a:t> applied only on </a:t>
            </a:r>
            <a:r>
              <a:rPr lang="en-GB" sz="2400" b="1" dirty="0"/>
              <a:t>visible, unmasked patches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Only operates on a small subset 25% of the patches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Mask patches are removed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Can train large encoders, with only a fraction of compute and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Uses positional embeddings</a:t>
            </a:r>
          </a:p>
        </p:txBody>
      </p:sp>
    </p:spTree>
    <p:extLst>
      <p:ext uri="{BB962C8B-B14F-4D97-AF65-F5344CB8AC3E}">
        <p14:creationId xmlns:p14="http://schemas.microsoft.com/office/powerpoint/2010/main" val="22286510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E287-70B5-5E61-2B8C-EFAAFABBE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br>
              <a:rPr lang="en-GB" dirty="0"/>
            </a:br>
            <a:r>
              <a:rPr lang="en-GB" sz="3200" dirty="0"/>
              <a:t>DECODER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69098-9F9E-B522-6235-65A914A5B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Processes </a:t>
            </a:r>
            <a:r>
              <a:rPr lang="en-GB" sz="2400" b="1" dirty="0"/>
              <a:t>the full set of tokens</a:t>
            </a:r>
            <a:r>
              <a:rPr lang="en-GB" sz="2400" dirty="0"/>
              <a:t> consisting of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/>
              <a:t>encoded visible patches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i="1" dirty="0"/>
              <a:t>mask</a:t>
            </a:r>
            <a:r>
              <a:rPr lang="en-GB" sz="2200" dirty="0"/>
              <a:t> tokens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Mask token: shared, learned vector that indicates the presence of a missing patch to be predicted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Add positional embeddings to all tokens in this full set to ensure mask tokens have no information about their location in the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 Only used during pre-training</a:t>
            </a:r>
            <a:r>
              <a:rPr lang="en-GB" sz="2400" dirty="0"/>
              <a:t> to perform the image reconstruction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</a:t>
            </a:r>
            <a:r>
              <a:rPr lang="en-GB" sz="2400" i="1" dirty="0"/>
              <a:t>Independent </a:t>
            </a:r>
            <a:r>
              <a:rPr lang="en-GB" sz="2400" dirty="0"/>
              <a:t>of the encoder design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832637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64F9-C80E-6896-5E87-23CB1505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br>
              <a:rPr lang="en-GB" dirty="0"/>
            </a:br>
            <a:r>
              <a:rPr lang="en-GB" sz="3200" dirty="0"/>
              <a:t>Reconstruction target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0DEF5-7C74-767F-50C4-1BE275047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</a:t>
            </a:r>
            <a:r>
              <a:rPr lang="en-GB" sz="2800" dirty="0"/>
              <a:t>MAE predicts the pixel values for each masked patch.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Each element in the decoder’s output is a vector of pixel values representing a patch.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Last layer: a linear projection whose number of output channels equals the number of pixel values in a patch.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The decoder’s output is reshaped to form a reconstructed image.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Loss: MSE between the reconstructed and original images in the pixel space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09934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A752-8D5E-A397-0B45-1193C0886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9DEAA-DF5D-6C47-370E-BD4C17F4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br>
              <a:rPr lang="en-GB" dirty="0"/>
            </a:br>
            <a:r>
              <a:rPr lang="en-GB" sz="4000" dirty="0"/>
              <a:t>Efficient implementation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3A67-335C-772B-C048-EED72BCCB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/>
              <a:t>Generate a token for every input patch (by linear projection with an added positional embedding)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Randomly shuffle the list of tokens and remove the last portion of the list, based on the masking ratio -&gt; small subset of tokens for the encoder (equivalent to sampling patches without replacement)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Encode tokens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Append mask tokens to the list of encoded patches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err="1"/>
              <a:t>Unshuffle</a:t>
            </a:r>
            <a:r>
              <a:rPr lang="en-GB" sz="2400" dirty="0"/>
              <a:t> the full list (invert the random shuffle operation) to align all tokens with their targets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Decoder applied to this full list (with positional embeddings added).</a:t>
            </a:r>
          </a:p>
          <a:p>
            <a:pPr marL="0" indent="0">
              <a:buNone/>
            </a:pPr>
            <a:r>
              <a:rPr lang="en-GB" sz="2400" b="1" dirty="0"/>
              <a:t>No sparse operations are needed. 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1020195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F18D5-F864-6271-5B50-5390BEB4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br>
              <a:rPr lang="en-GB" dirty="0"/>
            </a:br>
            <a:r>
              <a:rPr lang="en-GB" sz="3200" dirty="0"/>
              <a:t>Masking strategy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933EC-CF47-330E-1EE3-3D26794D4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RANDOM: works best.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BLOCK: works reasonably well at a ratio of 50%, but degrades at a ratio of 75%. Harder task. Reconstruction is blurrier.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GRID: </a:t>
            </a:r>
            <a:r>
              <a:rPr lang="en-GB" dirty="0"/>
              <a:t>reconstruction is sharper. The representation quality is lower.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B853F-6450-726F-15AF-A9BCA6DBA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685" y="3429000"/>
            <a:ext cx="6938629" cy="27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440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F003-95D5-4339-CA0B-3D165025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br>
              <a:rPr lang="en-GB" dirty="0"/>
            </a:br>
            <a:r>
              <a:rPr lang="en-GB" dirty="0"/>
              <a:t>ImageNet experiments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E466A-1D20-CCB4-7377-F917BE654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49AF2-7046-11E2-21D9-96DC6B28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40949"/>
            <a:ext cx="9731002" cy="118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823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858F-659F-A3B4-A8C5-7D65AB728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MAE</a:t>
            </a:r>
            <a:br>
              <a:rPr lang="en-GB" dirty="0"/>
            </a:br>
            <a:r>
              <a:rPr lang="en-GB" dirty="0"/>
              <a:t>Results on inputs with higher masking ratio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3F72B-62E0-846D-28B6-E6785C48F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D4F78-0FD5-DA0A-8027-083B7395C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508" y="1920885"/>
            <a:ext cx="5354983" cy="405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454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1995-E234-A5BF-C311-DACF144B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81298-5483-3341-1F02-135C36A74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97EBA-CCA0-104C-EAEB-A09EFC6AC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077" y="1737360"/>
            <a:ext cx="5944806" cy="419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672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66790-B265-535C-33CB-8600AA63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A232-9073-E335-3398-D903A3412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E3953-8ABD-270D-4550-6CAF88B95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91" y="1737360"/>
            <a:ext cx="11769817" cy="396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925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614C-7A94-CB73-941D-4319926F9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89009-4A4D-73AD-B004-18B4420B0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 MAE is a </a:t>
            </a:r>
            <a:r>
              <a:rPr lang="en-GB" sz="2400" b="1" dirty="0"/>
              <a:t>reconstruction method</a:t>
            </a:r>
            <a:r>
              <a:rPr lang="en-GB" sz="2400" dirty="0"/>
              <a:t> - it masks 75% of the image patches and trains the model to fill them back in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learns </a:t>
            </a:r>
            <a:r>
              <a:rPr lang="en-GB" sz="2400" b="1" dirty="0"/>
              <a:t>how images are structured</a:t>
            </a:r>
            <a:r>
              <a:rPr lang="en-GB" sz="2400" dirty="0"/>
              <a:t>  (textures, shapes, object parts) rather than learning to discriminate between images semantically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MAE frozen features are weaker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Do </a:t>
            </a:r>
            <a:r>
              <a:rPr lang="en-GB" sz="2400" b="1" dirty="0"/>
              <a:t>not</a:t>
            </a:r>
            <a:r>
              <a:rPr lang="en-GB" sz="2400" dirty="0"/>
              <a:t> use MAE when: you need frozen features, you need a plug-and-play backbone, or your task is pure classification without full finetuning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Use MAE when you have a large </a:t>
            </a:r>
            <a:r>
              <a:rPr lang="en-GB" sz="2400" dirty="0" err="1"/>
              <a:t>ViT</a:t>
            </a:r>
            <a:r>
              <a:rPr lang="en-GB" sz="2400" dirty="0"/>
              <a:t>, you plan to finetune it fully on a downstream task, and that task requires </a:t>
            </a:r>
            <a:r>
              <a:rPr lang="en-GB" sz="2400" b="1" i="1" dirty="0"/>
              <a:t>dense spatial predictions </a:t>
            </a:r>
            <a:r>
              <a:rPr lang="en-GB" sz="2400" dirty="0"/>
              <a:t>(detection, segmentation, depth)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24003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C9713D1B4A348AAE7B3383364C377" ma:contentTypeVersion="3" ma:contentTypeDescription="Create a new document." ma:contentTypeScope="" ma:versionID="805bd71d9a7f8f9b424e91dbcb7c74e5">
  <xsd:schema xmlns:xsd="http://www.w3.org/2001/XMLSchema" xmlns:xs="http://www.w3.org/2001/XMLSchema" xmlns:p="http://schemas.microsoft.com/office/2006/metadata/properties" xmlns:ns2="ea7aeede-a3ac-4adc-a1af-0ad03a3d66bd" targetNamespace="http://schemas.microsoft.com/office/2006/metadata/properties" ma:root="true" ma:fieldsID="c052b27818055ad5eadc0971d765fd36" ns2:_="">
    <xsd:import namespace="ea7aeede-a3ac-4adc-a1af-0ad03a3d6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aeede-a3ac-4adc-a1af-0ad03a3d6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427412-A64C-489E-B7F2-01449E5DF63C}"/>
</file>

<file path=customXml/itemProps2.xml><?xml version="1.0" encoding="utf-8"?>
<ds:datastoreItem xmlns:ds="http://schemas.openxmlformats.org/officeDocument/2006/customXml" ds:itemID="{F308C374-548D-42BB-8536-4443EF85E9B8}"/>
</file>

<file path=customXml/itemProps3.xml><?xml version="1.0" encoding="utf-8"?>
<ds:datastoreItem xmlns:ds="http://schemas.openxmlformats.org/officeDocument/2006/customXml" ds:itemID="{BFBD99DD-C065-4DB8-B52D-8255A4C56F9F}"/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883</TotalTime>
  <Words>2935</Words>
  <Application>Microsoft Office PowerPoint</Application>
  <PresentationFormat>Widescreen</PresentationFormat>
  <Paragraphs>274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Anthropic Sans</vt:lpstr>
      <vt:lpstr>Arial</vt:lpstr>
      <vt:lpstr>Calibri</vt:lpstr>
      <vt:lpstr>Calibri Light</vt:lpstr>
      <vt:lpstr>ui-monospace</vt:lpstr>
      <vt:lpstr>Retrospect</vt:lpstr>
      <vt:lpstr>COMPUTER VISION AND DEEP LEARNING</vt:lpstr>
      <vt:lpstr>Supervised. Unsupervised. Self-supervised learning</vt:lpstr>
      <vt:lpstr>Supervised. Unsupervised. Self-supervised learning</vt:lpstr>
      <vt:lpstr>Self-supervised learning</vt:lpstr>
      <vt:lpstr>Self-supervised learning</vt:lpstr>
      <vt:lpstr>Self-supervised learning</vt:lpstr>
      <vt:lpstr>Self-supervised learning</vt:lpstr>
      <vt:lpstr>Self-supervised learning</vt:lpstr>
      <vt:lpstr>Contrastive learning</vt:lpstr>
      <vt:lpstr>Contrastive Learning</vt:lpstr>
      <vt:lpstr>Contrastive learning (CL)</vt:lpstr>
      <vt:lpstr>InfoNCE (Noise Contrastive Estimation) loss</vt:lpstr>
      <vt:lpstr>InfoNCE loss</vt:lpstr>
      <vt:lpstr>Contrastive learning</vt:lpstr>
      <vt:lpstr>Patterns in contrastive learning</vt:lpstr>
      <vt:lpstr>Patterns in CL End to end</vt:lpstr>
      <vt:lpstr>Patterns in CL Memory bank</vt:lpstr>
      <vt:lpstr>Patterns in CL Momentum encoder. MoCo</vt:lpstr>
      <vt:lpstr>MoCo</vt:lpstr>
      <vt:lpstr>MoCo Pretext 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MoCo  Results</vt:lpstr>
      <vt:lpstr>MoCo Object detection</vt:lpstr>
      <vt:lpstr>MoCo</vt:lpstr>
      <vt:lpstr>Self-distillation </vt:lpstr>
      <vt:lpstr>DINO Knowledge distillation (KD)</vt:lpstr>
      <vt:lpstr>DINO KD as self-supervised learning</vt:lpstr>
      <vt:lpstr>DINO Teacher and student networks</vt:lpstr>
      <vt:lpstr>DINO</vt:lpstr>
      <vt:lpstr>DINO</vt:lpstr>
      <vt:lpstr>DINO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DINO Results</vt:lpstr>
      <vt:lpstr>DINO  Properties</vt:lpstr>
      <vt:lpstr>DINO Properties</vt:lpstr>
      <vt:lpstr>DINO</vt:lpstr>
      <vt:lpstr>Masked Image Modelling</vt:lpstr>
      <vt:lpstr>MAE</vt:lpstr>
      <vt:lpstr>MAE</vt:lpstr>
      <vt:lpstr>MAE</vt:lpstr>
      <vt:lpstr>MAE Encoder</vt:lpstr>
      <vt:lpstr>MAE ENCODER</vt:lpstr>
      <vt:lpstr>MAE DECODER</vt:lpstr>
      <vt:lpstr>MAE Reconstruction target</vt:lpstr>
      <vt:lpstr>MAE Efficient implementation</vt:lpstr>
      <vt:lpstr>MAE Masking strategy</vt:lpstr>
      <vt:lpstr>MAE ImageNet experiments</vt:lpstr>
      <vt:lpstr>MAE Results on inputs with higher masking ratio</vt:lpstr>
      <vt:lpstr>MAE</vt:lpstr>
      <vt:lpstr>MAE</vt:lpstr>
      <vt:lpstr>MAE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Diana Borza</dc:creator>
  <cp:lastModifiedBy>Diana Borza</cp:lastModifiedBy>
  <cp:revision>97</cp:revision>
  <dcterms:created xsi:type="dcterms:W3CDTF">2026-05-05T18:00:41Z</dcterms:created>
  <dcterms:modified xsi:type="dcterms:W3CDTF">2026-05-06T21:56:31Z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0x010100F4FC9713D1B4A348AAE7B3383364C377</vt:lpwstr>
  </property>
</Properties>
</file>