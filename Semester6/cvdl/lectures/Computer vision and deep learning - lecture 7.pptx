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56" r:id="rId2"/>
    <p:sldId id="434" r:id="rId3"/>
    <p:sldId id="435" r:id="rId4"/>
    <p:sldId id="459" r:id="rId5"/>
    <p:sldId id="257" r:id="rId6"/>
    <p:sldId id="258" r:id="rId7"/>
    <p:sldId id="259" r:id="rId8"/>
    <p:sldId id="460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428" r:id="rId19"/>
    <p:sldId id="429" r:id="rId20"/>
    <p:sldId id="430" r:id="rId21"/>
    <p:sldId id="431" r:id="rId22"/>
    <p:sldId id="432" r:id="rId23"/>
    <p:sldId id="261" r:id="rId24"/>
    <p:sldId id="461" r:id="rId25"/>
    <p:sldId id="283" r:id="rId26"/>
    <p:sldId id="274" r:id="rId27"/>
    <p:sldId id="275" r:id="rId28"/>
    <p:sldId id="463" r:id="rId29"/>
    <p:sldId id="433" r:id="rId30"/>
    <p:sldId id="284" r:id="rId31"/>
    <p:sldId id="462" r:id="rId32"/>
    <p:sldId id="314" r:id="rId33"/>
    <p:sldId id="290" r:id="rId34"/>
    <p:sldId id="291" r:id="rId35"/>
    <p:sldId id="292" r:id="rId36"/>
    <p:sldId id="300" r:id="rId37"/>
    <p:sldId id="301" r:id="rId38"/>
    <p:sldId id="302" r:id="rId39"/>
    <p:sldId id="436" r:id="rId40"/>
    <p:sldId id="437" r:id="rId41"/>
    <p:sldId id="295" r:id="rId42"/>
    <p:sldId id="438" r:id="rId43"/>
    <p:sldId id="439" r:id="rId44"/>
    <p:sldId id="440" r:id="rId45"/>
    <p:sldId id="303" r:id="rId46"/>
    <p:sldId id="304" r:id="rId47"/>
    <p:sldId id="305" r:id="rId48"/>
    <p:sldId id="311" r:id="rId49"/>
    <p:sldId id="298" r:id="rId50"/>
    <p:sldId id="312" r:id="rId51"/>
    <p:sldId id="313" r:id="rId52"/>
    <p:sldId id="309" r:id="rId53"/>
    <p:sldId id="441" r:id="rId54"/>
    <p:sldId id="315" r:id="rId55"/>
    <p:sldId id="442" r:id="rId56"/>
    <p:sldId id="316" r:id="rId57"/>
    <p:sldId id="317" r:id="rId58"/>
    <p:sldId id="318" r:id="rId59"/>
    <p:sldId id="445" r:id="rId60"/>
    <p:sldId id="446" r:id="rId61"/>
    <p:sldId id="319" r:id="rId62"/>
    <p:sldId id="443" r:id="rId63"/>
    <p:sldId id="448" r:id="rId64"/>
    <p:sldId id="444" r:id="rId65"/>
    <p:sldId id="447" r:id="rId66"/>
    <p:sldId id="322" r:id="rId67"/>
    <p:sldId id="449" r:id="rId68"/>
    <p:sldId id="334" r:id="rId69"/>
    <p:sldId id="327" r:id="rId70"/>
    <p:sldId id="450" r:id="rId71"/>
    <p:sldId id="451" r:id="rId72"/>
    <p:sldId id="328" r:id="rId73"/>
    <p:sldId id="452" r:id="rId74"/>
    <p:sldId id="453" r:id="rId75"/>
    <p:sldId id="455" r:id="rId76"/>
    <p:sldId id="456" r:id="rId77"/>
    <p:sldId id="454" r:id="rId78"/>
    <p:sldId id="457" r:id="rId79"/>
    <p:sldId id="458" r:id="rId80"/>
    <p:sldId id="329" r:id="rId81"/>
    <p:sldId id="323" r:id="rId82"/>
    <p:sldId id="332" r:id="rId83"/>
    <p:sldId id="324" r:id="rId84"/>
    <p:sldId id="325" r:id="rId85"/>
    <p:sldId id="331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ustomXml" Target="../customXml/item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67CA-B70C-481B-9E29-8EB88B1C9B4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9C12B-EED5-4262-9302-7171F1CD1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85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9C12B-EED5-4262-9302-7171F1CD18B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23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F0D4-AF00-39E8-6BDE-634CA64FC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B864D-593F-94FA-D5D2-241D953B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44222-B8DB-F14C-CFA5-55064098A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FE08-1EF1-5A47-78C8-4E8F2AF2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9976-7168-E740-AAD6-9800937F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89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1BFF-7699-13D4-9BE1-82FFC362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0FE77-F413-FBFD-24DF-9A12560AF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43627-3C5D-0D2B-7384-19A0A9F1E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D8FA0-ECD3-939A-90BD-68F12373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5D44D-3002-360A-B30D-68AB505E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3F4A-0B69-96CC-CED9-AF587C71F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1B7C4-F3EB-0228-DE90-2E8026242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354A8-D228-374B-A5F6-D13AA4490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3D0E9-7DD9-AF1A-8370-F572AD0D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523FB-AAEC-B1B7-721D-220BACD1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0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4405-F90E-0477-B946-1BEE785E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38AB8-154D-B079-E369-3BE87FC8D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5A38F-B51A-93A9-F645-77E2F69B0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293B1-902D-897D-2DA1-E55FDC6B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B8DC9-059A-3E5C-77E7-01657E89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9C30-D1A3-AA30-9F61-9025A283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1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F8255-CB86-31EB-25D0-2062A458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3CE9A-1813-DCC4-2612-4065EFE83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50BF0-DC97-1A07-B0F4-9C6C2E677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BBACC-714A-9E74-B2DF-4E61360A8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287E3-D236-1663-360D-696AF7784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7AFA23-0835-1F5C-1152-A768D6D7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E123E8-8B66-A2AC-B908-DC30DDC7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4F2A9-392D-988D-348E-D139EABB5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2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8F79-8181-7924-4A90-4F8B48AA7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DE8A3-CFC5-F17E-3335-1FDDFCBE0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719C0-0B7A-4DCE-4647-9383BE6A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4ABB7-2D3C-2DCF-8626-1BA8C174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8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8185A-A88D-E87A-4685-2F13318C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6832A-4897-A0B0-06F6-0A85A798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ECF27-299C-61DC-9E8D-064E121B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9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51E4-9CA7-8522-DB5A-52C79451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57930-0515-1181-2674-DBCC92075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F7317-62AD-1316-0535-C50CCD2EE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1E677-4FBD-E11B-0AB6-90E6E1072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3A54C-ACF9-DF56-480E-BB3A2053B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F4AF2-F02F-957B-EC26-1C640C46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81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FCC7-73E8-638E-8B29-A53E4CBF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9FFAC-8E58-6659-9A75-A25515F62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9BEC5-4E69-0647-293D-CBA6E07E5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68EBB-3D5E-07A9-8B28-0A692AA0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55327-ABA5-8AFE-2365-275067D9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05B71-D71D-7646-423E-E6A16F81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9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32A4-ECCF-2D5A-9324-CB7D7EA0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864C8-E886-7063-1417-34CAB250B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963D6-78BC-69E4-58C4-3D8FAAB4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29462-F4DB-8304-A614-667C071B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68F79-6C84-3CC6-0263-E4A96BEC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5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34557-BE53-7C75-B4DF-AFB58132B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A27BF-0570-D61C-1B78-2FE5533D5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275FF-4CF6-F2B1-D2EB-C33E8878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F82A5-C11B-1BA8-6C83-8881ED8F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DC9E3-C9CF-520A-5844-47C406C8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41465-FFB8-A1F7-7104-23630D71E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DB09C-62DC-35A4-4B66-D73E82BB1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B8934-C049-4784-9C50-3F9A0F4B6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3FE7C-BAA4-4001-B5F6-91507A2562B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68A7-CD23-4277-32AD-0B0626F42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CC74-62D2-B583-C53A-243BE0EDE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3E55A-B149-4142-9837-1FC34F3BD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9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XfpMkf4rD6E?t=1213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eterbloem.nl/blog/transformers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azemnejad.com/blog/transformer_architecture_positional_encodin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kazemnejad.com/blog/transformer_architecture_positional_encod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kazemnejad.com/blog/transformer_architecture_positional_encoding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kazemnejad.com/blog/transformer_architecture_positional_encod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Ub3GoFaUcds?t=5421" TargetMode="Externa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Cc8FmEb1nY" TargetMode="External"/><Relationship Id="rId2" Type="http://schemas.openxmlformats.org/officeDocument/2006/relationships/hyperlink" Target="https://jalammar.github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bZQun8Y4L2A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ogle-research/vision_transformer#vision-transformer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oogle-research/vision_transformer/blob/main/vit_jax/models_vit.py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oogle-research/vision_transformer/blob/main/vit_jax/models_vit.py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12.12877" TargetMode="Externa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.towardsai.net/a-gentle-introduction-to-knowledge-distillation-6240bf8eb8ea" TargetMode="Externa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2.12877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2.12877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3.14030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3.14030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arxiv.org/abs/2103.1403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435B-570B-D2EA-E202-FE87115CEC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Computer Vision and Deep Learning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4541D-FD60-5831-39EB-452CC11809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45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9541-ADE7-7081-E48F-7656953E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DF614-D7D8-CAF1-71E4-69A87D3B9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Self-attention example</a:t>
            </a:r>
          </a:p>
          <a:p>
            <a:r>
              <a:rPr lang="en-GB" dirty="0"/>
              <a:t>Attention is all you need</a:t>
            </a:r>
          </a:p>
          <a:p>
            <a:r>
              <a:rPr lang="en-US" dirty="0"/>
              <a:t>Position encodings, embeddings</a:t>
            </a:r>
          </a:p>
          <a:p>
            <a:r>
              <a:rPr lang="en-US" dirty="0"/>
              <a:t>Vision transformers</a:t>
            </a:r>
          </a:p>
          <a:p>
            <a:pPr lvl="1"/>
            <a:r>
              <a:rPr lang="en-US" dirty="0"/>
              <a:t>Vision transformer</a:t>
            </a:r>
          </a:p>
          <a:p>
            <a:pPr lvl="1"/>
            <a:r>
              <a:rPr lang="en-US" dirty="0" err="1"/>
              <a:t>DeiT</a:t>
            </a:r>
            <a:endParaRPr lang="en-US" dirty="0"/>
          </a:p>
          <a:p>
            <a:pPr lvl="1"/>
            <a:r>
              <a:rPr lang="en-US" dirty="0"/>
              <a:t>Swin Transformer</a:t>
            </a:r>
          </a:p>
        </p:txBody>
      </p:sp>
    </p:spTree>
    <p:extLst>
      <p:ext uri="{BB962C8B-B14F-4D97-AF65-F5344CB8AC3E}">
        <p14:creationId xmlns:p14="http://schemas.microsoft.com/office/powerpoint/2010/main" val="3897605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169248-E8E8-B2FD-27B7-3EBE50A571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Attention intuition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F95E74-FDBE-22C6-3CB6-60FB35F2BB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https://youtu.be/XfpMkf4rD6E?t=1213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228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B168C-A692-7F06-0770-CB49BF197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Self-attention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96CCA-D65C-D462-A93C-5C9297B035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https://peterbloem.nl/blog/transformers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7800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C92D-375C-39D6-D0D8-2CA00608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Self-attention</a:t>
            </a:r>
            <a:br>
              <a:rPr lang="en-US"/>
            </a:b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95C65-808E-3753-ECE7-37D84D2F5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scaled dot product </a:t>
            </a:r>
          </a:p>
          <a:p>
            <a:r>
              <a:rPr lang="en-US" dirty="0"/>
              <a:t>key, value and query transformations</a:t>
            </a:r>
          </a:p>
          <a:p>
            <a:r>
              <a:rPr lang="en-US" dirty="0"/>
              <a:t> multi-head attention</a:t>
            </a:r>
          </a:p>
        </p:txBody>
      </p:sp>
    </p:spTree>
    <p:extLst>
      <p:ext uri="{BB962C8B-B14F-4D97-AF65-F5344CB8AC3E}">
        <p14:creationId xmlns:p14="http://schemas.microsoft.com/office/powerpoint/2010/main" val="1947395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B989-AF88-B9DE-1882-40C1EEB9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Self-attention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0FC46-E274-AE3C-87FC-78F007A8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Scale the dot product</a:t>
            </a:r>
          </a:p>
          <a:p>
            <a:pPr lvl="1"/>
            <a:r>
              <a:rPr lang="en-US"/>
              <a:t>softmax function is sensitive to very large input values</a:t>
            </a:r>
          </a:p>
          <a:p>
            <a:pPr lvl="1"/>
            <a:r>
              <a:rPr lang="en-US"/>
              <a:t>the average value of the dot product grows with the embedding dimension k, then scale the dot product back a little to reduce the inputs of softmax function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9FB1B0-193F-8C18-C0A5-532F91691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097" y="3880389"/>
            <a:ext cx="5829805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54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F238-D74D-977E-7D6B-487711FD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BFE06-8952-B070-739A-A4F5D581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Scale the dot product</a:t>
            </a:r>
          </a:p>
          <a:p>
            <a:r>
              <a:rPr lang="en-US"/>
              <a:t>Key, value and query transformation</a:t>
            </a:r>
          </a:p>
          <a:p>
            <a:pPr lvl="1"/>
            <a:r>
              <a:rPr lang="en-US"/>
              <a:t>Each input vector has three different roles</a:t>
            </a:r>
          </a:p>
          <a:p>
            <a:pPr lvl="2"/>
            <a:r>
              <a:rPr lang="en-US"/>
              <a:t> the value: the vector that is used in the weighted sum that ultimately provides the output.</a:t>
            </a:r>
          </a:p>
          <a:p>
            <a:pPr lvl="2"/>
            <a:r>
              <a:rPr lang="en-US"/>
              <a:t>the query: the input vector that corresponds to the current output, matched against every other input vector. </a:t>
            </a:r>
          </a:p>
          <a:p>
            <a:pPr lvl="2"/>
            <a:r>
              <a:rPr lang="en-US"/>
              <a:t>the key: the input vector that the query is matched against to determine the weight.</a:t>
            </a:r>
          </a:p>
          <a:p>
            <a:pPr lvl="1"/>
            <a:r>
              <a:rPr lang="en-US"/>
              <a:t>Multiply each input vector by three different k-by-k parameter matrices, which gives us a different vector to act as key query and value</a:t>
            </a:r>
          </a:p>
        </p:txBody>
      </p:sp>
    </p:spTree>
    <p:extLst>
      <p:ext uri="{BB962C8B-B14F-4D97-AF65-F5344CB8AC3E}">
        <p14:creationId xmlns:p14="http://schemas.microsoft.com/office/powerpoint/2010/main" val="122788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F2377F-BBD4-EF20-4496-CFA2A929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Self-attention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919218A-68D8-D3C6-4BD6-DB1BEC19C9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66AA96-58FF-5A2C-6F5D-84D555688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572" y="410845"/>
            <a:ext cx="4092295" cy="17527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60C7E5-C6EE-A6D8-59F5-4267580FC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009" y="1595339"/>
            <a:ext cx="6035563" cy="48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51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5DDBB-9054-58F2-AD09-90D85B81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C7CA3-3042-615A-71AF-4E6268F6A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Scale the dot product</a:t>
            </a:r>
          </a:p>
          <a:p>
            <a:r>
              <a:rPr lang="en-US"/>
              <a:t>Key, value and query transformation</a:t>
            </a:r>
          </a:p>
          <a:p>
            <a:r>
              <a:rPr lang="en-US"/>
              <a:t>Multi-head attention</a:t>
            </a:r>
          </a:p>
          <a:p>
            <a:pPr lvl="1"/>
            <a:r>
              <a:rPr lang="en-US" b="1"/>
              <a:t>multiple relations </a:t>
            </a:r>
            <a:r>
              <a:rPr lang="en-US"/>
              <a:t>are best captured by </a:t>
            </a:r>
            <a:r>
              <a:rPr lang="en-US" b="1"/>
              <a:t>different self-attention </a:t>
            </a:r>
            <a:r>
              <a:rPr lang="en-US"/>
              <a:t>operations.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6640D-797C-05B7-13FC-1E3FF559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915" y="4293066"/>
            <a:ext cx="4754072" cy="317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98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84FB-4F34-F9D6-89CA-886A1A6B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3A292-6B77-792F-C02C-A5CAC9163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Naïve version: apply in parralel, then concatenate	</a:t>
            </a:r>
          </a:p>
          <a:p>
            <a:pPr lvl="1"/>
            <a:r>
              <a:rPr lang="en-US"/>
              <a:t> apply a small number of copies of the self-attention mechanism in parallel, each with their own key, value and query transformation</a:t>
            </a:r>
          </a:p>
          <a:p>
            <a:pPr lvl="1"/>
            <a:r>
              <a:rPr lang="en-US"/>
              <a:t>h heads, operation is h as slow</a:t>
            </a:r>
          </a:p>
          <a:p>
            <a:r>
              <a:rPr lang="en-US"/>
              <a:t>In practice:</a:t>
            </a:r>
          </a:p>
          <a:p>
            <a:pPr lvl="1"/>
            <a:r>
              <a:rPr lang="en-US"/>
              <a:t>each head receives </a:t>
            </a:r>
            <a:r>
              <a:rPr lang="en-US" b="1"/>
              <a:t>low-dimensional</a:t>
            </a:r>
            <a:r>
              <a:rPr lang="en-US"/>
              <a:t> keys queries and values. </a:t>
            </a:r>
          </a:p>
          <a:p>
            <a:pPr lvl="1"/>
            <a:r>
              <a:rPr lang="en-US"/>
              <a:t>If the input vector has k=256 dimensions and h=4 attention heads</a:t>
            </a:r>
          </a:p>
          <a:p>
            <a:pPr lvl="2"/>
            <a:r>
              <a:rPr lang="en-US"/>
              <a:t>multiply the input vectors by a 256×64 matrix to project them down to a sequence of 64 dimensional  vectors</a:t>
            </a:r>
          </a:p>
          <a:p>
            <a:pPr lvl="2"/>
            <a:r>
              <a:rPr lang="en-US"/>
              <a:t>for every head, we do this 3 times: for the keys, the queries and the values.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52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5276-73F6-F04A-0EFC-B99EA5F7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A9EB9-ECCD-C092-3EBA-29CBDB0B5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0080" y="1825625"/>
            <a:ext cx="3093720" cy="4351338"/>
          </a:xfrm>
        </p:spPr>
        <p:txBody>
          <a:bodyPr/>
          <a:lstStyle/>
          <a:p>
            <a:r>
              <a:rPr lang="en-US" sz="2400"/>
              <a:t>3h matrices of size k by k/h </a:t>
            </a:r>
          </a:p>
          <a:p>
            <a:r>
              <a:rPr lang="en-US" sz="2400"/>
              <a:t>In total: 3hk(k/h)=3k</a:t>
            </a:r>
            <a:r>
              <a:rPr lang="en-US" sz="2400" baseline="30000"/>
              <a:t>2</a:t>
            </a:r>
            <a:r>
              <a:rPr lang="en-US" sz="2400"/>
              <a:t> parameters to compute the inputs to the multi-head self-attention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EC71A-089F-6F23-8141-51F5822CE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14" y="1825625"/>
            <a:ext cx="6980525" cy="4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73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1D6DC-1703-4AC3-30BE-5BF15DE6D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4ABE1-50BB-A461-CC75-9F54A8320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8120" cy="4351338"/>
          </a:xfrm>
        </p:spPr>
        <p:txBody>
          <a:bodyPr/>
          <a:lstStyle/>
          <a:p>
            <a:r>
              <a:rPr lang="en-US"/>
              <a:t> Combine the computation of the projections down to a lower dimensional representation and the computations of the keys, queries and values into three k×k matrices</a:t>
            </a:r>
          </a:p>
          <a:p>
            <a:r>
              <a:rPr lang="en-US"/>
              <a:t>Just like in a single self attention</a:t>
            </a:r>
          </a:p>
        </p:txBody>
      </p:sp>
      <p:sp>
        <p:nvSpPr>
          <p:cNvPr id="5" name="AutoShape 3" descr="A diagram showing the efficient computation of key query and value matrices in multi-head self-attention.">
            <a:extLst>
              <a:ext uri="{FF2B5EF4-FFF2-40B4-BE49-F238E27FC236}">
                <a16:creationId xmlns:a16="http://schemas.microsoft.com/office/drawing/2014/main" id="{91811C7C-7803-19D1-478A-D5A12E9B65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5FACB2-ADF8-CE9A-176C-2C08F1F21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643" y="365125"/>
            <a:ext cx="4305673" cy="606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12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7A9A-467C-6D35-C7D5-77F357806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Self-attention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D145E-5E42-8E01-DAC4-C87C9AE93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10AA2-1F80-B0E0-8AD8-15062B6C3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274" y="1370365"/>
            <a:ext cx="4953429" cy="3086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A3C889-41C5-8689-50CF-8D42067A5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653" y="4456732"/>
            <a:ext cx="4961050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2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AC4C-53CE-1000-B463-530FD3E5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59" y="198161"/>
            <a:ext cx="443288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/>
              <a:t>def forward(self, x):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b, t, k = x.size()</a:t>
            </a:r>
            <a:br>
              <a:rPr lang="en-US" sz="1200"/>
            </a:br>
            <a:r>
              <a:rPr lang="en-US" sz="1200"/>
              <a:t>   h = self.heads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queries = self.toqueries(x)</a:t>
            </a:r>
            <a:br>
              <a:rPr lang="en-US" sz="1200"/>
            </a:br>
            <a:r>
              <a:rPr lang="en-US" sz="1200"/>
              <a:t>   keys    = self.tokeys(x)</a:t>
            </a:r>
            <a:br>
              <a:rPr lang="en-US" sz="1200"/>
            </a:br>
            <a:r>
              <a:rPr lang="en-US" sz="1200"/>
              <a:t>   values  = self.tovalues(x)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s = k // h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keys = keys.view(b, t, h, s)</a:t>
            </a:r>
            <a:br>
              <a:rPr lang="en-US" sz="1200"/>
            </a:br>
            <a:r>
              <a:rPr lang="en-US" sz="1200"/>
              <a:t>   queries = queries.view(b, t, h, s)</a:t>
            </a:r>
            <a:br>
              <a:rPr lang="en-US" sz="1200"/>
            </a:br>
            <a:r>
              <a:rPr lang="en-US" sz="1200"/>
              <a:t>   values = values.view(b, t, h,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- fold heads into the batch dimension</a:t>
            </a:r>
            <a:br>
              <a:rPr lang="en-US" sz="1200"/>
            </a:br>
            <a:r>
              <a:rPr lang="en-US" sz="1200"/>
              <a:t>   keys = keys.transpose(1, 2).contiguous().view(b * h, t, s)</a:t>
            </a:r>
            <a:br>
              <a:rPr lang="en-US" sz="1200"/>
            </a:br>
            <a:r>
              <a:rPr lang="en-US" sz="1200"/>
              <a:t>   queries = queries.transpose(1, 2).contiguous().view(b * h, t, s)</a:t>
            </a:r>
            <a:br>
              <a:rPr lang="en-US" sz="1200"/>
            </a:br>
            <a:r>
              <a:rPr lang="en-US" sz="1200"/>
              <a:t>   values = values.transpose(1, 2).contiguous().view(b * h, t,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Get dot product of queries and keys, and scale</a:t>
            </a:r>
            <a:br>
              <a:rPr lang="en-US" sz="1200"/>
            </a:br>
            <a:r>
              <a:rPr lang="en-US" sz="1200"/>
              <a:t>   dot = torch.bmm(queries, keys.transpose(1, 2))</a:t>
            </a:r>
            <a:br>
              <a:rPr lang="en-US" sz="1200"/>
            </a:br>
            <a:r>
              <a:rPr lang="en-US" sz="1200"/>
              <a:t>   # -- dot has size (b*h, t, t) containing raw weights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scale the dot product</a:t>
            </a:r>
            <a:br>
              <a:rPr lang="en-US" sz="1200"/>
            </a:br>
            <a:r>
              <a:rPr lang="en-US" sz="1200"/>
              <a:t>   dot = dot / (s ** (1 / 2))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normalize</a:t>
            </a:r>
            <a:br>
              <a:rPr lang="en-US" sz="1200"/>
            </a:br>
            <a:r>
              <a:rPr lang="en-US" sz="1200"/>
              <a:t>   dot = F.softmax(dot, dim=2)</a:t>
            </a:r>
            <a:br>
              <a:rPr lang="en-US" sz="1200"/>
            </a:br>
            <a:r>
              <a:rPr lang="en-US" sz="1200"/>
              <a:t>   # - dot now contains row-wise normalized weights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apply the self attention to the values</a:t>
            </a:r>
            <a:br>
              <a:rPr lang="en-US" sz="1200"/>
            </a:br>
            <a:r>
              <a:rPr lang="en-US" sz="1200"/>
              <a:t>   out = torch.bmm(dot, values).view(b, h, t,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swap h, t back, unify heads</a:t>
            </a:r>
            <a:br>
              <a:rPr lang="en-US" sz="1200"/>
            </a:br>
            <a:r>
              <a:rPr lang="en-US" sz="1200"/>
              <a:t>   out = out.transpose(1, 2).contiguous().view(b, t, s * h)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return self.unifyheads(out)</a:t>
            </a: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ADB6E-7269-7D4D-EC2C-DE544F2A6B63}"/>
              </a:ext>
            </a:extLst>
          </p:cNvPr>
          <p:cNvSpPr txBox="1"/>
          <p:nvPr/>
        </p:nvSpPr>
        <p:spPr>
          <a:xfrm>
            <a:off x="6652470" y="1031846"/>
            <a:ext cx="5128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compute the queries, keys and values for all heads -&gt;  three vector sequences of the full embedding dimension k. 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920648-F114-B3BA-C6AF-43D12D9F30B7}"/>
              </a:ext>
            </a:extLst>
          </p:cNvPr>
          <p:cNvCxnSpPr/>
          <p:nvPr/>
        </p:nvCxnSpPr>
        <p:spPr>
          <a:xfrm flipH="1" flipV="1">
            <a:off x="2390862" y="1275127"/>
            <a:ext cx="4018327" cy="2432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314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27D0-86E1-9337-0197-62335597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D5D11-5343-F1F6-5444-7654E88BD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59" y="198161"/>
            <a:ext cx="443288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/>
              <a:t>def forward(self, x):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b, t, k = x.size()</a:t>
            </a:r>
            <a:br>
              <a:rPr lang="en-US" sz="1200"/>
            </a:br>
            <a:r>
              <a:rPr lang="en-US" sz="1200"/>
              <a:t>   h = self.heads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queries = self.toqueries(x)</a:t>
            </a:r>
            <a:br>
              <a:rPr lang="en-US" sz="1200"/>
            </a:br>
            <a:r>
              <a:rPr lang="en-US" sz="1200"/>
              <a:t>   keys    = self.tokeys(x)</a:t>
            </a:r>
            <a:br>
              <a:rPr lang="en-US" sz="1200"/>
            </a:br>
            <a:r>
              <a:rPr lang="en-US" sz="1200"/>
              <a:t>   values  = self.tovalues(x)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s = k // h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keys = keys.view(b, t, h, s)</a:t>
            </a:r>
            <a:br>
              <a:rPr lang="en-US" sz="1200"/>
            </a:br>
            <a:r>
              <a:rPr lang="en-US" sz="1200"/>
              <a:t>   queries = queries.view(b, t, h, s)</a:t>
            </a:r>
            <a:br>
              <a:rPr lang="en-US" sz="1200"/>
            </a:br>
            <a:r>
              <a:rPr lang="en-US" sz="1200"/>
              <a:t>   values = values.view(b, t, h,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- fold heads into the batch dimension</a:t>
            </a:r>
            <a:br>
              <a:rPr lang="en-US" sz="1200"/>
            </a:br>
            <a:r>
              <a:rPr lang="en-US" sz="1200"/>
              <a:t>   keys = keys.transpose(1, 2).contiguous().view(b * h, t, s)</a:t>
            </a:r>
            <a:br>
              <a:rPr lang="en-US" sz="1200"/>
            </a:br>
            <a:r>
              <a:rPr lang="en-US" sz="1200"/>
              <a:t>   queries = queries.transpose(1, 2).contiguous().view(b * h, t, s)</a:t>
            </a:r>
            <a:br>
              <a:rPr lang="en-US" sz="1200"/>
            </a:br>
            <a:r>
              <a:rPr lang="en-US" sz="1200"/>
              <a:t>   values = values.transpose(1, 2).contiguous().view(b * h, t,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Get dot product of queries and keys, and scale</a:t>
            </a:r>
            <a:br>
              <a:rPr lang="en-US" sz="1200"/>
            </a:br>
            <a:r>
              <a:rPr lang="en-US" sz="1200"/>
              <a:t>   dot = torch.bmm(queries, keys.transpose(1, 2))</a:t>
            </a:r>
            <a:br>
              <a:rPr lang="en-US" sz="1200"/>
            </a:br>
            <a:r>
              <a:rPr lang="en-US" sz="1200"/>
              <a:t>   # -- dot has size (b*h, t, t) containing raw weights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scale the dot product</a:t>
            </a:r>
            <a:br>
              <a:rPr lang="en-US" sz="1200"/>
            </a:br>
            <a:r>
              <a:rPr lang="en-US" sz="1200"/>
              <a:t>   dot = dot / (s ** (1 / 2))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normalize</a:t>
            </a:r>
            <a:br>
              <a:rPr lang="en-US" sz="1200"/>
            </a:br>
            <a:r>
              <a:rPr lang="en-US" sz="1200"/>
              <a:t>   dot = F.softmax(dot, dim=2)</a:t>
            </a:r>
            <a:br>
              <a:rPr lang="en-US" sz="1200"/>
            </a:br>
            <a:r>
              <a:rPr lang="en-US" sz="1200"/>
              <a:t>   # - dot now contains row-wise normalized weights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apply the self attention to the values</a:t>
            </a:r>
            <a:br>
              <a:rPr lang="en-US" sz="1200"/>
            </a:br>
            <a:r>
              <a:rPr lang="en-US" sz="1200"/>
              <a:t>   out = torch.bmm(dot, values).view(b, h, t,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swap h, t back, unify heads</a:t>
            </a:r>
            <a:br>
              <a:rPr lang="en-US" sz="1200"/>
            </a:br>
            <a:r>
              <a:rPr lang="en-US" sz="1200"/>
              <a:t>   out = out.transpose(1, 2).contiguous().view(b, t, s * h)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return self.unifyheads(out)</a:t>
            </a: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3F0A1-573E-74CD-BCE4-C3FB173546F0}"/>
              </a:ext>
            </a:extLst>
          </p:cNvPr>
          <p:cNvSpPr txBox="1"/>
          <p:nvPr/>
        </p:nvSpPr>
        <p:spPr>
          <a:xfrm>
            <a:off x="6652470" y="1031846"/>
            <a:ext cx="5128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Cut these vectors into h chunks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1BCBC0-907E-066E-2358-57C9F050C6F0}"/>
              </a:ext>
            </a:extLst>
          </p:cNvPr>
          <p:cNvCxnSpPr>
            <a:cxnSpLocks/>
          </p:cNvCxnSpPr>
          <p:nvPr/>
        </p:nvCxnSpPr>
        <p:spPr>
          <a:xfrm flipH="1">
            <a:off x="2726422" y="1518407"/>
            <a:ext cx="3682767" cy="3523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F9909F6-320A-C91E-56E0-8558D8045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76463"/>
            <a:ext cx="4214225" cy="30558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B7F9CA-AA5C-3661-BF0E-B62057E4AF9B}"/>
              </a:ext>
            </a:extLst>
          </p:cNvPr>
          <p:cNvSpPr/>
          <p:nvPr/>
        </p:nvSpPr>
        <p:spPr>
          <a:xfrm>
            <a:off x="411059" y="1635853"/>
            <a:ext cx="2986482" cy="956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27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8D4F-3B9B-78F4-6617-547EA768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D083-77D4-1E44-C0A9-D25D45B60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59" y="198161"/>
            <a:ext cx="443288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/>
              <a:t>def forward(self, x):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b, t, k = x.size()</a:t>
            </a:r>
            <a:br>
              <a:rPr lang="en-US" sz="1200"/>
            </a:br>
            <a:r>
              <a:rPr lang="en-US" sz="1200"/>
              <a:t>   h = self.heads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queries = self.toqueries(x)</a:t>
            </a:r>
            <a:br>
              <a:rPr lang="en-US" sz="1200"/>
            </a:br>
            <a:r>
              <a:rPr lang="en-US" sz="1200"/>
              <a:t>   keys    = self.tokeys(x)</a:t>
            </a:r>
            <a:br>
              <a:rPr lang="en-US" sz="1200"/>
            </a:br>
            <a:r>
              <a:rPr lang="en-US" sz="1200"/>
              <a:t>   values  = self.tovalues(x)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s = k // h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keys = keys.view(b, t, h, s)</a:t>
            </a:r>
            <a:br>
              <a:rPr lang="en-US" sz="1200"/>
            </a:br>
            <a:r>
              <a:rPr lang="en-US" sz="1200"/>
              <a:t>   queries = queries.view(b, t, h, s)</a:t>
            </a:r>
            <a:br>
              <a:rPr lang="en-US" sz="1200"/>
            </a:br>
            <a:r>
              <a:rPr lang="en-US" sz="1200"/>
              <a:t>   values = values.view(b, t, h,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- fold heads into the batch dimension</a:t>
            </a:r>
            <a:br>
              <a:rPr lang="en-US" sz="1200"/>
            </a:br>
            <a:r>
              <a:rPr lang="en-US" sz="1200"/>
              <a:t>   keys = keys.transpose(1, 2).contiguous().view(b * h, t, s)</a:t>
            </a:r>
            <a:br>
              <a:rPr lang="en-US" sz="1200"/>
            </a:br>
            <a:r>
              <a:rPr lang="en-US" sz="1200"/>
              <a:t>   queries = queries.transpose(1, 2).contiguous().view(b * h, t, s)</a:t>
            </a:r>
            <a:br>
              <a:rPr lang="en-US" sz="1200"/>
            </a:br>
            <a:r>
              <a:rPr lang="en-US" sz="1200"/>
              <a:t>   values = values.transpose(1, 2).contiguous().view(b * h, t,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Get dot product of queries and keys, and scale</a:t>
            </a:r>
            <a:br>
              <a:rPr lang="en-US" sz="1200"/>
            </a:br>
            <a:r>
              <a:rPr lang="en-US" sz="1200"/>
              <a:t>   dot = torch.bmm(queries, keys.transpose(1, 2))</a:t>
            </a:r>
            <a:br>
              <a:rPr lang="en-US" sz="1200"/>
            </a:br>
            <a:r>
              <a:rPr lang="en-US" sz="1200"/>
              <a:t>   # -- dot has size (b*h, t, t) containing raw weights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scale the dot product</a:t>
            </a:r>
            <a:br>
              <a:rPr lang="en-US" sz="1200"/>
            </a:br>
            <a:r>
              <a:rPr lang="en-US" sz="1200"/>
              <a:t>   dot = dot / (s ** (1 / 2))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normalize</a:t>
            </a:r>
            <a:br>
              <a:rPr lang="en-US" sz="1200"/>
            </a:br>
            <a:r>
              <a:rPr lang="en-US" sz="1200"/>
              <a:t>   dot = F.softmax(dot, dim=2)</a:t>
            </a:r>
            <a:br>
              <a:rPr lang="en-US" sz="1200"/>
            </a:br>
            <a:r>
              <a:rPr lang="en-US" sz="1200"/>
              <a:t>   # - dot now contains row-wise normalized weights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apply the self attention to the values</a:t>
            </a:r>
            <a:br>
              <a:rPr lang="en-US" sz="1200"/>
            </a:br>
            <a:r>
              <a:rPr lang="en-US" sz="1200"/>
              <a:t>   out = torch.bmm(dot, values).view(b, h, t,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swap h, t back, unify heads</a:t>
            </a:r>
            <a:br>
              <a:rPr lang="en-US" sz="1200"/>
            </a:br>
            <a:r>
              <a:rPr lang="en-US" sz="1200"/>
              <a:t>   out = out.transpose(1, 2).contiguous().view(b, t, s * h)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return self.unifyheads(out)</a:t>
            </a: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B545B-7A7E-2B43-CC69-F4A2D7919B3A}"/>
              </a:ext>
            </a:extLst>
          </p:cNvPr>
          <p:cNvSpPr txBox="1"/>
          <p:nvPr/>
        </p:nvSpPr>
        <p:spPr>
          <a:xfrm>
            <a:off x="6712589" y="1082180"/>
            <a:ext cx="51284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batch, seq_len, heads, head_dim, i.e. b, t, h, s</a:t>
            </a:r>
          </a:p>
          <a:p>
            <a:r>
              <a:rPr lang="en-US" b="1">
                <a:solidFill>
                  <a:srgbClr val="FF0000"/>
                </a:solidFill>
              </a:rPr>
              <a:t>.transpose(1, 2) </a:t>
            </a:r>
            <a:r>
              <a:rPr lang="en-US">
                <a:solidFill>
                  <a:srgbClr val="FF0000"/>
                </a:solidFill>
              </a:rPr>
              <a:t>-&gt; swaps seq_len and heads</a:t>
            </a:r>
          </a:p>
          <a:p>
            <a:r>
              <a:rPr lang="pt-BR">
                <a:solidFill>
                  <a:srgbClr val="FF0000"/>
                </a:solidFill>
              </a:rPr>
              <a:t>(b, t, h, s) → (b, h, t, s)</a:t>
            </a:r>
            <a:endParaRPr lang="en-US">
              <a:solidFill>
                <a:srgbClr val="FF0000"/>
              </a:solidFill>
            </a:endParaRPr>
          </a:p>
          <a:p>
            <a:r>
              <a:rPr lang="en-US">
                <a:solidFill>
                  <a:srgbClr val="FF0000"/>
                </a:solidFill>
              </a:rPr>
              <a:t>Data is not contiguous, use </a:t>
            </a:r>
            <a:r>
              <a:rPr lang="en-US" b="1">
                <a:solidFill>
                  <a:srgbClr val="FF0000"/>
                </a:solidFill>
              </a:rPr>
              <a:t>.contiguous()</a:t>
            </a:r>
            <a:r>
              <a:rPr lang="en-US">
                <a:solidFill>
                  <a:srgbClr val="FF0000"/>
                </a:solidFill>
              </a:rPr>
              <a:t> to physically reorder the data </a:t>
            </a:r>
          </a:p>
          <a:p>
            <a:r>
              <a:rPr lang="en-US" b="1">
                <a:solidFill>
                  <a:srgbClr val="FF0000"/>
                </a:solidFill>
              </a:rPr>
              <a:t>.view(b * h, t, s) </a:t>
            </a:r>
            <a:r>
              <a:rPr lang="en-US">
                <a:solidFill>
                  <a:srgbClr val="FF0000"/>
                </a:solidFill>
              </a:rPr>
              <a:t>-&gt; merge the batch and head dimensions 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>
              <a:solidFill>
                <a:srgbClr val="FF0000"/>
              </a:solidFill>
            </a:endParaRPr>
          </a:p>
          <a:p>
            <a:endParaRPr lang="en-US">
              <a:solidFill>
                <a:srgbClr val="FF0000"/>
              </a:solidFill>
            </a:endParaRPr>
          </a:p>
          <a:p>
            <a:r>
              <a:rPr lang="en-US">
                <a:solidFill>
                  <a:srgbClr val="FF0000"/>
                </a:solidFill>
              </a:rPr>
              <a:t>Treat </a:t>
            </a:r>
            <a:r>
              <a:rPr lang="en-US" b="1">
                <a:solidFill>
                  <a:srgbClr val="FF0000"/>
                </a:solidFill>
              </a:rPr>
              <a:t>each head as an independent batch element</a:t>
            </a:r>
            <a:r>
              <a:rPr lang="en-US">
                <a:solidFill>
                  <a:srgbClr val="FF0000"/>
                </a:solidFill>
              </a:rPr>
              <a:t>, so torch.bmm can process all heads in parallel in one call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BD7EF7-AD30-8C75-28ED-ED63D5FEBF09}"/>
              </a:ext>
            </a:extLst>
          </p:cNvPr>
          <p:cNvCxnSpPr>
            <a:cxnSpLocks/>
          </p:cNvCxnSpPr>
          <p:nvPr/>
        </p:nvCxnSpPr>
        <p:spPr>
          <a:xfrm flipH="1">
            <a:off x="4843942" y="1518407"/>
            <a:ext cx="1565247" cy="9563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F04F332-2ABE-D78E-5095-34AB2B68434B}"/>
              </a:ext>
            </a:extLst>
          </p:cNvPr>
          <p:cNvSpPr/>
          <p:nvPr/>
        </p:nvSpPr>
        <p:spPr>
          <a:xfrm>
            <a:off x="411059" y="2550253"/>
            <a:ext cx="4337110" cy="956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05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CDAA4-9288-9894-5FD4-BFEF0998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539AA-2E4B-F775-1E7C-0D99C8FA2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59" y="198161"/>
            <a:ext cx="443288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/>
              <a:t>def forward(self, x):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b, t, k = x.size()</a:t>
            </a:r>
            <a:br>
              <a:rPr lang="en-US" sz="1200"/>
            </a:br>
            <a:r>
              <a:rPr lang="en-US" sz="1200"/>
              <a:t>   h = self.heads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queries = self.toqueries(x)</a:t>
            </a:r>
            <a:br>
              <a:rPr lang="en-US" sz="1200"/>
            </a:br>
            <a:r>
              <a:rPr lang="en-US" sz="1200"/>
              <a:t>   keys    = self.tokeys(x)</a:t>
            </a:r>
            <a:br>
              <a:rPr lang="en-US" sz="1200"/>
            </a:br>
            <a:r>
              <a:rPr lang="en-US" sz="1200"/>
              <a:t>   values  = self.tovalues(x)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s = k // h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keys = keys.view(b, t, h, s)</a:t>
            </a:r>
            <a:br>
              <a:rPr lang="en-US" sz="1200"/>
            </a:br>
            <a:r>
              <a:rPr lang="en-US" sz="1200"/>
              <a:t>   queries = queries.view(b, t, h, s)</a:t>
            </a:r>
            <a:br>
              <a:rPr lang="en-US" sz="1200"/>
            </a:br>
            <a:r>
              <a:rPr lang="en-US" sz="1200"/>
              <a:t>   values = values.view(b, t, h,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- fold heads into the batch dimension</a:t>
            </a:r>
            <a:br>
              <a:rPr lang="en-US" sz="1200"/>
            </a:br>
            <a:r>
              <a:rPr lang="en-US" sz="1200"/>
              <a:t>   keys = keys.transpose(1, 2).contiguous().view(b * h, t, s)</a:t>
            </a:r>
            <a:br>
              <a:rPr lang="en-US" sz="1200"/>
            </a:br>
            <a:r>
              <a:rPr lang="en-US" sz="1200"/>
              <a:t>   queries = queries.transpose(1, 2).contiguous().view(b * h, t, s)</a:t>
            </a:r>
            <a:br>
              <a:rPr lang="en-US" sz="1200"/>
            </a:br>
            <a:r>
              <a:rPr lang="en-US" sz="1200"/>
              <a:t>   values = values.transpose(1, 2).contiguous().view(b * h, t,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Get dot product of queries and keys, and scale</a:t>
            </a:r>
            <a:br>
              <a:rPr lang="en-US" sz="1200"/>
            </a:br>
            <a:r>
              <a:rPr lang="en-US" sz="1200"/>
              <a:t>   dot = torch.bmm(queries, keys.transpose(1, 2))</a:t>
            </a:r>
            <a:br>
              <a:rPr lang="en-US" sz="1200"/>
            </a:br>
            <a:r>
              <a:rPr lang="en-US" sz="1200"/>
              <a:t>   # -- dot has size (b*h, t, t) containing raw weights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scale the dot product</a:t>
            </a:r>
            <a:br>
              <a:rPr lang="en-US" sz="1200"/>
            </a:br>
            <a:r>
              <a:rPr lang="en-US" sz="1200"/>
              <a:t>   dot = dot / (s ** (1 / 2))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normalize</a:t>
            </a:r>
            <a:br>
              <a:rPr lang="en-US" sz="1200"/>
            </a:br>
            <a:r>
              <a:rPr lang="en-US" sz="1200"/>
              <a:t>   dot = F.softmax(dot, dim=2)</a:t>
            </a:r>
            <a:br>
              <a:rPr lang="en-US" sz="1200"/>
            </a:br>
            <a:r>
              <a:rPr lang="en-US" sz="1200"/>
              <a:t>   # - dot now contains row-wise normalized weights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apply the self attention to the values</a:t>
            </a:r>
            <a:br>
              <a:rPr lang="en-US" sz="1200"/>
            </a:br>
            <a:r>
              <a:rPr lang="en-US" sz="1200"/>
              <a:t>   out = torch.bmm(dot, values).view(b, h, t, s)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# swap h, t back, unify heads</a:t>
            </a:r>
            <a:br>
              <a:rPr lang="en-US" sz="1200"/>
            </a:br>
            <a:r>
              <a:rPr lang="en-US" sz="1200"/>
              <a:t>   out = out.transpose(1, 2).contiguous().view(b, t, s * h)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   return self.unifyheads(out)</a:t>
            </a: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995C9-79E4-8496-F0C1-9B50E6244BF1}"/>
              </a:ext>
            </a:extLst>
          </p:cNvPr>
          <p:cNvSpPr txBox="1"/>
          <p:nvPr/>
        </p:nvSpPr>
        <p:spPr>
          <a:xfrm>
            <a:off x="6712589" y="1082180"/>
            <a:ext cx="51284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transpose again, so that the head dimension and the embedding dimension are next to each other, and reshape to get concatenated vectors of dimension e. </a:t>
            </a:r>
          </a:p>
          <a:p>
            <a:endParaRPr lang="en-US">
              <a:solidFill>
                <a:srgbClr val="FF0000"/>
              </a:solidFill>
            </a:endParaRPr>
          </a:p>
          <a:p>
            <a:r>
              <a:rPr lang="en-US">
                <a:solidFill>
                  <a:srgbClr val="FF0000"/>
                </a:solidFill>
              </a:rPr>
              <a:t>pass these through the unifyheads (Linear(k, k)) layer for a final projection.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AA9AE7-D297-3538-5554-922F643EB2F0}"/>
              </a:ext>
            </a:extLst>
          </p:cNvPr>
          <p:cNvCxnSpPr>
            <a:cxnSpLocks/>
          </p:cNvCxnSpPr>
          <p:nvPr/>
        </p:nvCxnSpPr>
        <p:spPr>
          <a:xfrm flipH="1">
            <a:off x="4530753" y="2483141"/>
            <a:ext cx="2181836" cy="35149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3F9F24E-534A-7B05-CA4C-87654F46E382}"/>
              </a:ext>
            </a:extLst>
          </p:cNvPr>
          <p:cNvSpPr/>
          <p:nvPr/>
        </p:nvSpPr>
        <p:spPr>
          <a:xfrm>
            <a:off x="411059" y="5771626"/>
            <a:ext cx="3993161" cy="7633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84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F1D321-0909-9000-81F2-3AC732BF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Positional Encodings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456147-521D-27F5-0181-91582EE4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“Words” in a sentence simultaneously flows through the Transformer’s encoder/decoder stack</a:t>
            </a:r>
          </a:p>
          <a:p>
            <a:r>
              <a:rPr lang="en-US"/>
              <a:t>The model itself doesn’t have any sense of position/order for each word</a:t>
            </a:r>
          </a:p>
          <a:p>
            <a:r>
              <a:rPr lang="en-US"/>
              <a:t>Incorporate token order</a:t>
            </a:r>
          </a:p>
          <a:p>
            <a:pPr lvl="1"/>
            <a:r>
              <a:rPr lang="en-US"/>
              <a:t>Unique encoding for each time-step (word’s position in a sentence).</a:t>
            </a:r>
          </a:p>
          <a:p>
            <a:pPr lvl="1"/>
            <a:r>
              <a:rPr lang="en-US"/>
              <a:t>Distance between any two time-steps should be consistent across sentences with different lengths.</a:t>
            </a:r>
          </a:p>
          <a:p>
            <a:pPr lvl="1"/>
            <a:r>
              <a:rPr lang="en-US"/>
              <a:t>Generalize to longer sentences without any efforts. </a:t>
            </a:r>
          </a:p>
          <a:p>
            <a:pPr lvl="1"/>
            <a:r>
              <a:rPr lang="en-US"/>
              <a:t>Bounded values.</a:t>
            </a:r>
          </a:p>
          <a:p>
            <a:pPr lvl="1"/>
            <a:r>
              <a:rPr lang="en-US"/>
              <a:t>It must be deterministic.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77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15F5-A7F2-9534-F6FB-98D6974D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Positional 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F4A30-14CB-B0FB-72F5-3CD87D3FC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Frequencies decrease along the vector dimension. </a:t>
            </a:r>
          </a:p>
          <a:p>
            <a:pPr lvl="1"/>
            <a:r>
              <a:rPr lang="en-US" dirty="0"/>
              <a:t>Geometric progression from 2π to 10000⋅2π on the wavelengths.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A29E97-293E-6FF1-F8E0-A11223DB2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44" y="2979195"/>
            <a:ext cx="5378281" cy="26405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504C26-1958-6E07-6715-AA97BB5F2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949" y="3007771"/>
            <a:ext cx="1691786" cy="26119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5F4FD8-126F-E119-DBF2-A816E2B32DCC}"/>
              </a:ext>
            </a:extLst>
          </p:cNvPr>
          <p:cNvSpPr txBox="1"/>
          <p:nvPr/>
        </p:nvSpPr>
        <p:spPr>
          <a:xfrm>
            <a:off x="2036075" y="5650865"/>
            <a:ext cx="62298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>
                <a:hlinkClick r:id="rId4"/>
              </a:rPr>
              <a:t>https://kazemnejad.com/blog/transformer_architecture_positional_encoding/</a:t>
            </a:r>
            <a:r>
              <a:rPr lang="en-US" sz="75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9587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20A2-DB6E-3D10-4747-56F05940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Positional Encodings </a:t>
            </a:r>
            <a:br>
              <a:rPr lang="en-US"/>
            </a:br>
            <a:r>
              <a:rPr lang="en-US" sz="2400"/>
              <a:t>Intuition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A5EDA-2630-B6A5-13E7-FF04E89C1BD1}"/>
              </a:ext>
            </a:extLst>
          </p:cNvPr>
          <p:cNvSpPr txBox="1"/>
          <p:nvPr/>
        </p:nvSpPr>
        <p:spPr>
          <a:xfrm>
            <a:off x="2085538" y="5591176"/>
            <a:ext cx="62298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 dirty="0">
                <a:hlinkClick r:id="rId2"/>
              </a:rPr>
              <a:t>https://kazemnejad.com/blog/transformer_architecture_positional_encoding/</a:t>
            </a:r>
            <a:r>
              <a:rPr lang="en-US" sz="750" dirty="0"/>
              <a:t> </a:t>
            </a:r>
          </a:p>
        </p:txBody>
      </p:sp>
      <p:pic>
        <p:nvPicPr>
          <p:cNvPr id="1026" name="Picture 2" descr="Sinusoidal position encoding">
            <a:extLst>
              <a:ext uri="{FF2B5EF4-FFF2-40B4-BE49-F238E27FC236}">
                <a16:creationId xmlns:a16="http://schemas.microsoft.com/office/drawing/2014/main" id="{9FA57099-8EF4-904D-B070-994680E6D6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585" y="2384641"/>
            <a:ext cx="6379207" cy="308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7CCAF6-212F-795A-AA41-999D1C3BA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210" y="3006612"/>
            <a:ext cx="2491956" cy="1703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A8F080-72A7-CAA2-C4E6-3C1DD5AE5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562" y="1901360"/>
            <a:ext cx="3212108" cy="582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CFF460-7DAD-BE01-862D-12487F7C7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6137" y="1958022"/>
            <a:ext cx="983066" cy="44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18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B5A0-6C73-E8C7-4EF4-C527A797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Positional 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485B4-4535-F7B3-21A0-1C5CE0CF3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“We chose this function because we hypothesized it would allow the model to easily learn to attend by relative positions, since for any fixed offset k, PE</a:t>
            </a:r>
            <a:r>
              <a:rPr lang="en-US" i="1" baseline="-25000"/>
              <a:t>pos+k</a:t>
            </a:r>
            <a:r>
              <a:rPr lang="en-US" i="1"/>
              <a:t> can be represented as a linear function of PE</a:t>
            </a:r>
            <a:r>
              <a:rPr lang="en-US" i="1" baseline="-25000"/>
              <a:t>pos</a:t>
            </a:r>
            <a:r>
              <a:rPr lang="en-US" i="1"/>
              <a:t>.”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D0981-3A32-9F6D-1BB1-A028DE264638}"/>
              </a:ext>
            </a:extLst>
          </p:cNvPr>
          <p:cNvSpPr txBox="1"/>
          <p:nvPr/>
        </p:nvSpPr>
        <p:spPr>
          <a:xfrm>
            <a:off x="2079247" y="5684865"/>
            <a:ext cx="62298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>
                <a:hlinkClick r:id="rId2"/>
              </a:rPr>
              <a:t>https://kazemnejad.com/blog/transformer_architecture_positional_encoding/</a:t>
            </a:r>
            <a:r>
              <a:rPr lang="en-US" sz="75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6985F9-0325-C12D-8034-E43EC58D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479" y="3858222"/>
            <a:ext cx="2726291" cy="64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89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27D3B-E883-C9E2-D278-B872A35B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236" y="870942"/>
            <a:ext cx="7886700" cy="994172"/>
          </a:xfrm>
        </p:spPr>
        <p:txBody>
          <a:bodyPr/>
          <a:lstStyle/>
          <a:p>
            <a:r>
              <a:rPr lang="en-US"/>
              <a:t>Positional Encodings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3E95CE-B826-7067-248C-AF6AC4BF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763FA-0C39-D966-FA16-37862E542A77}"/>
              </a:ext>
            </a:extLst>
          </p:cNvPr>
          <p:cNvSpPr txBox="1"/>
          <p:nvPr/>
        </p:nvSpPr>
        <p:spPr>
          <a:xfrm>
            <a:off x="2079247" y="5684865"/>
            <a:ext cx="622987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>
                <a:hlinkClick r:id="rId2"/>
              </a:rPr>
              <a:t>https://kazemnejad.com/blog/transformer_architecture_positional_encoding/</a:t>
            </a:r>
            <a:r>
              <a:rPr lang="en-US" sz="75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CD86C5-F9F2-F061-6968-8BF3F4444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418" y="1804153"/>
            <a:ext cx="4735340" cy="37607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8C120-16EA-A53A-66D0-E3A849196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551" y="1109107"/>
            <a:ext cx="2669136" cy="10573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E52331-5255-01D0-4C58-325D6F401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262" y="4651664"/>
            <a:ext cx="2640559" cy="66871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E9BA55F5-93B8-D868-31E8-FE3678C70E98}"/>
              </a:ext>
            </a:extLst>
          </p:cNvPr>
          <p:cNvSpPr/>
          <p:nvPr/>
        </p:nvSpPr>
        <p:spPr>
          <a:xfrm>
            <a:off x="7237873" y="4856479"/>
            <a:ext cx="552191" cy="259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126658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2F86-E06C-2C7B-0032-AA8FE95BA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Positional 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F235-7D2C-A5F8-B2D2-AB88742F3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distance between neighboring time-steps is symmetrical</a:t>
            </a:r>
          </a:p>
        </p:txBody>
      </p:sp>
      <p:pic>
        <p:nvPicPr>
          <p:cNvPr id="2050" name="Picture 2" descr="Sinusoidal position encoding">
            <a:extLst>
              <a:ext uri="{FF2B5EF4-FFF2-40B4-BE49-F238E27FC236}">
                <a16:creationId xmlns:a16="http://schemas.microsoft.com/office/drawing/2014/main" id="{B335197D-5E0A-302A-9F89-6F53602F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232" y="2542662"/>
            <a:ext cx="3882789" cy="312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477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17692E-E160-16EC-6F85-682C5D38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Attention is all you need </a:t>
            </a:r>
            <a:br>
              <a:rPr lang="en-GB" dirty="0"/>
            </a:br>
            <a:r>
              <a:rPr lang="en-GB" sz="4000" dirty="0"/>
              <a:t>Step by step</a:t>
            </a:r>
            <a:endParaRPr lang="en-US" sz="4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9980E-ECA4-9667-5D95-67A37352F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12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122" y="1052736"/>
            <a:ext cx="3875187" cy="4818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3603" y="121232"/>
            <a:ext cx="8229600" cy="1143000"/>
          </a:xfrm>
        </p:spPr>
        <p:txBody>
          <a:bodyPr/>
          <a:lstStyle/>
          <a:p>
            <a:r>
              <a:rPr lang="en-GB" dirty="0"/>
              <a:t>Transformer architecture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5799262"/>
            <a:ext cx="65786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047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Transformer: encoder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71" y="1600201"/>
            <a:ext cx="5244413" cy="4525963"/>
          </a:xfrm>
        </p:spPr>
        <p:txBody>
          <a:bodyPr>
            <a:normAutofit/>
          </a:bodyPr>
          <a:lstStyle/>
          <a:p>
            <a:r>
              <a:rPr lang="en-GB" dirty="0"/>
              <a:t>Multi head attention layer</a:t>
            </a:r>
          </a:p>
          <a:p>
            <a:r>
              <a:rPr lang="en-GB" dirty="0"/>
              <a:t>Layer normalization</a:t>
            </a:r>
          </a:p>
          <a:p>
            <a:r>
              <a:rPr lang="en-GB" dirty="0"/>
              <a:t> Feed forward layer (applied independently to each vector) </a:t>
            </a:r>
          </a:p>
          <a:p>
            <a:r>
              <a:rPr lang="en-GB" dirty="0"/>
              <a:t>Layer normalization</a:t>
            </a:r>
          </a:p>
          <a:p>
            <a:pPr marL="0" indent="0">
              <a:buNone/>
            </a:pPr>
            <a:r>
              <a:rPr lang="en-GB" dirty="0"/>
              <a:t>+ Residual connections (before the normalizations)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0"/>
          <a:stretch/>
        </p:blipFill>
        <p:spPr bwMode="auto">
          <a:xfrm>
            <a:off x="6918960" y="1196752"/>
            <a:ext cx="2872318" cy="4368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2011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Layer Normalization Explained | Papers With Co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240" y="3243046"/>
            <a:ext cx="2874560" cy="293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Batch norm </a:t>
            </a:r>
            <a:r>
              <a:rPr lang="en-GB" dirty="0" err="1"/>
              <a:t>vs</a:t>
            </a:r>
            <a:r>
              <a:rPr lang="en-GB" dirty="0"/>
              <a:t> Layer norm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40686" cy="4351338"/>
          </a:xfrm>
        </p:spPr>
        <p:txBody>
          <a:bodyPr/>
          <a:lstStyle/>
          <a:p>
            <a:r>
              <a:rPr lang="en-GB" dirty="0"/>
              <a:t>Layer norm: just like batch norm, but applied on a different dimension </a:t>
            </a:r>
          </a:p>
          <a:p>
            <a:r>
              <a:rPr lang="en-GB" dirty="0"/>
              <a:t>Does not propagate information across time dimension (self attention does this)</a:t>
            </a:r>
          </a:p>
          <a:p>
            <a:r>
              <a:rPr lang="en-GB" dirty="0"/>
              <a:t>Layer norm does not depend on batch size</a:t>
            </a:r>
          </a:p>
        </p:txBody>
      </p:sp>
    </p:spTree>
    <p:extLst>
      <p:ext uri="{BB962C8B-B14F-4D97-AF65-F5344CB8AC3E}">
        <p14:creationId xmlns:p14="http://schemas.microsoft.com/office/powerpoint/2010/main" val="1250133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8142-5608-9425-B991-73811177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 norm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E89E0-7D4C-55AE-39DA-572739119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2DD25-86CC-BFC3-0E68-1BB52FB66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535" y="1825625"/>
            <a:ext cx="9830435" cy="430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33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AE6EC-4FA2-2ADA-84D6-26C7CE9B8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6F95-C755-E6AB-8EAA-B80AB4A0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Transformer: encoder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B71A2-B094-0E14-3F8B-2BC37D063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600201"/>
            <a:ext cx="4961384" cy="4525963"/>
          </a:xfrm>
        </p:spPr>
        <p:txBody>
          <a:bodyPr>
            <a:normAutofit/>
          </a:bodyPr>
          <a:lstStyle/>
          <a:p>
            <a:r>
              <a:rPr lang="en-GB" dirty="0"/>
              <a:t>Multi head attention layer</a:t>
            </a:r>
          </a:p>
          <a:p>
            <a:r>
              <a:rPr lang="en-GB" dirty="0"/>
              <a:t>Layer normalization</a:t>
            </a:r>
          </a:p>
          <a:p>
            <a:r>
              <a:rPr lang="en-GB" dirty="0"/>
              <a:t> Feed forward layer (applied independently to each vector) </a:t>
            </a:r>
          </a:p>
          <a:p>
            <a:r>
              <a:rPr lang="en-GB" dirty="0"/>
              <a:t>Layer normalization</a:t>
            </a:r>
          </a:p>
          <a:p>
            <a:pPr marL="0" indent="0">
              <a:buNone/>
            </a:pPr>
            <a:r>
              <a:rPr lang="en-GB" dirty="0"/>
              <a:t>+ Residual connections (before the normalizations)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7C026C8-CAD8-CD1D-B2D9-266F23C4A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0"/>
          <a:stretch/>
        </p:blipFill>
        <p:spPr bwMode="auto">
          <a:xfrm>
            <a:off x="6918960" y="1196752"/>
            <a:ext cx="2872318" cy="4368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3721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Transformer: decoder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257" y="1600201"/>
            <a:ext cx="5720815" cy="4525963"/>
          </a:xfrm>
        </p:spPr>
        <p:txBody>
          <a:bodyPr/>
          <a:lstStyle/>
          <a:p>
            <a:r>
              <a:rPr lang="en-GB" dirty="0"/>
              <a:t>Input: block on the same level in the encoder and the previous level in the decoder</a:t>
            </a:r>
          </a:p>
          <a:p>
            <a:r>
              <a:rPr lang="en-GB" dirty="0"/>
              <a:t>Masked multi head attention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380" y="2396751"/>
            <a:ext cx="3827647" cy="2987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9010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694B1E-4A6A-CA31-BD98-DC7FEE351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Attention is all you need (step by step example)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548C86B-6F8E-1D56-0DA3-B936C421C2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https://youtu.be/Ub3GoFaUcds?t=5421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7336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Jay </a:t>
            </a:r>
            <a:r>
              <a:rPr lang="en-GB" sz="2000" dirty="0" err="1"/>
              <a:t>Alammar</a:t>
            </a:r>
            <a:r>
              <a:rPr lang="en-GB" sz="2000" dirty="0"/>
              <a:t> series on transformers</a:t>
            </a:r>
          </a:p>
          <a:p>
            <a:pPr lvl="1"/>
            <a:r>
              <a:rPr lang="en-GB" sz="2000" dirty="0">
                <a:hlinkClick r:id="rId2"/>
              </a:rPr>
              <a:t>https://jalammar.github.io/</a:t>
            </a:r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r>
              <a:rPr lang="en-GB" sz="2000" dirty="0"/>
              <a:t>Let’s build GPT from scratch</a:t>
            </a:r>
          </a:p>
          <a:p>
            <a:pPr lvl="1"/>
            <a:r>
              <a:rPr lang="en-GB" sz="2000" dirty="0">
                <a:hlinkClick r:id="rId3"/>
              </a:rPr>
              <a:t>https://www.youtube.com/watch?v=kCc8FmEb1nY</a:t>
            </a:r>
            <a:r>
              <a:rPr lang="en-GB" sz="2000" dirty="0"/>
              <a:t> 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State of GPT</a:t>
            </a:r>
          </a:p>
          <a:p>
            <a:pPr lvl="1"/>
            <a:r>
              <a:rPr lang="en-GB" sz="2000" dirty="0">
                <a:hlinkClick r:id="rId4"/>
              </a:rPr>
              <a:t>https://www.youtube.com/watch?v=bZQun8Y4L2A</a:t>
            </a:r>
            <a:r>
              <a:rPr lang="en-GB" sz="2000" dirty="0"/>
              <a:t> </a:t>
            </a:r>
          </a:p>
          <a:p>
            <a:pPr lvl="1"/>
            <a:endParaRPr lang="en-GB" sz="2000" dirty="0">
              <a:hlinkClick r:id="rId4"/>
            </a:endParaRPr>
          </a:p>
          <a:p>
            <a:pPr marL="457200" lvl="1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1202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An Image is Worth 16x16 Words: Transformers for Image Recognition at Scale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Vision transformer</a:t>
            </a:r>
          </a:p>
        </p:txBody>
      </p:sp>
    </p:spTree>
    <p:extLst>
      <p:ext uri="{BB962C8B-B14F-4D97-AF65-F5344CB8AC3E}">
        <p14:creationId xmlns:p14="http://schemas.microsoft.com/office/powerpoint/2010/main" val="740315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Official implementation in JAX: </a:t>
            </a:r>
            <a:r>
              <a:rPr lang="en-GB" dirty="0">
                <a:hlinkClick r:id="rId2"/>
              </a:rPr>
              <a:t>https://github.com/google-research/vision_transformer#vision-transformer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9840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Vision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484784"/>
            <a:ext cx="8915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736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Vision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437"/>
          <a:stretch/>
        </p:blipFill>
        <p:spPr bwMode="auto">
          <a:xfrm>
            <a:off x="1638300" y="1484784"/>
            <a:ext cx="8915400" cy="369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811524" y="5024153"/>
            <a:ext cx="856895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The image x ∈ R </a:t>
            </a:r>
            <a:r>
              <a:rPr lang="en-GB" baseline="30000" dirty="0">
                <a:solidFill>
                  <a:srgbClr val="FF0000"/>
                </a:solidFill>
              </a:rPr>
              <a:t>H×W×C</a:t>
            </a:r>
            <a:r>
              <a:rPr lang="en-GB" dirty="0">
                <a:solidFill>
                  <a:srgbClr val="FF0000"/>
                </a:solidFill>
              </a:rPr>
              <a:t> is transformed into a sequence of flattened 2D patches </a:t>
            </a:r>
            <a:r>
              <a:rPr lang="en-GB" dirty="0" err="1">
                <a:solidFill>
                  <a:srgbClr val="FF0000"/>
                </a:solidFill>
              </a:rPr>
              <a:t>x</a:t>
            </a:r>
            <a:r>
              <a:rPr lang="en-GB" baseline="-25000" dirty="0" err="1">
                <a:solidFill>
                  <a:srgbClr val="FF0000"/>
                </a:solidFill>
              </a:rPr>
              <a:t>p</a:t>
            </a:r>
            <a:r>
              <a:rPr lang="en-GB" dirty="0">
                <a:solidFill>
                  <a:srgbClr val="FF0000"/>
                </a:solidFill>
              </a:rPr>
              <a:t> ∈ R</a:t>
            </a:r>
            <a:r>
              <a:rPr lang="en-GB" baseline="30000" dirty="0">
                <a:solidFill>
                  <a:srgbClr val="FF0000"/>
                </a:solidFill>
              </a:rPr>
              <a:t>N×(P</a:t>
            </a:r>
            <a:r>
              <a:rPr lang="en-GB" baseline="62000" dirty="0">
                <a:solidFill>
                  <a:srgbClr val="FF0000"/>
                </a:solidFill>
              </a:rPr>
              <a:t>2</a:t>
            </a:r>
            <a:r>
              <a:rPr lang="en-GB" baseline="30000" dirty="0">
                <a:solidFill>
                  <a:srgbClr val="FF0000"/>
                </a:solidFill>
              </a:rPr>
              <a:t> ·C)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(P, P) is the resolution of each image patch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sequence length: N = HW/P</a:t>
            </a:r>
            <a:r>
              <a:rPr lang="en-GB" baseline="30000" dirty="0">
                <a:solidFill>
                  <a:srgbClr val="FF0000"/>
                </a:solidFill>
              </a:rPr>
              <a:t>2</a:t>
            </a:r>
          </a:p>
          <a:p>
            <a:pPr marL="285750" indent="-285750">
              <a:buFont typeface="Arial" pitchFamily="34" charset="0"/>
              <a:buChar char="•"/>
            </a:pPr>
            <a:endParaRPr lang="en-GB" baseline="30000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Flatten the patches and map to D dimensions with a trainable linear projection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constant latent vector size D through all of its layers</a:t>
            </a:r>
            <a:endParaRPr lang="en-GB" baseline="30000" dirty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GB" baseline="300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207568" y="4149080"/>
            <a:ext cx="2016224" cy="10353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95800" y="3789040"/>
            <a:ext cx="3168352" cy="877698"/>
          </a:xfrm>
          <a:prstGeom prst="rect">
            <a:avLst/>
          </a:prstGeom>
          <a:noFill/>
          <a:ln w="762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1280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Vision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1624358" y="1340768"/>
            <a:ext cx="8915400" cy="3699612"/>
            <a:chOff x="114300" y="1484784"/>
            <a:chExt cx="8915400" cy="3699612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437"/>
            <a:stretch/>
          </p:blipFill>
          <p:spPr bwMode="auto">
            <a:xfrm>
              <a:off x="114300" y="1484784"/>
              <a:ext cx="8915400" cy="3699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2771800" y="3789040"/>
              <a:ext cx="3168352" cy="877698"/>
            </a:xfrm>
            <a:prstGeom prst="rect">
              <a:avLst/>
            </a:prstGeom>
            <a:noFill/>
            <a:ln w="76200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058" y="4941147"/>
            <a:ext cx="4201468" cy="1862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631314" y="6403247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00" dirty="0">
                <a:hlinkClick r:id="rId4"/>
              </a:rPr>
              <a:t>https://github.com/google-research/vision_transformer/blob/main/vit_jax/models_vit.py</a:t>
            </a:r>
            <a:r>
              <a:rPr lang="en-GB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69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Vision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03"/>
          <a:stretch/>
        </p:blipFill>
        <p:spPr bwMode="auto">
          <a:xfrm>
            <a:off x="1524627" y="1556793"/>
            <a:ext cx="8915400" cy="3741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071664" y="5445225"/>
                <a:ext cx="5616624" cy="1213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Prepend a </a:t>
                </a:r>
                <a:r>
                  <a:rPr lang="en-GB" b="1" dirty="0">
                    <a:solidFill>
                      <a:srgbClr val="FF0000"/>
                    </a:solidFill>
                  </a:rPr>
                  <a:t>learnable</a:t>
                </a:r>
                <a:r>
                  <a:rPr lang="en-GB" dirty="0">
                    <a:solidFill>
                      <a:srgbClr val="FF0000"/>
                    </a:solidFill>
                  </a:rPr>
                  <a:t> embedding to the sequence of embedded patches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 = </a:t>
                </a:r>
                <a:r>
                  <a:rPr lang="en-GB" dirty="0" err="1">
                    <a:solidFill>
                      <a:srgbClr val="FF0000"/>
                    </a:solidFill>
                  </a:rPr>
                  <a:t>x</a:t>
                </a:r>
                <a:r>
                  <a:rPr lang="en-GB" baseline="-25000" dirty="0" err="1">
                    <a:solidFill>
                      <a:srgbClr val="FF0000"/>
                    </a:solidFill>
                  </a:rPr>
                  <a:t>class</a:t>
                </a:r>
                <a:r>
                  <a:rPr lang="en-GB" dirty="0">
                    <a:solidFill>
                      <a:srgbClr val="FF0000"/>
                    </a:solidFill>
                  </a:rPr>
                  <a:t>), whose state at the output of the Transformer encoder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) serves as the image representation y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664" y="5445225"/>
                <a:ext cx="5616624" cy="1213089"/>
              </a:xfrm>
              <a:prstGeom prst="rect">
                <a:avLst/>
              </a:prstGeom>
              <a:blipFill>
                <a:blip r:embed="rId4"/>
                <a:stretch>
                  <a:fillRect l="-977" t="-2010" b="-7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 flipV="1">
            <a:off x="3791744" y="3933056"/>
            <a:ext cx="360040" cy="14401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015881" y="1844825"/>
                <a:ext cx="259228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a classification head is attached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𝐿</m:t>
                        </m:r>
                      </m:sup>
                    </m:sSub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81" y="1844825"/>
                <a:ext cx="2592288" cy="646331"/>
              </a:xfrm>
              <a:prstGeom prst="rect">
                <a:avLst/>
              </a:prstGeom>
              <a:blipFill>
                <a:blip r:embed="rId5"/>
                <a:stretch>
                  <a:fillRect l="-2118" t="-4717" b="-16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>
            <a:off x="4367809" y="2276872"/>
            <a:ext cx="64807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534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AE58-A63C-1A6C-20A9-5A518737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embeddings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A2500A-9AD0-2339-10B8-598304EDC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unique learnable vector p</a:t>
            </a:r>
            <a:r>
              <a:rPr lang="en-GB" baseline="-25000" dirty="0"/>
              <a:t>i</a:t>
            </a:r>
            <a:r>
              <a:rPr lang="en-GB" dirty="0"/>
              <a:t> ∈ ℝ</a:t>
            </a:r>
            <a:r>
              <a:rPr lang="en-GB" baseline="30000" dirty="0"/>
              <a:t>D</a:t>
            </a:r>
            <a:r>
              <a:rPr lang="en-GB" dirty="0"/>
              <a:t> is added to each patch embedding before entering the Transformer encoder.</a:t>
            </a:r>
          </a:p>
          <a:p>
            <a:pPr lvl="1"/>
            <a:r>
              <a:rPr lang="en-GB" dirty="0"/>
              <a:t>Embeddings are learned from scratch during training, not hand-crafted.</a:t>
            </a:r>
          </a:p>
          <a:p>
            <a:pPr lvl="1"/>
            <a:r>
              <a:rPr lang="en-GB" dirty="0"/>
              <a:t>Each position gets its own independent vector - no inductive bias about proximity.</a:t>
            </a:r>
          </a:p>
          <a:p>
            <a:r>
              <a:rPr lang="en-GB" dirty="0"/>
              <a:t>The special [CLS] token also receives a positional embedding at index 0.</a:t>
            </a:r>
          </a:p>
          <a:p>
            <a:r>
              <a:rPr lang="en-GB" dirty="0"/>
              <a:t>The original </a:t>
            </a:r>
            <a:r>
              <a:rPr lang="en-GB" dirty="0" err="1"/>
              <a:t>ViT</a:t>
            </a:r>
            <a:r>
              <a:rPr lang="en-GB" dirty="0"/>
              <a:t> paper tested 1D, 2D, and relative positional encodings and found no significant difference in performance. 1D was kept for simplicity.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049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76AC-4277-7372-5697-4A910C6D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embeddings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3CBBA-DE75-025D-C17D-C7E3EF4FD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Drawbacks?</a:t>
            </a:r>
          </a:p>
          <a:p>
            <a:pPr lvl="1"/>
            <a:r>
              <a:rPr lang="en-GB" dirty="0"/>
              <a:t>At test time, if image resolution changes, the number of patches N changes.</a:t>
            </a:r>
          </a:p>
          <a:p>
            <a:pPr lvl="1"/>
            <a:r>
              <a:rPr lang="en-GB" dirty="0"/>
              <a:t>Positional embeddings must be interpolated (bicubic), which causes a performance drop.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8125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06" y="2538054"/>
            <a:ext cx="6096122" cy="2309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embeddings visualisation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428" y="1916833"/>
            <a:ext cx="4313572" cy="412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0CCCD3-667D-4AE9-5768-CA120A0BAE9A}"/>
              </a:ext>
            </a:extLst>
          </p:cNvPr>
          <p:cNvSpPr txBox="1"/>
          <p:nvPr/>
        </p:nvSpPr>
        <p:spPr>
          <a:xfrm>
            <a:off x="258428" y="525299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for each patch position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</a:rPr>
              <a:t>i</a:t>
            </a:r>
            <a:r>
              <a:rPr lang="en-GB" dirty="0">
                <a:solidFill>
                  <a:srgbClr val="FF0000"/>
                </a:solidFill>
              </a:rPr>
              <a:t>, computes the cosine similarity between that position's embedding and </a:t>
            </a:r>
            <a:r>
              <a:rPr lang="en-GB" i="1" dirty="0">
                <a:solidFill>
                  <a:srgbClr val="FF0000"/>
                </a:solidFill>
              </a:rPr>
              <a:t>all other</a:t>
            </a:r>
            <a:r>
              <a:rPr lang="en-GB" dirty="0">
                <a:solidFill>
                  <a:srgbClr val="FF0000"/>
                </a:solidFill>
              </a:rPr>
              <a:t> positions' embeddings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pos_embed</a:t>
            </a:r>
            <a:r>
              <a:rPr lang="en-US" b="1" dirty="0">
                <a:solidFill>
                  <a:srgbClr val="FF0000"/>
                </a:solidFill>
              </a:rPr>
              <a:t> shape: (1, 197, D)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6B860E-ACA7-F043-79F6-1EEBF8DDCFF8}"/>
              </a:ext>
            </a:extLst>
          </p:cNvPr>
          <p:cNvCxnSpPr/>
          <p:nvPr/>
        </p:nvCxnSpPr>
        <p:spPr>
          <a:xfrm flipH="1" flipV="1">
            <a:off x="1273629" y="3831771"/>
            <a:ext cx="76200" cy="14212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672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A6C95-0E77-C954-5782-DD7B2AE9D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3">
            <a:extLst>
              <a:ext uri="{FF2B5EF4-FFF2-40B4-BE49-F238E27FC236}">
                <a16:creationId xmlns:a16="http://schemas.microsoft.com/office/drawing/2014/main" id="{6C27A42F-62BB-F52E-33E6-00DDA5174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06" y="2538054"/>
            <a:ext cx="6096122" cy="2309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545E2D-F40A-6424-4A4A-008CE63E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embeddings visualisation</a:t>
            </a:r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1EE9AA9D-6E1B-559E-96FC-2CA52E2FC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428" y="1916833"/>
            <a:ext cx="4313572" cy="412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2473C8-6858-F139-9F26-D638A0C3B437}"/>
              </a:ext>
            </a:extLst>
          </p:cNvPr>
          <p:cNvSpPr txBox="1"/>
          <p:nvPr/>
        </p:nvSpPr>
        <p:spPr>
          <a:xfrm>
            <a:off x="258428" y="52529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reshape the result into a 14×14 grid (matching the spatial layout of the patches) and plot it as a heatmap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52B091-65C1-9FEF-9226-9EED98717429}"/>
              </a:ext>
            </a:extLst>
          </p:cNvPr>
          <p:cNvCxnSpPr>
            <a:cxnSpLocks/>
          </p:cNvCxnSpPr>
          <p:nvPr/>
        </p:nvCxnSpPr>
        <p:spPr>
          <a:xfrm flipH="1" flipV="1">
            <a:off x="1219200" y="3995057"/>
            <a:ext cx="130629" cy="12579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7101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3277-8865-0563-EF0D-B898ED707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3">
            <a:extLst>
              <a:ext uri="{FF2B5EF4-FFF2-40B4-BE49-F238E27FC236}">
                <a16:creationId xmlns:a16="http://schemas.microsoft.com/office/drawing/2014/main" id="{77F14EFC-3DE0-BB70-2F1F-615E81B41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06" y="2538054"/>
            <a:ext cx="6096122" cy="2309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158500-07DD-4E6F-7835-C9993368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embeddings visualisation</a:t>
            </a:r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299CD40E-A0EC-7683-356C-44EF2F8F3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428" y="1916833"/>
            <a:ext cx="4313572" cy="4124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B255C3-2F04-36A0-6F07-D526C162546B}"/>
              </a:ext>
            </a:extLst>
          </p:cNvPr>
          <p:cNvSpPr txBox="1"/>
          <p:nvPr/>
        </p:nvSpPr>
        <p:spPr>
          <a:xfrm>
            <a:off x="258428" y="52529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the bright spot in each cell tends to be localised around the cell's own position, and similarity falls off with distance.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659A13-970B-4D0F-16C4-E18DF7E8A52E}"/>
              </a:ext>
            </a:extLst>
          </p:cNvPr>
          <p:cNvCxnSpPr>
            <a:cxnSpLocks/>
          </p:cNvCxnSpPr>
          <p:nvPr/>
        </p:nvCxnSpPr>
        <p:spPr>
          <a:xfrm flipV="1">
            <a:off x="1349829" y="3907971"/>
            <a:ext cx="6291942" cy="13450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1334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642E-ED0A-F667-2235-7346FDBCB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embeddings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9FDE0-8F81-FAD2-7949-BE0E9787E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Even though </a:t>
            </a:r>
            <a:r>
              <a:rPr lang="en-GB" dirty="0" err="1"/>
              <a:t>ViT</a:t>
            </a:r>
            <a:r>
              <a:rPr lang="en-GB" dirty="0"/>
              <a:t> uses 1D learnable positional embeddings (no explicit 2D structure), the model learns 2D spatial structure: nearby patches develop similar embeddings.</a:t>
            </a:r>
          </a:p>
          <a:p>
            <a:r>
              <a:rPr lang="en-GB" dirty="0"/>
              <a:t>There's also a visible row/column pattern (grid-like structure in some cells) -&gt; the model learns both horizontal and vertical proximity.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271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Vision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03"/>
          <a:stretch/>
        </p:blipFill>
        <p:spPr bwMode="auto">
          <a:xfrm>
            <a:off x="1524627" y="1556793"/>
            <a:ext cx="8915400" cy="3741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071664" y="5445225"/>
            <a:ext cx="56166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0, 1, 2, …</a:t>
            </a:r>
          </a:p>
          <a:p>
            <a:r>
              <a:rPr lang="en-GB" dirty="0">
                <a:solidFill>
                  <a:srgbClr val="FF0000"/>
                </a:solidFill>
              </a:rPr>
              <a:t>Position </a:t>
            </a:r>
            <a:r>
              <a:rPr lang="en-GB" dirty="0" err="1">
                <a:solidFill>
                  <a:srgbClr val="FF0000"/>
                </a:solidFill>
              </a:rPr>
              <a:t>embeddings</a:t>
            </a:r>
            <a:r>
              <a:rPr lang="en-GB" dirty="0">
                <a:solidFill>
                  <a:srgbClr val="FF0000"/>
                </a:solidFill>
              </a:rPr>
              <a:t> are added to the patch </a:t>
            </a:r>
            <a:r>
              <a:rPr lang="en-GB" dirty="0" err="1">
                <a:solidFill>
                  <a:srgbClr val="FF0000"/>
                </a:solidFill>
              </a:rPr>
              <a:t>embeddings</a:t>
            </a:r>
            <a:r>
              <a:rPr lang="en-GB" dirty="0">
                <a:solidFill>
                  <a:srgbClr val="FF0000"/>
                </a:solidFill>
              </a:rPr>
              <a:t> to retain positional information. </a:t>
            </a:r>
          </a:p>
          <a:p>
            <a:r>
              <a:rPr lang="ro-RO" dirty="0">
                <a:solidFill>
                  <a:srgbClr val="FF0000"/>
                </a:solidFill>
              </a:rPr>
              <a:t>(</a:t>
            </a:r>
            <a:r>
              <a:rPr lang="en-GB" dirty="0">
                <a:solidFill>
                  <a:srgbClr val="FF0000"/>
                </a:solidFill>
              </a:rPr>
              <a:t>standard learnable 1D position </a:t>
            </a:r>
            <a:r>
              <a:rPr lang="en-GB" dirty="0" err="1">
                <a:solidFill>
                  <a:srgbClr val="FF0000"/>
                </a:solidFill>
              </a:rPr>
              <a:t>embeddings</a:t>
            </a:r>
            <a:r>
              <a:rPr lang="ro-RO" dirty="0">
                <a:solidFill>
                  <a:srgbClr val="FF0000"/>
                </a:solidFill>
              </a:rPr>
              <a:t>)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3940926" y="3858190"/>
            <a:ext cx="138851" cy="15870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479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Vision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03"/>
          <a:stretch/>
        </p:blipFill>
        <p:spPr bwMode="auto">
          <a:xfrm>
            <a:off x="1524627" y="1556793"/>
            <a:ext cx="8915400" cy="3741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32" y="5128526"/>
            <a:ext cx="6084168" cy="172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838200" y="5949280"/>
            <a:ext cx="38507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>
                <a:hlinkClick r:id="rId4"/>
              </a:rPr>
              <a:t>https://github.com/google-research/vision_transformer/blob/main/vit_jax/models_vit.py</a:t>
            </a:r>
            <a:r>
              <a:rPr lang="en-GB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87802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657" y="0"/>
            <a:ext cx="9378929" cy="1143000"/>
          </a:xfrm>
        </p:spPr>
        <p:txBody>
          <a:bodyPr/>
          <a:lstStyle/>
          <a:p>
            <a:pPr algn="l"/>
            <a:r>
              <a:rPr lang="ro-RO" dirty="0"/>
              <a:t>Vision Transformer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74914" y="980728"/>
            <a:ext cx="7725342" cy="5616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The Transformer encoder consists of alternating layers of </a:t>
            </a:r>
            <a:r>
              <a:rPr lang="en-GB" sz="2400" dirty="0" err="1"/>
              <a:t>multiheaded</a:t>
            </a:r>
            <a:r>
              <a:rPr lang="en-GB" sz="2400" dirty="0"/>
              <a:t> self</a:t>
            </a:r>
            <a:r>
              <a:rPr lang="ro-RO" sz="2400" dirty="0"/>
              <a:t>-</a:t>
            </a:r>
            <a:r>
              <a:rPr lang="en-GB" sz="2400" dirty="0"/>
              <a:t>attention and MLP blocks</a:t>
            </a:r>
            <a:r>
              <a:rPr lang="ro-RO" sz="2400" dirty="0"/>
              <a:t>.</a:t>
            </a:r>
            <a:endParaRPr lang="en-GB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156" y="5105102"/>
            <a:ext cx="6997700" cy="149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041" y="2123728"/>
            <a:ext cx="3861959" cy="2608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855" y="1556792"/>
            <a:ext cx="2095500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56817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626" y="3331029"/>
            <a:ext cx="9819889" cy="3383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o-RO" dirty="0"/>
              <a:t>Vision Transformer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Hidden size D </a:t>
            </a:r>
            <a:r>
              <a:rPr lang="en-GB" b="1" dirty="0"/>
              <a:t>embedding dimension: </a:t>
            </a:r>
            <a:r>
              <a:rPr lang="en-GB" dirty="0"/>
              <a:t>the size of every token vector as it flows through the entire Transformer.</a:t>
            </a:r>
          </a:p>
          <a:p>
            <a:r>
              <a:rPr lang="en-GB" dirty="0"/>
              <a:t>after the self-attention, there is a 2-layer MLP (equations 3 from the paper). The MLP size is the dimension of the </a:t>
            </a:r>
            <a:r>
              <a:rPr lang="en-GB" b="1" dirty="0"/>
              <a:t>hidden layer inside that MLP </a:t>
            </a:r>
            <a:r>
              <a:rPr lang="en-GB" dirty="0"/>
              <a:t>(4x)</a:t>
            </a:r>
          </a:p>
        </p:txBody>
      </p:sp>
    </p:spTree>
    <p:extLst>
      <p:ext uri="{BB962C8B-B14F-4D97-AF65-F5344CB8AC3E}">
        <p14:creationId xmlns:p14="http://schemas.microsoft.com/office/powerpoint/2010/main" val="35852296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7" y="404665"/>
            <a:ext cx="6805389" cy="460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11173" y="5295481"/>
            <a:ext cx="45367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BiT</a:t>
            </a:r>
            <a:r>
              <a:rPr lang="en-GB" dirty="0"/>
              <a:t> – modified </a:t>
            </a:r>
            <a:r>
              <a:rPr lang="en-GB" dirty="0" err="1"/>
              <a:t>Resnet</a:t>
            </a:r>
            <a:r>
              <a:rPr lang="en-GB" dirty="0"/>
              <a:t> architecture</a:t>
            </a:r>
          </a:p>
          <a:p>
            <a:r>
              <a:rPr lang="en-GB" dirty="0" err="1"/>
              <a:t>Imagenet</a:t>
            </a:r>
            <a:r>
              <a:rPr lang="en-GB" dirty="0"/>
              <a:t>: 1.2M images, 1k classes</a:t>
            </a:r>
          </a:p>
          <a:p>
            <a:endParaRPr lang="en-GB" dirty="0"/>
          </a:p>
          <a:p>
            <a:r>
              <a:rPr lang="en-GB" dirty="0" err="1"/>
              <a:t>ViT</a:t>
            </a:r>
            <a:r>
              <a:rPr lang="en-GB" dirty="0"/>
              <a:t> models perform worse than </a:t>
            </a:r>
            <a:r>
              <a:rPr lang="en-GB" dirty="0" err="1"/>
              <a:t>ResNets</a:t>
            </a:r>
            <a:r>
              <a:rPr lang="en-GB" dirty="0"/>
              <a:t>   </a:t>
            </a:r>
            <a:r>
              <a:rPr lang="en-GB" dirty="0">
                <a:sym typeface="Wingdings" pitchFamily="2" charset="2"/>
              </a:rPr>
              <a:t> 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4871864" y="692696"/>
            <a:ext cx="576064" cy="35283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7464152" y="5157192"/>
            <a:ext cx="30609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B = Base </a:t>
            </a:r>
          </a:p>
          <a:p>
            <a:r>
              <a:rPr lang="en-GB" dirty="0"/>
              <a:t>L = Large </a:t>
            </a:r>
          </a:p>
          <a:p>
            <a:r>
              <a:rPr lang="en-GB" dirty="0"/>
              <a:t>H = Huge </a:t>
            </a:r>
          </a:p>
          <a:p>
            <a:r>
              <a:rPr lang="en-GB" dirty="0"/>
              <a:t>/32, /16, /14 is patch size; smaller patch size is a bigger model (more patches)</a:t>
            </a:r>
          </a:p>
        </p:txBody>
      </p:sp>
    </p:spTree>
    <p:extLst>
      <p:ext uri="{BB962C8B-B14F-4D97-AF65-F5344CB8AC3E}">
        <p14:creationId xmlns:p14="http://schemas.microsoft.com/office/powerpoint/2010/main" val="11454949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7" y="404665"/>
            <a:ext cx="6805389" cy="460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91545" y="5301208"/>
            <a:ext cx="54563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BiT</a:t>
            </a:r>
            <a:r>
              <a:rPr lang="en-GB" dirty="0"/>
              <a:t> – modified </a:t>
            </a:r>
            <a:r>
              <a:rPr lang="en-GB" dirty="0" err="1"/>
              <a:t>Resnet</a:t>
            </a:r>
            <a:r>
              <a:rPr lang="en-GB" dirty="0"/>
              <a:t> architecture</a:t>
            </a:r>
          </a:p>
          <a:p>
            <a:r>
              <a:rPr lang="en-GB" dirty="0"/>
              <a:t>ImageNet-21k: 14M images, 21k categories</a:t>
            </a:r>
          </a:p>
          <a:p>
            <a:endParaRPr lang="en-GB" dirty="0"/>
          </a:p>
          <a:p>
            <a:r>
              <a:rPr lang="en-GB" dirty="0" err="1"/>
              <a:t>pretrain</a:t>
            </a:r>
            <a:r>
              <a:rPr lang="en-GB" dirty="0"/>
              <a:t> on ImageNet-21k and fine-tune on </a:t>
            </a:r>
            <a:r>
              <a:rPr lang="en-GB" dirty="0" err="1"/>
              <a:t>ImageNet</a:t>
            </a:r>
            <a:r>
              <a:rPr lang="en-GB" dirty="0"/>
              <a:t> </a:t>
            </a:r>
          </a:p>
          <a:p>
            <a:r>
              <a:rPr lang="en-GB" dirty="0"/>
              <a:t>big </a:t>
            </a:r>
            <a:r>
              <a:rPr lang="en-GB" dirty="0" err="1"/>
              <a:t>ViTs</a:t>
            </a:r>
            <a:r>
              <a:rPr lang="en-GB" dirty="0"/>
              <a:t> match big </a:t>
            </a:r>
            <a:r>
              <a:rPr lang="en-GB" dirty="0" err="1"/>
              <a:t>ResNets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7176120" y="692696"/>
            <a:ext cx="576064" cy="21602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7464152" y="5157192"/>
            <a:ext cx="30609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B = Base </a:t>
            </a:r>
          </a:p>
          <a:p>
            <a:r>
              <a:rPr lang="en-GB" dirty="0"/>
              <a:t>L = Large </a:t>
            </a:r>
          </a:p>
          <a:p>
            <a:r>
              <a:rPr lang="en-GB" dirty="0"/>
              <a:t>H = Huge </a:t>
            </a:r>
          </a:p>
          <a:p>
            <a:r>
              <a:rPr lang="en-GB" dirty="0"/>
              <a:t>/32, /16, /14 is patch size; smaller patch size is a bigger model (more patches)</a:t>
            </a:r>
          </a:p>
        </p:txBody>
      </p:sp>
    </p:spTree>
    <p:extLst>
      <p:ext uri="{BB962C8B-B14F-4D97-AF65-F5344CB8AC3E}">
        <p14:creationId xmlns:p14="http://schemas.microsoft.com/office/powerpoint/2010/main" val="33814049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7" y="404665"/>
            <a:ext cx="6805389" cy="460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91544" y="5301208"/>
            <a:ext cx="54268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BiT</a:t>
            </a:r>
            <a:r>
              <a:rPr lang="en-GB" dirty="0"/>
              <a:t> – modified </a:t>
            </a:r>
            <a:r>
              <a:rPr lang="en-GB" dirty="0" err="1"/>
              <a:t>Resnet</a:t>
            </a:r>
            <a:r>
              <a:rPr lang="en-GB" dirty="0"/>
              <a:t> architecture</a:t>
            </a:r>
          </a:p>
          <a:p>
            <a:r>
              <a:rPr lang="en-GB" dirty="0"/>
              <a:t>JFT - 300M internal Google dataset with 300M images</a:t>
            </a:r>
          </a:p>
          <a:p>
            <a:endParaRPr lang="en-GB" dirty="0"/>
          </a:p>
          <a:p>
            <a:r>
              <a:rPr lang="en-GB" dirty="0" err="1"/>
              <a:t>pretrain</a:t>
            </a:r>
            <a:r>
              <a:rPr lang="en-GB" dirty="0"/>
              <a:t> on JFT  and fine-tune on </a:t>
            </a:r>
            <a:r>
              <a:rPr lang="en-GB" dirty="0" err="1"/>
              <a:t>ImageNet</a:t>
            </a:r>
            <a:r>
              <a:rPr lang="en-GB" dirty="0"/>
              <a:t> </a:t>
            </a:r>
          </a:p>
          <a:p>
            <a:r>
              <a:rPr lang="en-GB" dirty="0"/>
              <a:t>large </a:t>
            </a:r>
            <a:r>
              <a:rPr lang="en-GB" dirty="0" err="1"/>
              <a:t>ViTs</a:t>
            </a:r>
            <a:r>
              <a:rPr lang="en-GB" dirty="0"/>
              <a:t> outperform large </a:t>
            </a:r>
            <a:r>
              <a:rPr lang="en-GB" dirty="0" err="1"/>
              <a:t>ResNets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9552384" y="692696"/>
            <a:ext cx="576064" cy="21602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7464152" y="5157192"/>
            <a:ext cx="30609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B = Base </a:t>
            </a:r>
          </a:p>
          <a:p>
            <a:r>
              <a:rPr lang="en-GB" dirty="0"/>
              <a:t>L = Large </a:t>
            </a:r>
          </a:p>
          <a:p>
            <a:r>
              <a:rPr lang="en-GB" dirty="0"/>
              <a:t>H = Huge </a:t>
            </a:r>
          </a:p>
          <a:p>
            <a:r>
              <a:rPr lang="en-GB" dirty="0"/>
              <a:t>/32, /16, /14 is patch size; smaller patch size is a bigger model (more patches)</a:t>
            </a:r>
          </a:p>
        </p:txBody>
      </p:sp>
    </p:spTree>
    <p:extLst>
      <p:ext uri="{BB962C8B-B14F-4D97-AF65-F5344CB8AC3E}">
        <p14:creationId xmlns:p14="http://schemas.microsoft.com/office/powerpoint/2010/main" val="13537360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/>
              <a:t>DeIT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Training data-efficient image transformers &amp; distillation through attention</a:t>
            </a:r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847529" y="6375812"/>
            <a:ext cx="23627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>
                <a:hlinkClick r:id="rId2"/>
              </a:rPr>
              <a:t>https://arxiv.org/abs/2012.12877</a:t>
            </a:r>
            <a:r>
              <a:rPr lang="en-GB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50509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BEB7-077E-488C-4356-06C3421A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 distillation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249A3-2AB9-9CAF-700A-5B78FD5BB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Teaching a student intern:</a:t>
            </a:r>
          </a:p>
          <a:p>
            <a:pPr lvl="1"/>
            <a:r>
              <a:rPr lang="en-GB" dirty="0"/>
              <a:t>Standard training: Give them the documentation and let them figure it out alone</a:t>
            </a:r>
          </a:p>
          <a:p>
            <a:pPr lvl="1"/>
            <a:r>
              <a:rPr lang="en-GB" dirty="0"/>
              <a:t>Distillation: Have an experienced expert work alongside them, sharing their reasoning and intuitions, not just the final answers</a:t>
            </a:r>
          </a:p>
          <a:p>
            <a:r>
              <a:rPr lang="en-GB" sz="2400" dirty="0"/>
              <a:t>Knowledge distillation is the machine learning version of the second approach.</a:t>
            </a:r>
          </a:p>
          <a:p>
            <a:pPr lvl="1"/>
            <a:r>
              <a:rPr lang="en-GB" dirty="0"/>
              <a:t>large, powerful teacher model (already well-trained)</a:t>
            </a:r>
          </a:p>
          <a:p>
            <a:pPr lvl="1"/>
            <a:r>
              <a:rPr lang="en-GB" dirty="0"/>
              <a:t>train a smaller or weaker student model to mimic the teacher</a:t>
            </a:r>
          </a:p>
          <a:p>
            <a:r>
              <a:rPr lang="en-GB" sz="2400" dirty="0"/>
              <a:t>The student learns from both the ground-truth labels and the teacher's behaviour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0756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Knowledge distillation</a:t>
            </a:r>
          </a:p>
        </p:txBody>
      </p:sp>
      <p:pic>
        <p:nvPicPr>
          <p:cNvPr id="7172" name="Picture 4" descr="A Gentle Introduction to Hint Learning &amp; Knowledge Distillation | by LA  Tran | Towards 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233" y="1978384"/>
            <a:ext cx="5265582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775520" y="6567156"/>
            <a:ext cx="864096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>
                <a:hlinkClick r:id="rId3"/>
              </a:rPr>
              <a:t>https://pub.towardsai.net/a-gentle-introduction-to-knowledge-distillation-6240bf8eb8ea</a:t>
            </a:r>
            <a:r>
              <a:rPr lang="ro-RO" sz="1000" dirty="0"/>
              <a:t> </a:t>
            </a:r>
            <a:endParaRPr lang="en-GB" sz="1000" dirty="0"/>
          </a:p>
        </p:txBody>
      </p:sp>
      <p:sp>
        <p:nvSpPr>
          <p:cNvPr id="6" name="Rectangle 5"/>
          <p:cNvSpPr/>
          <p:nvPr/>
        </p:nvSpPr>
        <p:spPr>
          <a:xfrm>
            <a:off x="5844480" y="126876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Step 1: Train a teacher model on images and ground-truth labels</a:t>
            </a:r>
            <a:r>
              <a:rPr lang="ro-RO" dirty="0">
                <a:solidFill>
                  <a:srgbClr val="FF0000"/>
                </a:solidFill>
              </a:rPr>
              <a:t> (cross entropy loss)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303912" y="1484784"/>
            <a:ext cx="576064" cy="10801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775520" y="5628889"/>
            <a:ext cx="33843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Step 2: Train a student model to match predictions from the teacher</a:t>
            </a:r>
            <a:endParaRPr lang="ro-RO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97749" y="3258907"/>
            <a:ext cx="22627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>
                <a:solidFill>
                  <a:srgbClr val="FF0000"/>
                </a:solidFill>
              </a:rPr>
              <a:t>KL divergence loss</a:t>
            </a:r>
          </a:p>
          <a:p>
            <a:r>
              <a:rPr lang="ro-RO" dirty="0">
                <a:solidFill>
                  <a:srgbClr val="FF0000"/>
                </a:solidFill>
              </a:rPr>
              <a:t>(knowledge distillation loss)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511824" y="4693431"/>
            <a:ext cx="563640" cy="93545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1"/>
          </p:cNvCxnSpPr>
          <p:nvPr/>
        </p:nvCxnSpPr>
        <p:spPr>
          <a:xfrm flipH="1" flipV="1">
            <a:off x="7176121" y="3501010"/>
            <a:ext cx="1121628" cy="21956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304168" y="5120264"/>
            <a:ext cx="22627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>
                <a:solidFill>
                  <a:srgbClr val="FF0000"/>
                </a:solidFill>
              </a:rPr>
              <a:t>You can also use standard CE loss</a:t>
            </a:r>
          </a:p>
        </p:txBody>
      </p:sp>
      <p:cxnSp>
        <p:nvCxnSpPr>
          <p:cNvPr id="24" name="Straight Arrow Connector 23"/>
          <p:cNvCxnSpPr>
            <a:stCxn id="21" idx="1"/>
          </p:cNvCxnSpPr>
          <p:nvPr/>
        </p:nvCxnSpPr>
        <p:spPr>
          <a:xfrm flipH="1" flipV="1">
            <a:off x="7080886" y="4693431"/>
            <a:ext cx="1223282" cy="74999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854" y="4176931"/>
            <a:ext cx="2540627" cy="516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99479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21C7-C7A0-DEC0-3380-40467109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“Dark knowledge”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0AD2C-2855-FCBE-9446-3A547D450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teacher's probability distribution carries hidden knowledge:</a:t>
            </a:r>
          </a:p>
          <a:p>
            <a:pPr lvl="1"/>
            <a:r>
              <a:rPr lang="en-GB" b="1" dirty="0"/>
              <a:t>Inter-class similarity:</a:t>
            </a:r>
            <a:r>
              <a:rPr lang="en-GB" dirty="0"/>
              <a:t> the model has learned that Huskies and Malamutes are visually close</a:t>
            </a:r>
          </a:p>
          <a:p>
            <a:pPr lvl="1"/>
            <a:r>
              <a:rPr lang="en-GB" b="1" dirty="0"/>
              <a:t>Uncertainty information: </a:t>
            </a:r>
            <a:r>
              <a:rPr lang="en-GB" dirty="0"/>
              <a:t>when the teacher is unsure, the student learns to be unsure too</a:t>
            </a:r>
          </a:p>
          <a:p>
            <a:pPr lvl="1"/>
            <a:r>
              <a:rPr lang="en-GB" b="1" dirty="0"/>
              <a:t>Error structure:</a:t>
            </a:r>
            <a:r>
              <a:rPr lang="en-GB" dirty="0"/>
              <a:t> the pattern of which classes get confused encodes real visual relationships</a:t>
            </a:r>
          </a:p>
          <a:p>
            <a:r>
              <a:rPr lang="en-GB" dirty="0"/>
              <a:t>Introduced by G. Hinton. Idea: the small probabilities on wrong classes are not noise, they are </a:t>
            </a:r>
            <a:r>
              <a:rPr lang="en-GB" i="1" dirty="0"/>
              <a:t>meaningful</a:t>
            </a:r>
            <a:endParaRPr lang="en-GB" dirty="0"/>
          </a:p>
          <a:p>
            <a:r>
              <a:rPr lang="en-GB" dirty="0"/>
              <a:t>This is sometimes called the "dark knowledge" in the teacher: information that exists in the model but never appears in the training labels.</a:t>
            </a:r>
          </a:p>
        </p:txBody>
      </p:sp>
    </p:spTree>
    <p:extLst>
      <p:ext uri="{BB962C8B-B14F-4D97-AF65-F5344CB8AC3E}">
        <p14:creationId xmlns:p14="http://schemas.microsoft.com/office/powerpoint/2010/main" val="1104002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908721"/>
            <a:ext cx="4343400" cy="564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o-RO" sz="3800" dirty="0"/>
              <a:t>DeIT D</a:t>
            </a:r>
            <a:r>
              <a:rPr lang="en-GB" sz="3800" dirty="0" err="1"/>
              <a:t>ata</a:t>
            </a:r>
            <a:r>
              <a:rPr lang="en-GB" sz="3800" dirty="0"/>
              <a:t>-efficient</a:t>
            </a:r>
            <a:r>
              <a:rPr lang="ro-RO" sz="3800" dirty="0"/>
              <a:t> I</a:t>
            </a:r>
            <a:r>
              <a:rPr lang="en-GB" sz="3800" dirty="0"/>
              <a:t>mage </a:t>
            </a:r>
            <a:r>
              <a:rPr lang="ro-RO" sz="3800" dirty="0"/>
              <a:t>T</a:t>
            </a:r>
            <a:r>
              <a:rPr lang="en-GB" sz="3800" dirty="0" err="1"/>
              <a:t>ransformers</a:t>
            </a:r>
            <a:endParaRPr lang="en-GB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5473824" cy="452596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GB" dirty="0"/>
              <a:t>Train a teacher CNN on </a:t>
            </a:r>
            <a:r>
              <a:rPr lang="en-GB" dirty="0" err="1"/>
              <a:t>ImageNet</a:t>
            </a:r>
            <a:endParaRPr lang="ro-RO" dirty="0"/>
          </a:p>
          <a:p>
            <a:pPr marL="514350" indent="-514350">
              <a:buAutoNum type="arabicPeriod"/>
            </a:pPr>
            <a:r>
              <a:rPr lang="en-GB" dirty="0"/>
              <a:t>Train a student </a:t>
            </a:r>
            <a:r>
              <a:rPr lang="en-GB" dirty="0" err="1"/>
              <a:t>ViT</a:t>
            </a:r>
            <a:r>
              <a:rPr lang="en-GB" dirty="0"/>
              <a:t> to match </a:t>
            </a:r>
            <a:r>
              <a:rPr lang="en-GB" dirty="0" err="1"/>
              <a:t>ImageNet</a:t>
            </a:r>
            <a:r>
              <a:rPr lang="en-GB" dirty="0"/>
              <a:t> predictions from the teacher CNN and match GT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763549" y="6418546"/>
            <a:ext cx="23627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>
                <a:hlinkClick r:id="rId3"/>
              </a:rPr>
              <a:t>https://arxiv.org/abs/2012.12877</a:t>
            </a:r>
            <a:r>
              <a:rPr lang="en-GB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06305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436" y="1047220"/>
            <a:ext cx="4343400" cy="564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o-RO" sz="3800" dirty="0"/>
              <a:t>DeIT D</a:t>
            </a:r>
            <a:r>
              <a:rPr lang="en-GB" sz="3800" dirty="0" err="1"/>
              <a:t>ata</a:t>
            </a:r>
            <a:r>
              <a:rPr lang="en-GB" sz="3800" dirty="0"/>
              <a:t>-efficient</a:t>
            </a:r>
            <a:r>
              <a:rPr lang="ro-RO" sz="3800" dirty="0"/>
              <a:t> I</a:t>
            </a:r>
            <a:r>
              <a:rPr lang="en-GB" sz="3800" dirty="0"/>
              <a:t>mage </a:t>
            </a:r>
            <a:r>
              <a:rPr lang="ro-RO" sz="3800" dirty="0"/>
              <a:t>T</a:t>
            </a:r>
            <a:r>
              <a:rPr lang="en-GB" sz="3800" dirty="0" err="1"/>
              <a:t>ransformers</a:t>
            </a:r>
            <a:endParaRPr lang="en-GB" sz="3800" dirty="0"/>
          </a:p>
        </p:txBody>
      </p:sp>
      <p:sp>
        <p:nvSpPr>
          <p:cNvPr id="4" name="Rectangle 3"/>
          <p:cNvSpPr/>
          <p:nvPr/>
        </p:nvSpPr>
        <p:spPr>
          <a:xfrm>
            <a:off x="1763549" y="6418546"/>
            <a:ext cx="23627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>
                <a:hlinkClick r:id="rId3"/>
              </a:rPr>
              <a:t>https://arxiv.org/abs/2012.12877</a:t>
            </a:r>
            <a:r>
              <a:rPr lang="en-GB" sz="1200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7488" y="2348880"/>
            <a:ext cx="27363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Predicted class scores; should match </a:t>
            </a:r>
            <a:r>
              <a:rPr lang="ro-RO" dirty="0">
                <a:solidFill>
                  <a:srgbClr val="FF0000"/>
                </a:solidFill>
              </a:rPr>
              <a:t>labels</a:t>
            </a:r>
          </a:p>
          <a:p>
            <a:r>
              <a:rPr lang="ro-RO" dirty="0">
                <a:solidFill>
                  <a:srgbClr val="FF0000"/>
                </a:solidFill>
              </a:rPr>
              <a:t>Use CE loss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287688" y="1628800"/>
            <a:ext cx="1296144" cy="64807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931696" y="2636912"/>
            <a:ext cx="27363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Predicted class scores;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should match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teacher</a:t>
            </a:r>
            <a:r>
              <a:rPr lang="ro-RO" dirty="0">
                <a:solidFill>
                  <a:srgbClr val="FF0000"/>
                </a:solidFill>
              </a:rPr>
              <a:t> output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8040217" y="1628801"/>
            <a:ext cx="1691681" cy="9361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173963" y="6156388"/>
            <a:ext cx="1152128" cy="5779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8736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Soft-label vs Hard-label distillation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Softmax with temperature: </a:t>
            </a:r>
            <a:endParaRPr lang="en-GB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12" y="1533093"/>
            <a:ext cx="207645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395" y="2627716"/>
            <a:ext cx="6651335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36978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04A8-3E52-F042-D1A0-E70A47F3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DeiT</a:t>
            </a:r>
            <a:r>
              <a:rPr lang="en-US" dirty="0"/>
              <a:t> – augmentation and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1591D-9CDE-BA27-7A4B-37C3AFAB8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Beyond distillation, </a:t>
            </a:r>
            <a:r>
              <a:rPr lang="en-US" dirty="0" err="1"/>
              <a:t>DeiT</a:t>
            </a:r>
            <a:r>
              <a:rPr lang="en-US" dirty="0"/>
              <a:t> uses aggressive </a:t>
            </a:r>
            <a:r>
              <a:rPr lang="en-US" b="1" dirty="0"/>
              <a:t>data augmentation and regularization</a:t>
            </a:r>
            <a:r>
              <a:rPr lang="en-US" dirty="0"/>
              <a:t> to prevent overfitting on ImageNet:</a:t>
            </a:r>
          </a:p>
          <a:p>
            <a:pPr lvl="1"/>
            <a:r>
              <a:rPr lang="en-US" b="1" dirty="0" err="1"/>
              <a:t>RandAugment</a:t>
            </a:r>
            <a:r>
              <a:rPr lang="en-US" b="1" dirty="0"/>
              <a:t>: </a:t>
            </a:r>
            <a:r>
              <a:rPr lang="en-US" dirty="0"/>
              <a:t>random color, shear, rotation transforms</a:t>
            </a:r>
          </a:p>
          <a:p>
            <a:pPr lvl="1"/>
            <a:r>
              <a:rPr lang="en-US" b="1" dirty="0" err="1"/>
              <a:t>Mixup</a:t>
            </a:r>
            <a:endParaRPr lang="en-US" b="1" dirty="0"/>
          </a:p>
          <a:p>
            <a:pPr lvl="1"/>
            <a:r>
              <a:rPr lang="en-US" b="1" dirty="0" err="1"/>
              <a:t>CutMix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Random Erasing</a:t>
            </a:r>
          </a:p>
          <a:p>
            <a:pPr lvl="1"/>
            <a:r>
              <a:rPr lang="en-US" b="1" dirty="0"/>
              <a:t>Label Smoothing</a:t>
            </a:r>
          </a:p>
          <a:p>
            <a:pPr lvl="1"/>
            <a:r>
              <a:rPr lang="en-US" b="1" dirty="0"/>
              <a:t>Stochastic Depth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0510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D5984-E464-FEAF-21DB-60D5E7AE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72D6-72B4-D536-B1E1-D638BB8E5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DeiT</a:t>
            </a:r>
            <a:r>
              <a:rPr lang="en-US" dirty="0"/>
              <a:t> – augmentation and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2A3B-2675-C8F7-8D71-9332DA3F4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Beyond distillation, </a:t>
            </a:r>
            <a:r>
              <a:rPr lang="en-US" dirty="0" err="1"/>
              <a:t>DeiT</a:t>
            </a:r>
            <a:r>
              <a:rPr lang="en-US" dirty="0"/>
              <a:t> uses aggressive </a:t>
            </a:r>
            <a:r>
              <a:rPr lang="en-US" b="1" dirty="0"/>
              <a:t>data augmentation and regularization</a:t>
            </a:r>
            <a:r>
              <a:rPr lang="en-US" dirty="0"/>
              <a:t> to prevent overfitting on ImageNet:</a:t>
            </a:r>
          </a:p>
          <a:p>
            <a:pPr lvl="1"/>
            <a:r>
              <a:rPr lang="en-US" b="1" dirty="0" err="1"/>
              <a:t>RandAugment</a:t>
            </a:r>
            <a:r>
              <a:rPr lang="en-US" b="1" dirty="0"/>
              <a:t>: </a:t>
            </a:r>
            <a:r>
              <a:rPr lang="en-US" dirty="0"/>
              <a:t>random color, shear, rotation transforms</a:t>
            </a:r>
          </a:p>
          <a:p>
            <a:pPr lvl="1"/>
            <a:r>
              <a:rPr lang="en-US" b="1" dirty="0" err="1"/>
              <a:t>Mixup</a:t>
            </a:r>
            <a:r>
              <a:rPr lang="en-US" b="1" dirty="0"/>
              <a:t>:</a:t>
            </a:r>
            <a:r>
              <a:rPr lang="en-US" dirty="0"/>
              <a:t> blend two images and interpolate their labels</a:t>
            </a:r>
          </a:p>
          <a:p>
            <a:pPr lvl="1"/>
            <a:r>
              <a:rPr lang="en-US" b="1" dirty="0" err="1"/>
              <a:t>CutMix</a:t>
            </a:r>
            <a:r>
              <a:rPr lang="en-US" dirty="0"/>
              <a:t> : paste a patch from one image onto another</a:t>
            </a:r>
          </a:p>
          <a:p>
            <a:pPr lvl="1"/>
            <a:r>
              <a:rPr lang="en-US" b="1" dirty="0"/>
              <a:t>Random Erasing: </a:t>
            </a:r>
            <a:r>
              <a:rPr lang="en-US" dirty="0"/>
              <a:t>randomly mask out a region of the image</a:t>
            </a:r>
          </a:p>
          <a:p>
            <a:pPr lvl="1"/>
            <a:r>
              <a:rPr lang="en-US" b="1" dirty="0"/>
              <a:t>Label Smoothing: </a:t>
            </a:r>
            <a:r>
              <a:rPr lang="en-US" dirty="0"/>
              <a:t>soften one-hot targets slightly</a:t>
            </a:r>
          </a:p>
          <a:p>
            <a:pPr lvl="1"/>
            <a:r>
              <a:rPr lang="en-US" b="1" dirty="0"/>
              <a:t>Stochastic Depth: </a:t>
            </a:r>
            <a:r>
              <a:rPr lang="en-US" dirty="0"/>
              <a:t>randomly drop transformer layers during training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8122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o-RO" sz="3900" dirty="0"/>
              <a:t>DeIT D</a:t>
            </a:r>
            <a:r>
              <a:rPr lang="en-GB" sz="3900" dirty="0" err="1"/>
              <a:t>ata-efficie</a:t>
            </a:r>
            <a:r>
              <a:rPr lang="ro-RO" sz="3900" dirty="0"/>
              <a:t>nt I</a:t>
            </a:r>
            <a:r>
              <a:rPr lang="en-GB" sz="3900" dirty="0"/>
              <a:t>mage </a:t>
            </a:r>
            <a:r>
              <a:rPr lang="ro-RO" sz="3900" dirty="0"/>
              <a:t>T</a:t>
            </a:r>
            <a:r>
              <a:rPr lang="en-GB" sz="3900" dirty="0" err="1"/>
              <a:t>ransformers</a:t>
            </a:r>
            <a:endParaRPr lang="en-GB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319EC-0A66-5E31-F650-41E2DC11D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360" y="1690688"/>
            <a:ext cx="8812098" cy="417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300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6686B-8326-C45B-39CD-88F4B153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A635-6F8C-9FD5-74C0-95E8D6D2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365125"/>
            <a:ext cx="10842171" cy="1325563"/>
          </a:xfrm>
        </p:spPr>
        <p:txBody>
          <a:bodyPr>
            <a:normAutofit/>
          </a:bodyPr>
          <a:lstStyle/>
          <a:p>
            <a:pPr algn="l"/>
            <a:r>
              <a:rPr lang="ro-RO" sz="3900" dirty="0"/>
              <a:t>DeIT D</a:t>
            </a:r>
            <a:r>
              <a:rPr lang="en-GB" sz="3900" dirty="0" err="1"/>
              <a:t>ata-efficie</a:t>
            </a:r>
            <a:r>
              <a:rPr lang="ro-RO" sz="3900" dirty="0"/>
              <a:t>nt I</a:t>
            </a:r>
            <a:r>
              <a:rPr lang="en-GB" sz="3900" dirty="0"/>
              <a:t>mage </a:t>
            </a:r>
            <a:r>
              <a:rPr lang="ro-RO" sz="3900" dirty="0"/>
              <a:t>T</a:t>
            </a:r>
            <a:r>
              <a:rPr lang="en-GB" sz="3900" dirty="0" err="1"/>
              <a:t>ransformers</a:t>
            </a:r>
            <a:endParaRPr lang="en-GB" sz="3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FE72F-16B4-1584-0F45-300C2EC63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02FCBD-8AE3-8C58-83D3-8E3DBE8A4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9" y="1825625"/>
            <a:ext cx="6311084" cy="47163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753456-4890-CB78-D774-3AE2BEFFB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81" y="2518711"/>
            <a:ext cx="5843319" cy="33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062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1933-FDED-E27E-8B81-6EE53025C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963B8-B120-7BA1-343C-DA62E50F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365125"/>
            <a:ext cx="10842171" cy="1325563"/>
          </a:xfrm>
        </p:spPr>
        <p:txBody>
          <a:bodyPr>
            <a:normAutofit/>
          </a:bodyPr>
          <a:lstStyle/>
          <a:p>
            <a:pPr algn="l"/>
            <a:r>
              <a:rPr lang="ro-RO" sz="3900" dirty="0"/>
              <a:t>DeIT D</a:t>
            </a:r>
            <a:r>
              <a:rPr lang="en-GB" sz="3900" dirty="0" err="1"/>
              <a:t>ata-efficie</a:t>
            </a:r>
            <a:r>
              <a:rPr lang="ro-RO" sz="3900" dirty="0"/>
              <a:t>nt I</a:t>
            </a:r>
            <a:r>
              <a:rPr lang="en-GB" sz="3900" dirty="0"/>
              <a:t>mage </a:t>
            </a:r>
            <a:r>
              <a:rPr lang="ro-RO" sz="3900" dirty="0"/>
              <a:t>T</a:t>
            </a:r>
            <a:r>
              <a:rPr lang="en-GB" sz="3900" dirty="0" err="1"/>
              <a:t>ransformers</a:t>
            </a:r>
            <a:endParaRPr lang="en-GB" sz="3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094B6-429B-38DB-3FF6-62137A8C7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Always check Real and V2 columns, not just ImageNet top-1</a:t>
            </a:r>
          </a:p>
          <a:p>
            <a:r>
              <a:rPr lang="en-GB" dirty="0" err="1"/>
              <a:t>DeiT</a:t>
            </a:r>
            <a:r>
              <a:rPr lang="en-GB" dirty="0"/>
              <a:t>-B distilled matches EfficientNet-B5 at 3x the params but higher throughput</a:t>
            </a:r>
          </a:p>
          <a:p>
            <a:r>
              <a:rPr lang="en-GB" dirty="0"/>
              <a:t>At 384² </a:t>
            </a:r>
            <a:r>
              <a:rPr lang="en-GB" dirty="0" err="1"/>
              <a:t>DeiT</a:t>
            </a:r>
            <a:r>
              <a:rPr lang="en-GB" dirty="0"/>
              <a:t> surpasses every CNN in the table</a:t>
            </a:r>
          </a:p>
          <a:p>
            <a:r>
              <a:rPr lang="en-GB" dirty="0"/>
              <a:t>The * </a:t>
            </a:r>
            <a:r>
              <a:rPr lang="en-GB" dirty="0" err="1"/>
              <a:t>RegNet</a:t>
            </a:r>
            <a:r>
              <a:rPr lang="en-GB" dirty="0"/>
              <a:t> models are the actual teacher models used: </a:t>
            </a:r>
            <a:r>
              <a:rPr lang="en-GB" dirty="0" err="1"/>
              <a:t>DeiT</a:t>
            </a:r>
            <a:r>
              <a:rPr lang="en-GB" dirty="0"/>
              <a:t> matches its own teacher</a:t>
            </a:r>
          </a:p>
          <a:p>
            <a:r>
              <a:rPr lang="en-GB" dirty="0"/>
              <a:t>Resolution boosts accuracy but kills throughput: EfficientNet-B7 runs at 55 </a:t>
            </a:r>
            <a:r>
              <a:rPr lang="en-GB" dirty="0" err="1"/>
              <a:t>img</a:t>
            </a:r>
            <a:r>
              <a:rPr lang="en-GB" dirty="0"/>
              <a:t>/s vs </a:t>
            </a:r>
            <a:r>
              <a:rPr lang="en-GB" dirty="0" err="1"/>
              <a:t>DeiT's</a:t>
            </a:r>
            <a:r>
              <a:rPr lang="en-GB" dirty="0"/>
              <a:t> 290 </a:t>
            </a:r>
            <a:r>
              <a:rPr lang="en-GB" dirty="0" err="1"/>
              <a:t>img</a:t>
            </a:r>
            <a:r>
              <a:rPr lang="en-GB" dirty="0"/>
              <a:t>/s</a:t>
            </a:r>
          </a:p>
        </p:txBody>
      </p:sp>
    </p:spTree>
    <p:extLst>
      <p:ext uri="{BB962C8B-B14F-4D97-AF65-F5344CB8AC3E}">
        <p14:creationId xmlns:p14="http://schemas.microsoft.com/office/powerpoint/2010/main" val="39566539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8C8E9-B8EB-963D-8B80-B9E9B55DD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14AD2-E33B-9C43-872C-94B85E860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365125"/>
            <a:ext cx="10842171" cy="1325563"/>
          </a:xfrm>
        </p:spPr>
        <p:txBody>
          <a:bodyPr>
            <a:normAutofit/>
          </a:bodyPr>
          <a:lstStyle/>
          <a:p>
            <a:pPr algn="l"/>
            <a:r>
              <a:rPr lang="ro-RO" sz="3900" dirty="0"/>
              <a:t>DeIT D</a:t>
            </a:r>
            <a:r>
              <a:rPr lang="en-GB" sz="3900" dirty="0" err="1"/>
              <a:t>ata-efficie</a:t>
            </a:r>
            <a:r>
              <a:rPr lang="ro-RO" sz="3900" dirty="0"/>
              <a:t>nt I</a:t>
            </a:r>
            <a:r>
              <a:rPr lang="en-GB" sz="3900" dirty="0"/>
              <a:t>mage </a:t>
            </a:r>
            <a:r>
              <a:rPr lang="ro-RO" sz="3900" dirty="0"/>
              <a:t>T</a:t>
            </a:r>
            <a:r>
              <a:rPr lang="en-GB" sz="3900" dirty="0" err="1"/>
              <a:t>ransformers</a:t>
            </a:r>
            <a:endParaRPr lang="en-GB" sz="3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3F38E-EB04-93C4-775A-C3006C290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no longer need Google-scale data to train a competitive </a:t>
            </a:r>
            <a:r>
              <a:rPr lang="en-GB" dirty="0" err="1"/>
              <a:t>ViT</a:t>
            </a:r>
            <a:endParaRPr lang="en-GB" dirty="0"/>
          </a:p>
          <a:p>
            <a:r>
              <a:rPr lang="en-GB" dirty="0"/>
              <a:t>Standard academic GPU clusters are sufficient</a:t>
            </a:r>
          </a:p>
          <a:p>
            <a:r>
              <a:rPr lang="en-GB" dirty="0"/>
              <a:t>Transformers can match CNNs with the right training strategy</a:t>
            </a:r>
          </a:p>
        </p:txBody>
      </p:sp>
    </p:spTree>
    <p:extLst>
      <p:ext uri="{BB962C8B-B14F-4D97-AF65-F5344CB8AC3E}">
        <p14:creationId xmlns:p14="http://schemas.microsoft.com/office/powerpoint/2010/main" val="34725831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7992F0-F5CD-EEDC-F24F-F3ACD2C85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Swin Transformer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6FCAD67-0E1E-866A-FD26-84952E8835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SwinTransformer</a:t>
            </a:r>
            <a:r>
              <a:rPr lang="en-GB" dirty="0"/>
              <a:t>: Hierarchical Vision Transformer using </a:t>
            </a:r>
            <a:r>
              <a:rPr lang="en-GB" b="1" dirty="0"/>
              <a:t>S</a:t>
            </a:r>
            <a:r>
              <a:rPr lang="en-GB" dirty="0"/>
              <a:t>hifted </a:t>
            </a:r>
            <a:r>
              <a:rPr lang="en-GB" b="1" dirty="0"/>
              <a:t>Win</a:t>
            </a:r>
            <a:r>
              <a:rPr lang="en-GB" dirty="0"/>
              <a:t>dows</a:t>
            </a:r>
          </a:p>
          <a:p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846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0BB11C-CC98-EB86-06FB-2A445430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SWIN Transformer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9E4649-1D31-98A0-E229-5915D3EAD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6" y="1825625"/>
            <a:ext cx="7474076" cy="4351338"/>
          </a:xfrm>
        </p:spPr>
        <p:txBody>
          <a:bodyPr/>
          <a:lstStyle/>
          <a:p>
            <a:r>
              <a:rPr lang="en-US" dirty="0"/>
              <a:t>CNNs – hierarchical architecture</a:t>
            </a:r>
          </a:p>
          <a:p>
            <a:pPr lvl="1"/>
            <a:r>
              <a:rPr lang="en-US" dirty="0"/>
              <a:t>Decrease resolution and increase channels as you go deeper in the network</a:t>
            </a:r>
          </a:p>
          <a:p>
            <a:pPr lvl="1"/>
            <a:endParaRPr lang="en-US" dirty="0"/>
          </a:p>
          <a:p>
            <a:r>
              <a:rPr lang="en-US" dirty="0" err="1"/>
              <a:t>ViT</a:t>
            </a:r>
            <a:r>
              <a:rPr lang="en-US" dirty="0"/>
              <a:t> – isotropic architecture</a:t>
            </a:r>
          </a:p>
          <a:p>
            <a:pPr lvl="1"/>
            <a:r>
              <a:rPr lang="en-US" dirty="0"/>
              <a:t> all blocks have same resolution and number of channels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C74599-CF54-5AB2-7E5A-C27A630BE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437" y="247376"/>
            <a:ext cx="771592" cy="63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692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B7DD-1F12-7286-C01A-4FD0682D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SWIN Transformer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1B672-78CA-988C-1C54-DCAF5BBAE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ViT</a:t>
            </a:r>
            <a:r>
              <a:rPr lang="en-GB" dirty="0"/>
              <a:t> and </a:t>
            </a:r>
            <a:r>
              <a:rPr lang="en-GB" dirty="0" err="1"/>
              <a:t>DeiT</a:t>
            </a:r>
            <a:r>
              <a:rPr lang="en-GB" dirty="0"/>
              <a:t> bottlenecks</a:t>
            </a:r>
          </a:p>
          <a:p>
            <a:pPr lvl="1"/>
            <a:r>
              <a:rPr lang="en-GB" dirty="0"/>
              <a:t>Every patch token attends to every other patch token: global self-attention</a:t>
            </a:r>
          </a:p>
          <a:p>
            <a:pPr lvl="1"/>
            <a:r>
              <a:rPr lang="en-GB" dirty="0"/>
              <a:t>For an image of N patches, this costs O(N²) in memory and computation</a:t>
            </a:r>
          </a:p>
          <a:p>
            <a:pPr lvl="1"/>
            <a:r>
              <a:rPr lang="en-GB" dirty="0"/>
              <a:t>A 224×224 image with 16×16 patches = 196 tokens: manageable</a:t>
            </a:r>
          </a:p>
          <a:p>
            <a:pPr lvl="1"/>
            <a:r>
              <a:rPr lang="en-GB" dirty="0"/>
              <a:t>A 512×512 image with 16×16 patches? = 1,024 tokens: 25× more expensive</a:t>
            </a:r>
          </a:p>
          <a:p>
            <a:r>
              <a:rPr lang="en-GB" dirty="0"/>
              <a:t>This makes </a:t>
            </a:r>
            <a:r>
              <a:rPr lang="en-GB" dirty="0" err="1"/>
              <a:t>ViT</a:t>
            </a:r>
            <a:r>
              <a:rPr lang="en-GB" dirty="0"/>
              <a:t> impractical for high-resolution vision tasks like object detection and segmentation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4004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99AC-53E2-09AE-D166-7798735C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SWIN Transformer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FBA28-724B-D98F-FB4C-19189B874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Compute attention only within local windows, not globally</a:t>
            </a:r>
          </a:p>
          <a:p>
            <a:r>
              <a:rPr lang="en-GB" dirty="0"/>
              <a:t>Use a hierarchical structure like CNNs (feature maps at multiple scales)</a:t>
            </a:r>
          </a:p>
          <a:p>
            <a:r>
              <a:rPr lang="en-GB" dirty="0"/>
              <a:t>Connect windows across layers using a shifting mechanism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829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2F0C-0A74-B413-C9FE-392F6BF1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SWIN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B1427-39C6-B217-2B4E-A6A32BA46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1412777"/>
            <a:ext cx="10254343" cy="4713387"/>
          </a:xfrm>
        </p:spPr>
        <p:txBody>
          <a:bodyPr/>
          <a:lstStyle/>
          <a:p>
            <a:r>
              <a:rPr lang="en-US" dirty="0"/>
              <a:t>With H x W grid of tokens, each attention matrix is quadratic in image size H</a:t>
            </a:r>
            <a:r>
              <a:rPr lang="en-US" baseline="30000" dirty="0"/>
              <a:t>2</a:t>
            </a:r>
            <a:r>
              <a:rPr lang="en-US" dirty="0"/>
              <a:t>x W</a:t>
            </a:r>
            <a:r>
              <a:rPr lang="en-US" baseline="30000" dirty="0"/>
              <a:t>2</a:t>
            </a:r>
          </a:p>
          <a:p>
            <a:r>
              <a:rPr lang="en-US" dirty="0" err="1"/>
              <a:t>Swin</a:t>
            </a:r>
            <a:r>
              <a:rPr lang="en-US" dirty="0"/>
              <a:t> transformer computes self-attention locally within M non-overlapping windows that partition an image</a:t>
            </a:r>
          </a:p>
          <a:p>
            <a:pPr lvl="8"/>
            <a:r>
              <a:rPr lang="en-US" dirty="0"/>
              <a:t>Split image into M windows (M=4 in this example) </a:t>
            </a:r>
          </a:p>
          <a:p>
            <a:pPr lvl="8"/>
            <a:r>
              <a:rPr lang="en-US" dirty="0"/>
              <a:t>Only compute attention within each window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DE00D7-5E9B-93A6-3B79-66C672168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2" y="3113860"/>
            <a:ext cx="2619062" cy="350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72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B3B1-2179-BD7D-B8F9-507FCA52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SWIN Transformer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A5408-B33C-1179-AA6D-67062AD6C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Global Attention</a:t>
            </a:r>
          </a:p>
          <a:p>
            <a:pPr lvl="1"/>
            <a:r>
              <a:rPr lang="en-GB" dirty="0"/>
              <a:t>Feature map: h × w × C</a:t>
            </a:r>
          </a:p>
          <a:p>
            <a:pPr lvl="1"/>
            <a:r>
              <a:rPr lang="en-GB" dirty="0"/>
              <a:t>Global attention: every patch attends to every other patch</a:t>
            </a:r>
          </a:p>
          <a:p>
            <a:pPr lvl="1"/>
            <a:r>
              <a:rPr lang="en-GB" dirty="0"/>
              <a:t>Total patches: </a:t>
            </a:r>
            <a:r>
              <a:rPr lang="en-GB" dirty="0" err="1"/>
              <a:t>hw</a:t>
            </a:r>
            <a:endParaRPr lang="en-GB" dirty="0"/>
          </a:p>
          <a:p>
            <a:pPr lvl="1"/>
            <a:r>
              <a:rPr lang="en-GB" dirty="0"/>
              <a:t>Complexity: O((</a:t>
            </a:r>
            <a:r>
              <a:rPr lang="en-GB" dirty="0" err="1"/>
              <a:t>hw</a:t>
            </a:r>
            <a:r>
              <a:rPr lang="en-GB" dirty="0"/>
              <a:t>)²): quadratic in image size</a:t>
            </a:r>
          </a:p>
          <a:p>
            <a:r>
              <a:rPr lang="en-GB" dirty="0"/>
              <a:t>Window-Based Attention</a:t>
            </a:r>
          </a:p>
          <a:p>
            <a:pPr lvl="1"/>
            <a:r>
              <a:rPr lang="en-GB" dirty="0"/>
              <a:t>Divide into non-overlapping M×M windows</a:t>
            </a:r>
          </a:p>
          <a:p>
            <a:pPr lvl="1"/>
            <a:r>
              <a:rPr lang="en-GB" dirty="0"/>
              <a:t>Number of windows: </a:t>
            </a:r>
            <a:r>
              <a:rPr lang="en-GB" dirty="0" err="1"/>
              <a:t>hw</a:t>
            </a:r>
            <a:r>
              <a:rPr lang="en-GB" dirty="0"/>
              <a:t>/M²</a:t>
            </a:r>
          </a:p>
          <a:p>
            <a:pPr lvl="1"/>
            <a:r>
              <a:rPr lang="en-GB" dirty="0"/>
              <a:t>Each window has M² patches: attention stays local</a:t>
            </a:r>
          </a:p>
          <a:p>
            <a:pPr lvl="1"/>
            <a:r>
              <a:rPr lang="en-GB" dirty="0"/>
              <a:t>Complexity: O(</a:t>
            </a:r>
            <a:r>
              <a:rPr lang="en-GB" dirty="0" err="1"/>
              <a:t>hw</a:t>
            </a:r>
            <a:r>
              <a:rPr lang="en-GB" dirty="0"/>
              <a:t>) — linear in image size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1691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4F50A-C309-75C8-DFFF-11081BF31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SWIN transformer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525675-5267-82A4-E797-6054D2DDCF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765208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5495478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6503200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05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Operation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Global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Window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6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Q, K, V projections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3hwC²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3M²C²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95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QKᵀ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</a:t>
                      </a:r>
                      <a:r>
                        <a:rPr lang="en-US" dirty="0" err="1"/>
                        <a:t>hw</a:t>
                      </a:r>
                      <a:r>
                        <a:rPr lang="en-US" dirty="0"/>
                        <a:t>)²C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M⁴C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724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Softmax</a:t>
                      </a:r>
                      <a:r>
                        <a:rPr lang="en-US" dirty="0"/>
                        <a:t>(QKᵀ)V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</a:t>
                      </a:r>
                      <a:r>
                        <a:rPr lang="en-US" dirty="0" err="1"/>
                        <a:t>hw</a:t>
                      </a:r>
                      <a:r>
                        <a:rPr lang="en-US" dirty="0"/>
                        <a:t>)²C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M⁴C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363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 projection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hwC²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M²C²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948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E5DB7E-DACF-090B-7CA5-13412335C508}"/>
                  </a:ext>
                </a:extLst>
              </p:cNvPr>
              <p:cNvSpPr txBox="1"/>
              <p:nvPr/>
            </p:nvSpPr>
            <p:spPr>
              <a:xfrm>
                <a:off x="2928257" y="4629835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l-GR" dirty="0"/>
                  <a:t>Ω(</a:t>
                </a:r>
                <a:r>
                  <a:rPr lang="en-US" dirty="0"/>
                  <a:t>MSA)=4h</a:t>
                </a:r>
                <a:r>
                  <a:rPr lang="en-US" dirty="0">
                    <a:effectLst/>
                  </a:rPr>
                  <a:t>wC</a:t>
                </a:r>
                <a:r>
                  <a:rPr lang="en-US" baseline="30000" dirty="0">
                    <a:effectLst/>
                  </a:rPr>
                  <a:t>2</a:t>
                </a:r>
                <a:r>
                  <a:rPr lang="en-US" dirty="0"/>
                  <a:t>+2(</a:t>
                </a:r>
                <a:r>
                  <a:rPr lang="en-US" dirty="0" err="1"/>
                  <a:t>h</a:t>
                </a:r>
                <a:r>
                  <a:rPr lang="en-US" dirty="0" err="1">
                    <a:effectLst/>
                  </a:rPr>
                  <a:t>w</a:t>
                </a:r>
                <a:r>
                  <a:rPr lang="en-US" dirty="0"/>
                  <a:t>)</a:t>
                </a:r>
                <a:r>
                  <a:rPr lang="en-US" baseline="30000" dirty="0">
                    <a:effectLst/>
                  </a:rPr>
                  <a:t>2</a:t>
                </a:r>
                <a:r>
                  <a:rPr lang="en-US" dirty="0">
                    <a:effectLst/>
                  </a:rPr>
                  <a:t>C</a:t>
                </a:r>
                <a:r>
                  <a:rPr lang="en-US" dirty="0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MSA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b="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𝑤𝐶</m:t>
                      </m:r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E5DB7E-DACF-090B-7CA5-13412335C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257" y="4629835"/>
                <a:ext cx="6096000" cy="646331"/>
              </a:xfrm>
              <a:prstGeom prst="rect">
                <a:avLst/>
              </a:prstGeom>
              <a:blipFill>
                <a:blip r:embed="rId2"/>
                <a:stretch>
                  <a:fillRect t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34800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2F0C-0A74-B413-C9FE-392F6BF1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SWIN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B1427-39C6-B217-2B4E-A6A32BA46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3" y="1825624"/>
            <a:ext cx="11244943" cy="44445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A patch in one window cannot attend to a patch in another window</a:t>
            </a:r>
          </a:p>
          <a:p>
            <a:r>
              <a:rPr lang="en-GB" dirty="0"/>
              <a:t>Problem: imagine a dog that spans two windows: the left half and the right half are never compared. The model cannot reason about objects that cross window boundaries, and it cannot build up global context.</a:t>
            </a:r>
          </a:p>
          <a:p>
            <a:r>
              <a:rPr lang="en-GB" dirty="0"/>
              <a:t>Solution	</a:t>
            </a:r>
          </a:p>
          <a:p>
            <a:pPr lvl="1"/>
            <a:r>
              <a:rPr lang="en-GB" dirty="0"/>
              <a:t>SHIFTED WINDOWS</a:t>
            </a:r>
          </a:p>
          <a:p>
            <a:endParaRPr lang="en-US" dirty="0">
              <a:ea typeface="Calibri"/>
              <a:cs typeface="Calibri"/>
            </a:endParaRPr>
          </a:p>
          <a:p>
            <a:pPr marL="3657600" lvl="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2481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B1DA-E0F4-E991-7C4B-6DD6C374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SWIN Transformer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41A2C-D7D0-D00E-7117-9B3C57F41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(a) regular window partitioning VS  (b) shifted window partitioning for a 4 ✕ 4 feature map with 2 ✕ 2 windows of size 2 ✕ 2 (</a:t>
            </a:r>
            <a:r>
              <a:rPr lang="en-GB" i="1" dirty="0"/>
              <a:t>M </a:t>
            </a:r>
            <a:r>
              <a:rPr lang="en-GB" dirty="0"/>
              <a:t>= 2)</a:t>
            </a:r>
          </a:p>
          <a:p>
            <a:pPr lvl="1"/>
            <a:r>
              <a:rPr lang="en-GB" dirty="0"/>
              <a:t>(b)The window grid has been shifted by 1 patch (M/2 = 1) toward the top-left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60DD2F4-5943-2320-7E23-3132D1D2C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407" y="3429000"/>
            <a:ext cx="7530194" cy="340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1013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0BD7-43D4-788F-C283-C9289DD4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SWIN Transformer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6F140-7244-87BA-A0BA-8F5B9F1B3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Shifting creates partial windows at the edges: smaller than M×M</a:t>
            </a:r>
          </a:p>
          <a:p>
            <a:r>
              <a:rPr lang="en-GB" dirty="0"/>
              <a:t>Number of windows grows from ⌈h/M⌉ × ⌈w/M⌉ to (⌈h/M⌉ + 1) × (⌈w/M⌉ + 1)</a:t>
            </a:r>
          </a:p>
          <a:p>
            <a:r>
              <a:rPr lang="en-GB" dirty="0"/>
              <a:t>More windows + irregular sizes = inefficient computation</a:t>
            </a:r>
          </a:p>
          <a:p>
            <a:r>
              <a:rPr lang="en-GB" dirty="0"/>
              <a:t>Naïve fix</a:t>
            </a:r>
          </a:p>
          <a:p>
            <a:pPr lvl="1"/>
            <a:r>
              <a:rPr lang="en-GB" dirty="0"/>
              <a:t>Pad partial windows back up to M×M</a:t>
            </a:r>
          </a:p>
          <a:p>
            <a:pPr lvl="1"/>
            <a:r>
              <a:rPr lang="en-GB" dirty="0"/>
              <a:t>Simple, but adds unnecessary computation on padding tokens</a:t>
            </a:r>
          </a:p>
          <a:p>
            <a:r>
              <a:rPr lang="en-US" dirty="0"/>
              <a:t>Real fix:</a:t>
            </a:r>
          </a:p>
          <a:p>
            <a:pPr lvl="1"/>
            <a:r>
              <a:rPr lang="en-GB" dirty="0"/>
              <a:t>Cyclically roll the feature map toward the top-left. This fills the partial edge windows using pixels wrapped from the opposite side</a:t>
            </a:r>
          </a:p>
          <a:p>
            <a:pPr lvl="1"/>
            <a:r>
              <a:rPr lang="en-GB" dirty="0"/>
              <a:t>All windows are now exactly M×M: no padding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9891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A549-78B3-5A4D-89A3-285EE9BF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SWIN Transformer – cyclical shift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5AC2-B46A-8768-EA54-851ABC746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95D0B31-023A-A333-24A4-1892F3A90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748" y="2437720"/>
            <a:ext cx="7038503" cy="363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8107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BC27-4CD1-24A0-EF06-A9110535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910E5-335F-04D1-1217-24E36B85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SWIN Transformer – cyclical shift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65FD6-69FB-3C6F-DC23-54E880A51D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The entire feature map has been rolled toward the top-left by 1 patch</a:t>
            </a:r>
          </a:p>
          <a:p>
            <a:pPr lvl="1"/>
            <a:r>
              <a:rPr lang="en-GB" dirty="0"/>
              <a:t>Region 0 (was top-left corner): wrapped to bottom-right</a:t>
            </a:r>
          </a:p>
          <a:p>
            <a:pPr lvl="1"/>
            <a:r>
              <a:rPr lang="en-GB" dirty="0"/>
              <a:t>Regions 1, 2 (were top row): wrapped to bottom row</a:t>
            </a:r>
          </a:p>
          <a:p>
            <a:pPr lvl="1"/>
            <a:r>
              <a:rPr lang="en-GB" dirty="0"/>
              <a:t>Regions 3, 6 (were left column): wrapped to right column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Region 8 is now attending alongside regions 6, 2, 0 in the same window even though they are not actually spatial neighbours in the original image.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2362D2-0D5D-F488-20E1-5274FDFD97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6D665D9-1F3E-C181-9ED2-C663599C0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27312"/>
            <a:ext cx="5327683" cy="27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0670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4AB8-F609-2D45-A4AD-5A6B8BD4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SWIN Transformer – cyclical shift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9D278-E9C8-8251-B8FA-D1245BE40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Wrapped pixels are not real spatial neighbours</a:t>
            </a:r>
          </a:p>
          <a:p>
            <a:pPr lvl="1"/>
            <a:r>
              <a:rPr lang="en-GB" dirty="0"/>
              <a:t>Allowing them to attend to each other would create false relationships</a:t>
            </a:r>
          </a:p>
          <a:p>
            <a:r>
              <a:rPr lang="en-GB" dirty="0"/>
              <a:t>Solution: apply an attention mask so wrapped regions cannot attend to each other</a:t>
            </a:r>
          </a:p>
          <a:p>
            <a:r>
              <a:rPr lang="en-GB" dirty="0"/>
              <a:t>After attention, the feature map is rolled back to its original position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274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E97EF-6F0C-2B55-A2BC-9F566D14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SWIN Transformer </a:t>
            </a:r>
            <a:r>
              <a:rPr lang="en-US" sz="3600" dirty="0">
                <a:solidFill>
                  <a:srgbClr val="FFFFFF"/>
                </a:solidFill>
              </a:rPr>
              <a:t>-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cyclical shift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DFCA453-721C-BBCE-5E53-FE2D51BCF9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8172" y="126127"/>
            <a:ext cx="5431971" cy="662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17369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8082-5C24-9855-020A-1BE23A8A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SWIN Transformer – cyclical shift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1A8C6-814B-D2E4-E5D4-AFAAC03DF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a connection is valid, the mask value is 0, meaning it does not affect the SoftMax computation. </a:t>
            </a:r>
          </a:p>
          <a:p>
            <a:r>
              <a:rPr lang="en-GB" dirty="0"/>
              <a:t>If a connection is artificial, the value of the mask will be -100 (or another very small value), causing the SoftMax function to assign it a negligible probability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547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5BD4-B19E-3ADA-8FD9-EEF2B098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SWIN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9F93-2EDE-D877-135F-48610B27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window-based self-attention module lacks connections across </a:t>
            </a:r>
            <a:r>
              <a:rPr lang="en-US"/>
              <a:t>windows, which</a:t>
            </a:r>
            <a:r>
              <a:rPr lang="en-US" dirty="0"/>
              <a:t> limits its modeling power. </a:t>
            </a:r>
          </a:p>
          <a:p>
            <a:pPr lvl="1"/>
            <a:r>
              <a:rPr lang="en-US" dirty="0"/>
              <a:t>No interaction with tokens outside the window</a:t>
            </a:r>
            <a:endParaRPr lang="en-US" dirty="0">
              <a:ea typeface="Calibri"/>
              <a:cs typeface="Calibri"/>
            </a:endParaRPr>
          </a:p>
          <a:p>
            <a:pPr lvl="1"/>
            <a:endParaRPr lang="en-US"/>
          </a:p>
          <a:p>
            <a:r>
              <a:rPr lang="en-US" dirty="0"/>
              <a:t>Solution: alternate between normal and </a:t>
            </a:r>
            <a:r>
              <a:rPr lang="en-US" b="1" dirty="0"/>
              <a:t>shifted </a:t>
            </a:r>
            <a:r>
              <a:rPr lang="en-US" dirty="0"/>
              <a:t>in alternative transformer blocks</a:t>
            </a:r>
            <a:r>
              <a:rPr lang="en-US" b="1" dirty="0"/>
              <a:t> </a:t>
            </a:r>
            <a:r>
              <a:rPr lang="en-US" dirty="0"/>
              <a:t>in the architecture 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510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8C37-125D-BE3C-12B4-62974C2F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SWIN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6ADF1-ABFC-1C27-3335-14EC9DE20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28" y="1249789"/>
            <a:ext cx="8860971" cy="39625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4D71F4-E56A-7375-9AEB-377E277978B3}"/>
              </a:ext>
            </a:extLst>
          </p:cNvPr>
          <p:cNvSpPr txBox="1"/>
          <p:nvPr/>
        </p:nvSpPr>
        <p:spPr>
          <a:xfrm>
            <a:off x="1707679" y="5212306"/>
            <a:ext cx="1814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Divide image into 4x4 patches and project to C dimensions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1D4703-82FC-2010-A516-42955103D11C}"/>
              </a:ext>
            </a:extLst>
          </p:cNvPr>
          <p:cNvSpPr txBox="1"/>
          <p:nvPr/>
        </p:nvSpPr>
        <p:spPr>
          <a:xfrm>
            <a:off x="1595620" y="6533248"/>
            <a:ext cx="45705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hlinkClick r:id="rId3"/>
              </a:rPr>
              <a:t>https://arxiv.org/abs/2103.14030</a:t>
            </a:r>
            <a:r>
              <a:rPr lang="en-US" sz="1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9334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9B3C-F3B3-04A6-17F7-19E72C85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9930-90BC-E55D-209A-949105AE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SWIN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3E79D-2126-CA14-4161-3C3E1B99E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5545832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- </a:t>
            </a:r>
            <a:r>
              <a:rPr lang="en-GB" sz="2400" dirty="0"/>
              <a:t>where </a:t>
            </a:r>
            <a:r>
              <a:rPr lang="en-GB" sz="2400" dirty="0" err="1">
                <a:solidFill>
                  <a:srgbClr val="202122"/>
                </a:solidFill>
              </a:rPr>
              <a:t>ẑ</a:t>
            </a:r>
            <a:r>
              <a:rPr lang="en-GB" sz="2400" baseline="30000" dirty="0" err="1"/>
              <a:t>l</a:t>
            </a:r>
            <a:r>
              <a:rPr lang="en-GB" sz="2400" dirty="0"/>
              <a:t> and </a:t>
            </a:r>
            <a:r>
              <a:rPr lang="en-GB" sz="2400" dirty="0" err="1"/>
              <a:t>z</a:t>
            </a:r>
            <a:r>
              <a:rPr lang="en-GB" sz="2400" baseline="30000" dirty="0" err="1"/>
              <a:t>l</a:t>
            </a:r>
            <a:r>
              <a:rPr lang="en-GB" sz="2400" dirty="0"/>
              <a:t> denote the output features of the (S)WMSA module and the MLP module for block l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0DF0CD-04BC-0AD3-902A-BD1DB4F69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48" y="980728"/>
            <a:ext cx="3829584" cy="3982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4D7AAF-5C24-AD09-321B-E1FA6D870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072" y="5029868"/>
            <a:ext cx="3372878" cy="15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388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8C37-125D-BE3C-12B4-62974C2F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SWIN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6ADF1-ABFC-1C27-3335-14EC9DE20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296" y="1825253"/>
            <a:ext cx="7363411" cy="36113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4D71F4-E56A-7375-9AEB-377E277978B3}"/>
              </a:ext>
            </a:extLst>
          </p:cNvPr>
          <p:cNvSpPr txBox="1"/>
          <p:nvPr/>
        </p:nvSpPr>
        <p:spPr>
          <a:xfrm>
            <a:off x="2198202" y="5244006"/>
            <a:ext cx="1814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Divide image into 4x4 patches and project to C dimensions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1D4703-82FC-2010-A516-42955103D11C}"/>
              </a:ext>
            </a:extLst>
          </p:cNvPr>
          <p:cNvSpPr txBox="1"/>
          <p:nvPr/>
        </p:nvSpPr>
        <p:spPr>
          <a:xfrm>
            <a:off x="1595620" y="6533248"/>
            <a:ext cx="45705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hlinkClick r:id="rId3"/>
              </a:rPr>
              <a:t>https://arxiv.org/abs/2103.14030</a:t>
            </a:r>
            <a:r>
              <a:rPr lang="en-US" sz="100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C4B1D-B863-CAF3-F243-F3B8B0F78E03}"/>
              </a:ext>
            </a:extLst>
          </p:cNvPr>
          <p:cNvSpPr txBox="1"/>
          <p:nvPr/>
        </p:nvSpPr>
        <p:spPr>
          <a:xfrm>
            <a:off x="5447928" y="5382504"/>
            <a:ext cx="1814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Merge patches in neigh. 2x2, patches are 8x8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C1F03-B339-070C-C8A2-5147DBABF31D}"/>
              </a:ext>
            </a:extLst>
          </p:cNvPr>
          <p:cNvSpPr txBox="1"/>
          <p:nvPr/>
        </p:nvSpPr>
        <p:spPr>
          <a:xfrm>
            <a:off x="3935760" y="536458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SWIN transformer block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36F885-93FD-F4AB-2A8A-7EF1FB3CD496}"/>
              </a:ext>
            </a:extLst>
          </p:cNvPr>
          <p:cNvCxnSpPr/>
          <p:nvPr/>
        </p:nvCxnSpPr>
        <p:spPr>
          <a:xfrm flipV="1">
            <a:off x="3359696" y="4653136"/>
            <a:ext cx="144016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F2624F-363E-15EC-D792-EBE436B32F49}"/>
              </a:ext>
            </a:extLst>
          </p:cNvPr>
          <p:cNvCxnSpPr>
            <a:cxnSpLocks/>
          </p:cNvCxnSpPr>
          <p:nvPr/>
        </p:nvCxnSpPr>
        <p:spPr>
          <a:xfrm flipV="1">
            <a:off x="4367809" y="4653136"/>
            <a:ext cx="81305" cy="654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8B384C-B2C4-C2BE-6404-00807E49BC58}"/>
              </a:ext>
            </a:extLst>
          </p:cNvPr>
          <p:cNvCxnSpPr>
            <a:cxnSpLocks/>
          </p:cNvCxnSpPr>
          <p:nvPr/>
        </p:nvCxnSpPr>
        <p:spPr>
          <a:xfrm flipH="1" flipV="1">
            <a:off x="5457226" y="4694744"/>
            <a:ext cx="206727" cy="6877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9298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8C37-125D-BE3C-12B4-62974C2F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SWIN Transformer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1D4703-82FC-2010-A516-42955103D11C}"/>
              </a:ext>
            </a:extLst>
          </p:cNvPr>
          <p:cNvSpPr txBox="1"/>
          <p:nvPr/>
        </p:nvSpPr>
        <p:spPr>
          <a:xfrm>
            <a:off x="1595620" y="6533248"/>
            <a:ext cx="45705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hlinkClick r:id="rId2"/>
              </a:rPr>
              <a:t>https://arxiv.org/abs/2103.14030</a:t>
            </a:r>
            <a:r>
              <a:rPr lang="en-US" sz="10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BC4CF9-F26C-62AD-40EB-B0210ACC6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1" y="2229665"/>
            <a:ext cx="1777519" cy="18823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D097DF-29B1-FCBD-0495-D12030AEC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402" y="2219491"/>
            <a:ext cx="1474598" cy="17070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53FE97C-2D77-EFD4-7553-F066DD58F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531" y="2219493"/>
            <a:ext cx="1320280" cy="16003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61B43D-D76B-C839-C82C-6984CDDAB6DA}"/>
              </a:ext>
            </a:extLst>
          </p:cNvPr>
          <p:cNvSpPr txBox="1"/>
          <p:nvPr/>
        </p:nvSpPr>
        <p:spPr>
          <a:xfrm>
            <a:off x="1415142" y="4999441"/>
            <a:ext cx="8937171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“The first patch merging layer concatenates the features of each group of 2×2 neighboring patches, and applies a linear layer on the 4C-dimensional concatenated features.</a:t>
            </a:r>
          </a:p>
          <a:p>
            <a:r>
              <a:rPr lang="en-US" dirty="0">
                <a:solidFill>
                  <a:srgbClr val="FF0000"/>
                </a:solidFill>
              </a:rPr>
              <a:t>This reduces the number of tokens by a multiple of 2×2=4 (2× down sampling of resolution), and the output dimension is set to 2C”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42DA7D-3CA1-5634-855B-4871015666F4}"/>
              </a:ext>
            </a:extLst>
          </p:cNvPr>
          <p:cNvSpPr txBox="1"/>
          <p:nvPr/>
        </p:nvSpPr>
        <p:spPr>
          <a:xfrm>
            <a:off x="6729846" y="4163967"/>
            <a:ext cx="291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projection (1x1 conv)</a:t>
            </a:r>
          </a:p>
        </p:txBody>
      </p:sp>
    </p:spTree>
    <p:extLst>
      <p:ext uri="{BB962C8B-B14F-4D97-AF65-F5344CB8AC3E}">
        <p14:creationId xmlns:p14="http://schemas.microsoft.com/office/powerpoint/2010/main" val="35869274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ACEB-E4B3-088E-72FD-61978AB5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SWIN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DFA0-2204-0B99-7597-0185C7DD3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825625"/>
            <a:ext cx="600013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Other details</a:t>
            </a:r>
          </a:p>
          <a:p>
            <a:pPr lvl="1"/>
            <a:r>
              <a:rPr lang="en-US" dirty="0"/>
              <a:t>Cyclic shifting and masked attention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/>
              <a:t>Encodes relative position between patches when computing attention</a:t>
            </a:r>
            <a:endParaRPr lang="en-US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2F3C78-1613-707C-3E59-6728DB4F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59" y="0"/>
            <a:ext cx="3337693" cy="655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1CB175-BB72-B1A5-9BAA-DF1F9F4EE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139" y="4001294"/>
            <a:ext cx="3931967" cy="69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1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C9713D1B4A348AAE7B3383364C377" ma:contentTypeVersion="3" ma:contentTypeDescription="Create a new document." ma:contentTypeScope="" ma:versionID="805bd71d9a7f8f9b424e91dbcb7c74e5">
  <xsd:schema xmlns:xsd="http://www.w3.org/2001/XMLSchema" xmlns:xs="http://www.w3.org/2001/XMLSchema" xmlns:p="http://schemas.microsoft.com/office/2006/metadata/properties" xmlns:ns2="ea7aeede-a3ac-4adc-a1af-0ad03a3d66bd" targetNamespace="http://schemas.microsoft.com/office/2006/metadata/properties" ma:root="true" ma:fieldsID="c052b27818055ad5eadc0971d765fd36" ns2:_="">
    <xsd:import namespace="ea7aeede-a3ac-4adc-a1af-0ad03a3d6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aeede-a3ac-4adc-a1af-0ad03a3d6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33DC0C-F1A3-4246-B0C1-4EF89CBAFA41}"/>
</file>

<file path=customXml/itemProps2.xml><?xml version="1.0" encoding="utf-8"?>
<ds:datastoreItem xmlns:ds="http://schemas.openxmlformats.org/officeDocument/2006/customXml" ds:itemID="{8EBC68CA-C269-4C10-9E28-F52A23630D4A}"/>
</file>

<file path=customXml/itemProps3.xml><?xml version="1.0" encoding="utf-8"?>
<ds:datastoreItem xmlns:ds="http://schemas.openxmlformats.org/officeDocument/2006/customXml" ds:itemID="{ED0F604E-0798-489B-ACDD-65507A50A856}"/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4826</Words>
  <Application>Microsoft Office PowerPoint</Application>
  <PresentationFormat>Widescreen</PresentationFormat>
  <Paragraphs>379</Paragraphs>
  <Slides>85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Aptos</vt:lpstr>
      <vt:lpstr>Aptos Display</vt:lpstr>
      <vt:lpstr>Arial</vt:lpstr>
      <vt:lpstr>Calibri</vt:lpstr>
      <vt:lpstr>Cambria Math</vt:lpstr>
      <vt:lpstr>Courier New</vt:lpstr>
      <vt:lpstr>Wingdings</vt:lpstr>
      <vt:lpstr>Office Theme</vt:lpstr>
      <vt:lpstr>Computer Vision and Deep Learning</vt:lpstr>
      <vt:lpstr>Today’s agenda</vt:lpstr>
      <vt:lpstr>Attention intuition</vt:lpstr>
      <vt:lpstr>Self-attention</vt:lpstr>
      <vt:lpstr>Self-attention </vt:lpstr>
      <vt:lpstr>Self-attention 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PowerPoint Presentation</vt:lpstr>
      <vt:lpstr>PowerPoint Presentation</vt:lpstr>
      <vt:lpstr>PowerPoint Presentation</vt:lpstr>
      <vt:lpstr>PowerPoint Presentation</vt:lpstr>
      <vt:lpstr>Positional Encodings</vt:lpstr>
      <vt:lpstr>Positional Encodings</vt:lpstr>
      <vt:lpstr>Positional Encodings  Intuition</vt:lpstr>
      <vt:lpstr>Positional Encodings</vt:lpstr>
      <vt:lpstr>Positional Encodings</vt:lpstr>
      <vt:lpstr>Positional Encodings</vt:lpstr>
      <vt:lpstr>Attention is all you need  Step by step</vt:lpstr>
      <vt:lpstr>Transformer architecture</vt:lpstr>
      <vt:lpstr>Transformer: encoder block</vt:lpstr>
      <vt:lpstr>Batch norm vs Layer norm</vt:lpstr>
      <vt:lpstr>Layer norm</vt:lpstr>
      <vt:lpstr>Transformer: encoder block</vt:lpstr>
      <vt:lpstr>Transformer: decoder block</vt:lpstr>
      <vt:lpstr>Attention is all you need (step by step example)</vt:lpstr>
      <vt:lpstr>Other resources</vt:lpstr>
      <vt:lpstr>An Image is Worth 16x16 Words: Transformers for Image Recognition at Scale</vt:lpstr>
      <vt:lpstr>PowerPoint Presentation</vt:lpstr>
      <vt:lpstr>Vision transformer</vt:lpstr>
      <vt:lpstr>Vision transformer</vt:lpstr>
      <vt:lpstr>Vision transformer</vt:lpstr>
      <vt:lpstr>Vision transformer</vt:lpstr>
      <vt:lpstr>Position embeddings</vt:lpstr>
      <vt:lpstr>Position embeddings</vt:lpstr>
      <vt:lpstr>Position embeddings visualisation</vt:lpstr>
      <vt:lpstr>Position embeddings visualisation</vt:lpstr>
      <vt:lpstr>Position embeddings visualisation</vt:lpstr>
      <vt:lpstr>Position embeddings</vt:lpstr>
      <vt:lpstr>Vision transformer</vt:lpstr>
      <vt:lpstr>Vision transformer</vt:lpstr>
      <vt:lpstr>Vision Transformer</vt:lpstr>
      <vt:lpstr>Vision Transformer </vt:lpstr>
      <vt:lpstr>PowerPoint Presentation</vt:lpstr>
      <vt:lpstr>PowerPoint Presentation</vt:lpstr>
      <vt:lpstr>PowerPoint Presentation</vt:lpstr>
      <vt:lpstr>DeIT</vt:lpstr>
      <vt:lpstr>Knowledge distillation</vt:lpstr>
      <vt:lpstr>Knowledge distillation</vt:lpstr>
      <vt:lpstr>“Dark knowledge”</vt:lpstr>
      <vt:lpstr>DeIT Data-efficient Image Transformers</vt:lpstr>
      <vt:lpstr>DeIT Data-efficient Image Transformers</vt:lpstr>
      <vt:lpstr>Soft-label vs Hard-label distillation</vt:lpstr>
      <vt:lpstr>DeiT – augmentation and regularization</vt:lpstr>
      <vt:lpstr>DeiT – augmentation and regularization</vt:lpstr>
      <vt:lpstr>DeIT Data-efficient Image Transformers</vt:lpstr>
      <vt:lpstr>DeIT Data-efficient Image Transformers</vt:lpstr>
      <vt:lpstr>DeIT Data-efficient Image Transformers</vt:lpstr>
      <vt:lpstr>DeIT Data-efficient Image Transformers</vt:lpstr>
      <vt:lpstr>Swin Transformer</vt:lpstr>
      <vt:lpstr>SWIN Transformer</vt:lpstr>
      <vt:lpstr>SWIN Transformer</vt:lpstr>
      <vt:lpstr>SWIN Transformer</vt:lpstr>
      <vt:lpstr>SWIN Transformer</vt:lpstr>
      <vt:lpstr>SWIN Transformer</vt:lpstr>
      <vt:lpstr>SWIN transformer</vt:lpstr>
      <vt:lpstr>SWIN Transformer</vt:lpstr>
      <vt:lpstr>SWIN Transformer</vt:lpstr>
      <vt:lpstr>SWIN Transformer</vt:lpstr>
      <vt:lpstr>SWIN Transformer – cyclical shift</vt:lpstr>
      <vt:lpstr>SWIN Transformer – cyclical shift</vt:lpstr>
      <vt:lpstr>SWIN Transformer – cyclical shift</vt:lpstr>
      <vt:lpstr>SWIN Transformer - cyclical shift</vt:lpstr>
      <vt:lpstr>SWIN Transformer – cyclical shift</vt:lpstr>
      <vt:lpstr>SWIN Transformer</vt:lpstr>
      <vt:lpstr>SWIN Transformer</vt:lpstr>
      <vt:lpstr>SWIN Transformer</vt:lpstr>
      <vt:lpstr>SWIN Transformer</vt:lpstr>
      <vt:lpstr>SWIN Transformer</vt:lpstr>
      <vt:lpstr>SWIN Transformer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Diana Borza</dc:creator>
  <cp:lastModifiedBy>Diana Borza</cp:lastModifiedBy>
  <cp:revision>42</cp:revision>
  <dcterms:created xsi:type="dcterms:W3CDTF">2026-04-03T10:54:17Z</dcterms:created>
  <dcterms:modified xsi:type="dcterms:W3CDTF">2026-04-09T14:31:27Z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0x010100F4FC9713D1B4A348AAE7B3383364C377</vt:lpwstr>
  </property>
</Properties>
</file>